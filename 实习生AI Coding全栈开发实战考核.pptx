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notesSlides/notesSlide1.xml" Type="http://schemas.openxmlformats.org/officeDocument/2006/relationships/notesSlide"/><Relationship Id="rId3" Target="presProps.xml" Type="http://schemas.openxmlformats.org/officeDocument/2006/relationships/pres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slideMasters/slideMaster1.xml" Type="http://schemas.openxmlformats.org/officeDocument/2006/relationships/slideMaster"/><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45" Target="notesSlides/notesSlide17.xml" Type="http://schemas.openxmlformats.org/officeDocument/2006/relationships/notesSlide"/><Relationship Id="rId46" Target="notesSlides/notesSlide18.xml" Type="http://schemas.openxmlformats.org/officeDocument/2006/relationships/notesSlide"/><Relationship Id="rId47" Target="notesSlides/notesSlide19.xml" Type="http://schemas.openxmlformats.org/officeDocument/2006/relationships/notesSlide"/><Relationship Id="rId48" Target="notesSlides/notesSlide20.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大家好,欢迎参加本次实习生AI Coding全栈开发实战考核的解析会。今天,我们将深入探讨这次考核的目标、规则、技术栈以及具体的需求。本次考核的核心是拥抱AI,考察大家在AI辅助下的全栈开发能力,希望通过这次解析,能帮助大家更好地理解考核要求,取得优异的成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解析将分为五个部分。首先,我们会介绍考核的整体概述和核心规则,帮助大家理解考核的目标和理念。接着,我们会详细说明统一的技术栈要求。第三部分是本次考核的重点,即系统的基础需求。第四部分是可选的进阶加分项,展示大家的技术深度。最后,我们会对整个考核进行总结,并明确最终的交付要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我们来看第一部分:考核概述与核心规则。本次考核的目标非常明确,就是模拟真实的企业开发场景。我们重点考察五个核心维度:AI辅助编码能力、提示词工程能力、全栈开发能力、后台权限架构设计以及业务数据处理能力。这不仅是对大家技术能力的考验,更是对大家适应未来开发模式能力的评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考核的核心规则是"拥抱AI,而非对抗AI"。我们明确要求,80%以上的代码必须通过AI生成。这意味着大家需要将工作重心从手写代码转移到更高层次的需求分析、架构设计和提示词编写上。同时,我们也强调对AI生成代码的修复和优化能力,这体现了我们的考核理念:我们更看重的是大家驾驭AI的能力,而不是传统的编码速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考核时长为两周,也就是14个自然日。请大家合理规划时间。最终需要交付的内容包括:前后端完整源码、工程介绍文档、AI提示词对话记录、OpenSpec文档，以及准备前后端工程介绍的口头汇报。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关于评分,我们采用100分制。其中80分为基础功能分,这是必须完成的部分,是通过考核的门槛。另外20分是拓展加分项,大家可以根据自己的能力和时间选择性完成,这部分旨在展示大家的技术深度和创新能力。我们会综合评估代码质量、AI使用效率和文档规范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接下来是第二部分,统一技术栈要求。前端方面,我们指定使用Vue.js框架,大家可以选择Vue 2或Vue 3,我们推荐Vue 3。UI组件库不限,大家可以自由选择熟悉的库来提高开发效率。同时,我们鼓励使用TypeScript来增强代码的健壮性。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后端技术栈方面,大家可以在Python和Java之间二选一。如果选择Python,我们推荐使用Django REST framework或FastAPI;如果选择Java,则推荐Spring Boot。数据库不限,但我们推荐使用MySQL或PostgreSQL。一个硬性要求是,必须使用JWT进行用户认证。同时,请确保接口设计遵循RESTful风格,并对敏感数据进行加密。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现在进入第三部分,也是本次考核的核心——系统基础需求。这个系统包含两大模块:基础管理模块和财务收支账务管理模块。基础管理模块负责用户、角色和权限的管理,是系统的安全基石。财务模块则是核心业务,实现收支记录和统计。所有功能都必须形成闭环,确保数据持久化和权限的严格隔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先来看基础管理模块,这部分占40分。首先是登录认证功能,占10分。要求实现标准的账号密码登录,并使用JWT令牌机制进行用户认证。需要注意令牌的安全设置,包括过期时间和自动登出。前端需要实现路由守卫,拦截未登录用户的访问。最重要的一点是,用户密码必须加密存储,绝对禁止明文保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是用户管理、角色管理和菜单管理,每项各占10分。用户管理需要实现完整的CRUD操作和分页搜索。角色管理的核心是实现角色与菜单权限的可视化分配。菜单管理则需要支持树形结构,并能根据用户角色动态渲染前端侧边栏。这三者共同构成了系统的RBAC权限体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现在我们来看第二个基础模块——财务收支账务管理,同样占40分。首先是收支分类管理,占10分。需要支持收入和支出两大类型的分类管理,用户可以自定义分类。这些分类将用于后续的收支记录。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是收支记录管理和多条件筛选查询,每项各占10分。收支记录管理需要实现记录的增删改查,并自动关联操作用户。筛选查询功能要求支持按时间、类型、分类和关键词进行多条件组合筛选,并支持分页展示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财务模块的最后一个要点是基础金额统计,占10分。要求在页面顶部实时展示总收入、总支出和当期结余这三个核心数据。并且,这些统计数据必须能够根据当前的筛选条件动态更新,同时要保证金额计算的精度,特别是小数的处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四部分是进阶加分项,总分20分,大家可以选做。首先是数据可视化统计图表,占6分。要求使用ECharts等图表库实现一个数据看板,包含月度收支趋势折线图、收支分类占比饼图和近7日收支柱状图。关键是图表数据必须与后台真实数据联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接下来是Excel数据导出和批量数据操作,每项各占4分。Excel导出功能要求支持导出筛选后或全部的收支记录。批量操作功能则要求支持批量删除和批量导出,以提升数据管理效率。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最后两个加分项是按钮级精细化权限控制和数据软删除与操作日志,每项各占3分。</a:t>
            </a:r>
          </a:p>
          <a:p>
            <a:pPr algn="l" marL="0" indent="0">
              <a:lnSpc>
                <a:spcPct val="100000"/>
              </a:lnSpc>
            </a:pPr>
            <a:r>
              <a:rPr lang="en-US" b="false" i="false" strike="noStrike" u="none" sz="1400">
                <a:solidFill>
                  <a:srgbClr val="000000"/>
                </a:solidFill>
              </a:rPr>
              <a:t>按钮级权限要求对新增、编辑、删除等按钮进行权限控制,无权限则隐藏。这能有效防止越权操作,保证操作的安全性。</a:t>
            </a:r>
          </a:p>
          <a:p>
            <a:pPr algn="l" marL="0" indent="0">
              <a:lnSpc>
                <a:spcPct val="100000"/>
              </a:lnSpc>
            </a:pPr>
            <a:r>
              <a:rPr lang="en-US" b="false" i="false" strike="noStrike" u="none" sz="1400">
                <a:solidFill>
                  <a:srgbClr val="000000"/>
                </a:solidFill>
              </a:rPr>
              <a:t>数据软删除要求删除操作只做标记不物理删除,并记录详细的操作日志,以增强系统的安全性和可追溯性。右侧展示的就是操作日志的实际效果,可以清晰看到每一次操作的痕迹。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页详细展示了本次验收的评分规则，总分由基础必做部分（80分）、进阶加分拓展项（20分）和额外补充维度（30分）构成。基础必做部分聚焦于基础管理和财务收支管理的核心功能实现；进阶加分项鼓励大家探索数据可视化、批量操作等更丰富的功能；额外补充维度则从工程质量、用户体验和AI应用能力三个角度综合评估项目水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请大家再次确认最终的交付清单:完整的项目源码、清晰的项目运行说明文档、能体现Prompt Engineering能力的关键AI提示词记录，以及按照OpenSpec规范编写的AI开发文档。请务必在截止日期前提交。最后,预祝各位在本次考核中取得优异的成绩!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我的介绍到此结束,感谢大家的聆听。现在是问答环节,大家有任何关于本次考核的问题,都可以提出来。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jpeg" Type="http://schemas.openxmlformats.org/officeDocument/2006/relationships/image"/><Relationship Id="rId5" Target="../media/image5.jpeg" Type="http://schemas.openxmlformats.org/officeDocument/2006/relationships/image"/><Relationship Id="rId6" Target="../media/image6.jpeg" Type="http://schemas.openxmlformats.org/officeDocument/2006/relationships/image"/><Relationship Id="rId7"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7.jpeg" Type="http://schemas.openxmlformats.org/officeDocument/2006/relationships/image"/><Relationship Id="rId5"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8.jpeg" Type="http://schemas.openxmlformats.org/officeDocument/2006/relationships/image"/><Relationship Id="rId5"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9.jpeg" Type="http://schemas.openxmlformats.org/officeDocument/2006/relationships/image"/><Relationship Id="rId5"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10.jpeg" Type="http://schemas.openxmlformats.org/officeDocument/2006/relationships/image"/><Relationship Id="rId5"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11.jpeg" Type="http://schemas.openxmlformats.org/officeDocument/2006/relationships/image"/><Relationship Id="rId5"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12.jpeg" Type="http://schemas.openxmlformats.org/officeDocument/2006/relationships/image"/><Relationship Id="rId5"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jpeg" Type="http://schemas.openxmlformats.org/officeDocument/2006/relationships/image"/><Relationship Id="rId3" Target="../notesSlides/notesSlide20.xml" Type="http://schemas.openxmlformats.org/officeDocument/2006/relationships/notesSlide"/><Relationship Id="rId4" Target="../media/image1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gradFill rotWithShape="true">
            <a:gsLst>
              <a:gs pos="0">
                <a:srgbClr val="FFFBEB">
                  <a:alpha val="100000"/>
                </a:srgbClr>
              </a:gs>
              <a:gs pos="60000">
                <a:srgbClr val="FDE68A">
                  <a:alpha val="80000"/>
                </a:srgbClr>
              </a:gs>
              <a:gs pos="100000">
                <a:srgbClr val="FCD34D">
                  <a:alpha val="90000"/>
                </a:srgbClr>
              </a:gs>
            </a:gsLst>
            <a:path path="circle">
              <a:fillToRect l="50000" r="50000" t="50000" b="50000"/>
            </a:path>
            <a:tileRect t="0" b="0" l="0" r="0"/>
          </a:gradFill>
          <a:ln cmpd="sng" cap="flat">
            <a:gradFill rotWithShape="true">
              <a:gsLst>
                <a:gs pos="0">
                  <a:srgbClr val="E6DDBD">
                    <a:alpha val="100000"/>
                  </a:srgbClr>
                </a:gs>
                <a:gs pos="60000">
                  <a:srgbClr val="E4CA65">
                    <a:alpha val="80000"/>
                  </a:srgbClr>
                </a:gs>
                <a:gs pos="100000">
                  <a:srgbClr val="E3B82F">
                    <a:alpha val="90000"/>
                  </a:srgbClr>
                </a:gs>
              </a:gsLst>
              <a:path path="circle">
                <a:fillToRect l="50000" r="50000" t="50000" b="50000"/>
              </a:path>
              <a:tileRect t="0" b="0" l="0" r="0"/>
            </a:gra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0" y="2286000"/>
            <a:ext cx="12192000" cy="1016000"/>
          </a:xfrm>
          <a:prstGeom prst="rect">
            <a:avLst/>
          </a:prstGeom>
          <a:noFill/>
          <a:ln w="12700" cmpd="sng" cap="flat">
            <a:noFill/>
            <a:prstDash val="solid"/>
            <a:round/>
          </a:ln>
        </p:spPr>
        <p:txBody>
          <a:bodyPr anchor="t" rtlCol="false" anchorCtr="false" vert="horz" wrap="square" lIns="0" rIns="0" tIns="0" bIns="0"/>
          <a:lstStyle/>
          <a:p>
            <a:pPr algn="ctr" marL="0" indent="0">
              <a:lnSpc>
                <a:spcPct val="100000"/>
              </a:lnSpc>
              <a:defRPr/>
            </a:pPr>
            <a:r>
              <a:rPr lang="en-US" b="true" i="false" strike="noStrike" u="none" sz="4400" spc="200">
                <a:solidFill>
                  <a:srgbClr val="4A3B30"/>
                </a:solidFill>
                <a:latin typeface="Noto Sans SC"/>
                <a:ea typeface="Noto Sans SC"/>
                <a:cs typeface="Noto Sans SC"/>
                <a:sym typeface="Noto Sans SC"/>
              </a:rPr>
              <a:t>实习生AI Coding全栈开发实战考核</a:t>
            </a:r>
            <a:endParaRPr lang="en-US" sz="1100"/>
          </a:p>
        </p:txBody>
      </p:sp>
      <p:sp>
        <p:nvSpPr>
          <p:cNvPr name="AutoShape 4" id="4"/>
          <p:cNvSpPr/>
          <p:nvPr/>
        </p:nvSpPr>
        <p:spPr>
          <a:xfrm rot="0" flipH="false" flipV="false">
            <a:off x="0" y="3810000"/>
            <a:ext cx="12192000" cy="533400"/>
          </a:xfrm>
          <a:prstGeom prst="rect">
            <a:avLst/>
          </a:prstGeom>
          <a:noFill/>
          <a:ln w="12700" cmpd="sng" cap="flat">
            <a:noFill/>
            <a:prstDash val="solid"/>
            <a:round/>
          </a:ln>
        </p:spPr>
        <p:txBody>
          <a:bodyPr anchor="t" rtlCol="false" anchorCtr="false" vert="horz" wrap="square" lIns="0" rIns="0" tIns="0" bIns="0"/>
          <a:lstStyle/>
          <a:p>
            <a:pPr algn="ctr" marL="0" indent="0">
              <a:lnSpc>
                <a:spcPct val="100000"/>
              </a:lnSpc>
              <a:defRPr/>
            </a:pPr>
            <a:r>
              <a:rPr lang="en-US" b="false" i="false" strike="noStrike" u="none" sz="2000" spc="400">
                <a:solidFill>
                  <a:srgbClr val="5D4A3C">
                    <a:alpha val="90196"/>
                  </a:srgbClr>
                </a:solidFill>
                <a:latin typeface="Noto Sans SC"/>
                <a:ea typeface="Noto Sans SC"/>
                <a:cs typeface="Noto Sans SC"/>
                <a:sym typeface="Noto Sans SC"/>
              </a:rPr>
              <a:t>拥抱AI,高效开发</a:t>
            </a:r>
            <a:endParaRPr lang="en-US" sz="1100"/>
          </a:p>
        </p:txBody>
      </p:sp>
      <p:sp>
        <p:nvSpPr>
          <p:cNvPr name="AutoShape 5" id="5"/>
          <p:cNvSpPr/>
          <p:nvPr/>
        </p:nvSpPr>
        <p:spPr>
          <a:xfrm rot="0" flipH="false" flipV="false">
            <a:off x="5588000" y="4826000"/>
            <a:ext cx="1016000" cy="38100"/>
          </a:xfrm>
          <a:prstGeom prst="roundRect">
            <a:avLst>
              <a:gd name="adj" fmla="val 0"/>
            </a:avLst>
          </a:prstGeom>
          <a:solidFill>
            <a:srgbClr val="D4AF37">
              <a:alpha val="100000"/>
            </a:srgbClr>
          </a:solidFill>
          <a:ln cmpd="sng" cap="flat">
            <a:solidFill>
              <a:srgbClr val="BB961E">
                <a:alpha val="100000"/>
              </a:srgbClr>
            </a:solidFill>
            <a:prstDash val="solid"/>
            <a:round/>
          </a:ln>
        </p:spPr>
        <p:txBody>
          <a:bodyPr anchor="ctr" rtlCol="false" anchorCtr="false" vert="horz" wrap="square" lIns="0" rIns="0" tIns="0" bIns="0"/>
          <a:lstStyle/>
          <a:p>
            <a:pPr algn="ctr">
              <a:defRPr/>
            </a:pPr>
            <a:endParaRPr/>
          </a:p>
        </p:txBody>
      </p:sp>
      <p:sp>
        <p:nvSpPr>
          <p:cNvPr name="AutoShape 6" id="6"/>
          <p:cNvSpPr/>
          <p:nvPr/>
        </p:nvSpPr>
        <p:spPr>
          <a:xfrm rot="0" flipH="false" flipV="false">
            <a:off x="0" y="5461000"/>
            <a:ext cx="12192000" cy="431800"/>
          </a:xfrm>
          <a:prstGeom prst="rect">
            <a:avLst/>
          </a:prstGeom>
          <a:noFill/>
          <a:ln w="12700" cmpd="sng" cap="flat">
            <a:noFill/>
            <a:prstDash val="solid"/>
            <a:round/>
          </a:ln>
        </p:spPr>
        <p:txBody>
          <a:bodyPr anchor="t" rtlCol="false" anchorCtr="false" vert="horz" wrap="square" lIns="0" rIns="0" tIns="0" bIns="0"/>
          <a:lstStyle/>
          <a:p>
            <a:pPr algn="ctr" marL="0" indent="0">
              <a:lnSpc>
                <a:spcPct val="100000"/>
              </a:lnSpc>
              <a:defRPr/>
            </a:pPr>
            <a:r>
              <a:rPr lang="en-US" b="false" i="false" strike="noStrike" u="none" sz="1400" spc="200">
                <a:solidFill>
                  <a:srgbClr val="4A3B30"/>
                </a:solidFill>
                <a:latin typeface="Noto Sans SC"/>
                <a:ea typeface="Noto Sans SC"/>
                <a:cs typeface="Noto Sans SC"/>
                <a:sym typeface="Noto Sans SC"/>
              </a:rPr>
              <a:t>亚信科技</a:t>
            </a:r>
            <a:r>
              <a:rPr lang="en-US" b="false" i="false" strike="noStrike" u="none" sz="1400" spc="200">
                <a:solidFill>
                  <a:srgbClr val="92725C"/>
                </a:solidFill>
                <a:latin typeface="Noto Sans SC"/>
                <a:ea typeface="Noto Sans SC"/>
                <a:cs typeface="Noto Sans SC"/>
                <a:sym typeface="Noto Sans SC"/>
              </a:rPr>
              <a:t>｜</a:t>
            </a:r>
            <a:r>
              <a:rPr lang="en-US" b="false" i="false" strike="noStrike" u="none" sz="1400" spc="200">
                <a:solidFill>
                  <a:srgbClr val="655245"/>
                </a:solidFill>
                <a:latin typeface="Noto Sans SC"/>
                <a:ea typeface="Noto Sans SC"/>
                <a:cs typeface="Noto Sans SC"/>
                <a:sym typeface="Noto Sans SC"/>
              </a:rPr>
              <a:t>2026年8月</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AEB">
              <a:alpha val="95000"/>
            </a:srgbClr>
          </a:solidFill>
          <a:ln cmpd="sng" cap="flat">
            <a:solidFill>
              <a:srgbClr val="E6DBBD">
                <a:alpha val="95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7620000" cy="635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4E342E"/>
                </a:solidFill>
                <a:latin typeface="Noto Sans SC"/>
                <a:ea typeface="Noto Sans SC"/>
                <a:cs typeface="Noto Sans SC"/>
                <a:sym typeface="Noto Sans SC"/>
              </a:rPr>
              <a:t>目录 CONTENTS</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10287000" y="698500"/>
            <a:ext cx="1651000" cy="495300"/>
          </a:xfrm>
          <a:prstGeom prst="rect">
            <a:avLst/>
          </a:prstGeom>
          <a:noFill/>
          <a:ln w="25400" cmpd="sng" cap="flat">
            <a:noFill/>
            <a:prstDash val="solid"/>
            <a:round/>
          </a:ln>
        </p:spPr>
      </p:pic>
      <p:sp>
        <p:nvSpPr>
          <p:cNvPr name="AutoShape 5" id="5"/>
          <p:cNvSpPr/>
          <p:nvPr/>
        </p:nvSpPr>
        <p:spPr>
          <a:xfrm rot="0" flipH="false" flipV="false">
            <a:off x="762000" y="1524000"/>
            <a:ext cx="10668000" cy="914400"/>
          </a:xfrm>
          <a:prstGeom prst="roundRect">
            <a:avLst>
              <a:gd name="adj" fmla="val 0"/>
            </a:avLst>
          </a:prstGeom>
          <a:solidFill>
            <a:srgbClr val="FFF8E1">
              <a:alpha val="85000"/>
            </a:srgbClr>
          </a:solidFill>
          <a:ln cmpd="sng" cap="flat">
            <a:solidFill>
              <a:srgbClr val="E6DAB4">
                <a:alpha val="85000"/>
              </a:srgbClr>
            </a:solidFill>
            <a:prstDash val="solid"/>
            <a:round/>
          </a:ln>
        </p:spPr>
        <p:txBody>
          <a:bodyPr anchor="ctr" rtlCol="false" anchorCtr="false" vert="horz" wrap="square" lIns="0" rIns="0" tIns="0" bIns="0"/>
          <a:lstStyle/>
          <a:p>
            <a:pPr algn="ctr">
              <a:defRPr/>
            </a:pPr>
            <a:endParaRPr/>
          </a:p>
        </p:txBody>
      </p:sp>
      <p:sp>
        <p:nvSpPr>
          <p:cNvPr name="AutoShape 6" id="6"/>
          <p:cNvSpPr/>
          <p:nvPr/>
        </p:nvSpPr>
        <p:spPr>
          <a:xfrm rot="0" flipH="false" flipV="false">
            <a:off x="762000" y="1524000"/>
            <a:ext cx="50800" cy="914400"/>
          </a:xfrm>
          <a:prstGeom prst="roundRect">
            <a:avLst>
              <a:gd name="adj" fmla="val 0"/>
            </a:avLst>
          </a:prstGeom>
          <a:solidFill>
            <a:srgbClr val="8B4513">
              <a:alpha val="100000"/>
            </a:srgbClr>
          </a:solidFill>
          <a:ln cmpd="sng" cap="flat">
            <a:solidFill>
              <a:srgbClr val="723204">
                <a:alpha val="100000"/>
              </a:srgbClr>
            </a:solidFill>
            <a:prstDash val="solid"/>
            <a:round/>
          </a:ln>
        </p:spPr>
        <p:txBody>
          <a:bodyPr anchor="ctr" rtlCol="false" anchorCtr="false" vert="horz" wrap="square" lIns="0" rIns="0" tIns="0" bIns="0"/>
          <a:lstStyle/>
          <a:p>
            <a:pPr algn="ctr">
              <a:defRPr/>
            </a:pPr>
            <a:endParaRPr/>
          </a:p>
        </p:txBody>
      </p:sp>
      <p:sp>
        <p:nvSpPr>
          <p:cNvPr name="AutoShape 7" id="7"/>
          <p:cNvSpPr/>
          <p:nvPr/>
        </p:nvSpPr>
        <p:spPr>
          <a:xfrm rot="0" flipH="false" flipV="false">
            <a:off x="965200" y="1524000"/>
            <a:ext cx="1270000" cy="914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4800">
                <a:solidFill>
                  <a:srgbClr val="8B4513"/>
                </a:solidFill>
                <a:latin typeface="Noto Sans SC"/>
                <a:ea typeface="Noto Sans SC"/>
                <a:cs typeface="Noto Sans SC"/>
                <a:sym typeface="Noto Sans SC"/>
              </a:rPr>
              <a:t>01</a:t>
            </a:r>
            <a:endParaRPr lang="en-US" sz="1100"/>
          </a:p>
        </p:txBody>
      </p:sp>
      <p:sp>
        <p:nvSpPr>
          <p:cNvPr name="AutoShape 8" id="8"/>
          <p:cNvSpPr/>
          <p:nvPr/>
        </p:nvSpPr>
        <p:spPr>
          <a:xfrm rot="0" flipH="false" flipV="false">
            <a:off x="2387600" y="1625600"/>
            <a:ext cx="7620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4E342E"/>
                </a:solidFill>
                <a:latin typeface="Noto Sans SC"/>
                <a:ea typeface="Noto Sans SC"/>
                <a:cs typeface="Noto Sans SC"/>
                <a:sym typeface="Noto Sans SC"/>
              </a:rPr>
              <a:t>考核概述与核心规则</a:t>
            </a:r>
            <a:endParaRPr lang="en-US" sz="1100"/>
          </a:p>
        </p:txBody>
      </p:sp>
      <p:sp>
        <p:nvSpPr>
          <p:cNvPr name="AutoShape 9" id="9"/>
          <p:cNvSpPr/>
          <p:nvPr/>
        </p:nvSpPr>
        <p:spPr>
          <a:xfrm rot="0" flipH="false" flipV="false">
            <a:off x="2387600" y="1981200"/>
            <a:ext cx="7874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E342E">
                    <a:alpha val="85098"/>
                  </a:srgbClr>
                </a:solidFill>
                <a:latin typeface="Noto Sans SC"/>
                <a:ea typeface="Noto Sans SC"/>
                <a:cs typeface="Noto Sans SC"/>
                <a:sym typeface="Noto Sans SC"/>
              </a:rPr>
              <a:t>考核目标、核心规则、时长与交付、总分规则</a:t>
            </a:r>
            <a:endParaRPr lang="en-US" sz="1100"/>
          </a:p>
        </p:txBody>
      </p:sp>
      <p:sp>
        <p:nvSpPr>
          <p:cNvPr name="AutoShape 10" id="10"/>
          <p:cNvSpPr/>
          <p:nvPr/>
        </p:nvSpPr>
        <p:spPr>
          <a:xfrm rot="0" flipH="false" flipV="false">
            <a:off x="762000" y="2540000"/>
            <a:ext cx="10668000" cy="914400"/>
          </a:xfrm>
          <a:prstGeom prst="roundRect">
            <a:avLst>
              <a:gd name="adj" fmla="val 0"/>
            </a:avLst>
          </a:prstGeom>
          <a:solidFill>
            <a:srgbClr val="FFF8E1">
              <a:alpha val="85000"/>
            </a:srgbClr>
          </a:solidFill>
          <a:ln cmpd="sng" cap="flat">
            <a:solidFill>
              <a:srgbClr val="E6DAB4">
                <a:alpha val="85000"/>
              </a:srgbClr>
            </a:solidFill>
            <a:prstDash val="solid"/>
            <a:round/>
          </a:ln>
        </p:spPr>
        <p:txBody>
          <a:bodyPr anchor="ctr" rtlCol="false" anchorCtr="false" vert="horz" wrap="square" lIns="0" rIns="0" tIns="0" bIns="0"/>
          <a:lstStyle/>
          <a:p>
            <a:pPr algn="ctr">
              <a:defRPr/>
            </a:pPr>
            <a:endParaRPr/>
          </a:p>
        </p:txBody>
      </p:sp>
      <p:sp>
        <p:nvSpPr>
          <p:cNvPr name="AutoShape 11" id="11"/>
          <p:cNvSpPr/>
          <p:nvPr/>
        </p:nvSpPr>
        <p:spPr>
          <a:xfrm rot="0" flipH="false" flipV="false">
            <a:off x="762000" y="2540000"/>
            <a:ext cx="50800" cy="914400"/>
          </a:xfrm>
          <a:prstGeom prst="roundRect">
            <a:avLst>
              <a:gd name="adj" fmla="val 0"/>
            </a:avLst>
          </a:prstGeom>
          <a:solidFill>
            <a:srgbClr val="8B4513">
              <a:alpha val="100000"/>
            </a:srgbClr>
          </a:solidFill>
          <a:ln cmpd="sng" cap="flat">
            <a:solidFill>
              <a:srgbClr val="723204">
                <a:alpha val="100000"/>
              </a:srgbClr>
            </a:solidFill>
            <a:prstDash val="solid"/>
            <a:round/>
          </a:ln>
        </p:spPr>
        <p:txBody>
          <a:bodyPr anchor="ctr" rtlCol="false" anchorCtr="false" vert="horz" wrap="square" lIns="0" rIns="0" tIns="0" bIns="0"/>
          <a:lstStyle/>
          <a:p>
            <a:pPr algn="ctr">
              <a:defRPr/>
            </a:pPr>
            <a:endParaRPr/>
          </a:p>
        </p:txBody>
      </p:sp>
      <p:sp>
        <p:nvSpPr>
          <p:cNvPr name="AutoShape 12" id="12"/>
          <p:cNvSpPr/>
          <p:nvPr/>
        </p:nvSpPr>
        <p:spPr>
          <a:xfrm rot="0" flipH="false" flipV="false">
            <a:off x="965200" y="2540000"/>
            <a:ext cx="1270000" cy="914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4800">
                <a:solidFill>
                  <a:srgbClr val="8B4513"/>
                </a:solidFill>
                <a:latin typeface="Noto Sans SC"/>
                <a:ea typeface="Noto Sans SC"/>
                <a:cs typeface="Noto Sans SC"/>
                <a:sym typeface="Noto Sans SC"/>
              </a:rPr>
              <a:t>02</a:t>
            </a:r>
            <a:endParaRPr lang="en-US" sz="1100"/>
          </a:p>
        </p:txBody>
      </p:sp>
      <p:sp>
        <p:nvSpPr>
          <p:cNvPr name="AutoShape 13" id="13"/>
          <p:cNvSpPr/>
          <p:nvPr/>
        </p:nvSpPr>
        <p:spPr>
          <a:xfrm rot="0" flipH="false" flipV="false">
            <a:off x="2387600" y="2641600"/>
            <a:ext cx="7620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4E342E"/>
                </a:solidFill>
                <a:latin typeface="Noto Sans SC"/>
                <a:ea typeface="Noto Sans SC"/>
                <a:cs typeface="Noto Sans SC"/>
                <a:sym typeface="Noto Sans SC"/>
              </a:rPr>
              <a:t>统一技术栈要求</a:t>
            </a:r>
            <a:endParaRPr lang="en-US" sz="1100"/>
          </a:p>
        </p:txBody>
      </p:sp>
      <p:sp>
        <p:nvSpPr>
          <p:cNvPr name="AutoShape 14" id="14"/>
          <p:cNvSpPr/>
          <p:nvPr/>
        </p:nvSpPr>
        <p:spPr>
          <a:xfrm rot="0" flipH="false" flipV="false">
            <a:off x="2387600" y="2997200"/>
            <a:ext cx="7874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E342E">
                    <a:alpha val="85098"/>
                  </a:srgbClr>
                </a:solidFill>
                <a:latin typeface="Noto Sans SC"/>
                <a:ea typeface="Noto Sans SC"/>
                <a:cs typeface="Noto Sans SC"/>
                <a:sym typeface="Noto Sans SC"/>
              </a:rPr>
              <a:t>前端技术栈、后端技术栈</a:t>
            </a:r>
            <a:endParaRPr lang="en-US" sz="1100"/>
          </a:p>
        </p:txBody>
      </p:sp>
      <p:sp>
        <p:nvSpPr>
          <p:cNvPr name="AutoShape 15" id="15"/>
          <p:cNvSpPr/>
          <p:nvPr/>
        </p:nvSpPr>
        <p:spPr>
          <a:xfrm rot="0" flipH="false" flipV="false">
            <a:off x="762000" y="3556000"/>
            <a:ext cx="10668000" cy="914400"/>
          </a:xfrm>
          <a:prstGeom prst="roundRect">
            <a:avLst>
              <a:gd name="adj" fmla="val 0"/>
            </a:avLst>
          </a:prstGeom>
          <a:solidFill>
            <a:srgbClr val="FFF8E1">
              <a:alpha val="85000"/>
            </a:srgbClr>
          </a:solidFill>
          <a:ln cmpd="sng" cap="flat">
            <a:solidFill>
              <a:srgbClr val="E6DAB4">
                <a:alpha val="85000"/>
              </a:srgbClr>
            </a:solidFill>
            <a:prstDash val="solid"/>
            <a:round/>
          </a:ln>
        </p:spPr>
        <p:txBody>
          <a:bodyPr anchor="ctr" rtlCol="false" anchorCtr="false" vert="horz" wrap="square" lIns="0" rIns="0" tIns="0" bIns="0"/>
          <a:lstStyle/>
          <a:p>
            <a:pPr algn="ctr">
              <a:defRPr/>
            </a:pPr>
            <a:endParaRPr/>
          </a:p>
        </p:txBody>
      </p:sp>
      <p:sp>
        <p:nvSpPr>
          <p:cNvPr name="AutoShape 16" id="16"/>
          <p:cNvSpPr/>
          <p:nvPr/>
        </p:nvSpPr>
        <p:spPr>
          <a:xfrm rot="0" flipH="false" flipV="false">
            <a:off x="762000" y="3556000"/>
            <a:ext cx="50800" cy="914400"/>
          </a:xfrm>
          <a:prstGeom prst="roundRect">
            <a:avLst>
              <a:gd name="adj" fmla="val 0"/>
            </a:avLst>
          </a:prstGeom>
          <a:solidFill>
            <a:srgbClr val="8B4513">
              <a:alpha val="100000"/>
            </a:srgbClr>
          </a:solidFill>
          <a:ln cmpd="sng" cap="flat">
            <a:solidFill>
              <a:srgbClr val="723204">
                <a:alpha val="100000"/>
              </a:srgbClr>
            </a:solidFill>
            <a:prstDash val="solid"/>
            <a:round/>
          </a:ln>
        </p:spPr>
        <p:txBody>
          <a:bodyPr anchor="ctr" rtlCol="false" anchorCtr="false" vert="horz" wrap="square" lIns="0" rIns="0" tIns="0" bIns="0"/>
          <a:lstStyle/>
          <a:p>
            <a:pPr algn="ctr">
              <a:defRPr/>
            </a:pPr>
            <a:endParaRPr/>
          </a:p>
        </p:txBody>
      </p:sp>
      <p:sp>
        <p:nvSpPr>
          <p:cNvPr name="AutoShape 17" id="17"/>
          <p:cNvSpPr/>
          <p:nvPr/>
        </p:nvSpPr>
        <p:spPr>
          <a:xfrm rot="0" flipH="false" flipV="false">
            <a:off x="965200" y="3556000"/>
            <a:ext cx="1270000" cy="914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4800">
                <a:solidFill>
                  <a:srgbClr val="8B4513"/>
                </a:solidFill>
                <a:latin typeface="Noto Sans SC"/>
                <a:ea typeface="Noto Sans SC"/>
                <a:cs typeface="Noto Sans SC"/>
                <a:sym typeface="Noto Sans SC"/>
              </a:rPr>
              <a:t>03</a:t>
            </a:r>
            <a:endParaRPr lang="en-US" sz="1100"/>
          </a:p>
        </p:txBody>
      </p:sp>
      <p:sp>
        <p:nvSpPr>
          <p:cNvPr name="AutoShape 18" id="18"/>
          <p:cNvSpPr/>
          <p:nvPr/>
        </p:nvSpPr>
        <p:spPr>
          <a:xfrm rot="0" flipH="false" flipV="false">
            <a:off x="2387600" y="3657600"/>
            <a:ext cx="5080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4E342E"/>
                </a:solidFill>
                <a:latin typeface="Noto Sans SC"/>
                <a:ea typeface="Noto Sans SC"/>
                <a:cs typeface="Noto Sans SC"/>
                <a:sym typeface="Noto Sans SC"/>
              </a:rPr>
              <a:t>系统基础需求</a:t>
            </a:r>
            <a:endParaRPr lang="en-US" sz="1100"/>
          </a:p>
        </p:txBody>
      </p:sp>
      <p:sp>
        <p:nvSpPr>
          <p:cNvPr name="AutoShape 19" id="19"/>
          <p:cNvSpPr/>
          <p:nvPr/>
        </p:nvSpPr>
        <p:spPr>
          <a:xfrm rot="0" flipH="false" flipV="false">
            <a:off x="6350000" y="3683000"/>
            <a:ext cx="1041400" cy="279400"/>
          </a:xfrm>
          <a:prstGeom prst="roundRect">
            <a:avLst>
              <a:gd name="adj" fmla="val 0"/>
            </a:avLst>
          </a:prstGeom>
          <a:solidFill>
            <a:srgbClr val="DAA520">
              <a:alpha val="25000"/>
            </a:srgbClr>
          </a:solidFill>
          <a:ln cmpd="sng" cap="flat">
            <a:solidFill>
              <a:srgbClr val="C18C09">
                <a:alpha val="25000"/>
              </a:srgbClr>
            </a:solidFill>
            <a:prstDash val="solid"/>
            <a:round/>
          </a:ln>
        </p:spPr>
        <p:txBody>
          <a:bodyPr anchor="ctr" rtlCol="false" anchorCtr="false" vert="horz" wrap="square" lIns="0" rIns="0" tIns="0" bIns="0"/>
          <a:lstStyle/>
          <a:p>
            <a:pPr algn="ctr">
              <a:defRPr/>
            </a:pPr>
            <a:endParaRPr/>
          </a:p>
        </p:txBody>
      </p:sp>
      <p:sp>
        <p:nvSpPr>
          <p:cNvPr name="AutoShape 20" id="20"/>
          <p:cNvSpPr/>
          <p:nvPr/>
        </p:nvSpPr>
        <p:spPr>
          <a:xfrm rot="0" flipH="false" flipV="false">
            <a:off x="6350000" y="3683000"/>
            <a:ext cx="1041400" cy="279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true" i="false" strike="noStrike" u="none" sz="1100">
                <a:solidFill>
                  <a:srgbClr val="4E342E"/>
                </a:solidFill>
                <a:latin typeface="Noto Sans SC"/>
                <a:ea typeface="Noto Sans SC"/>
                <a:cs typeface="Noto Sans SC"/>
                <a:sym typeface="Noto Sans SC"/>
              </a:rPr>
              <a:t>基础必做</a:t>
            </a:r>
            <a:endParaRPr lang="en-US" sz="1100"/>
          </a:p>
        </p:txBody>
      </p:sp>
      <p:sp>
        <p:nvSpPr>
          <p:cNvPr name="AutoShape 21" id="21"/>
          <p:cNvSpPr/>
          <p:nvPr/>
        </p:nvSpPr>
        <p:spPr>
          <a:xfrm rot="0" flipH="false" flipV="false">
            <a:off x="2387600" y="4013200"/>
            <a:ext cx="7874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E342E">
                    <a:alpha val="85098"/>
                  </a:srgbClr>
                </a:solidFill>
                <a:latin typeface="Noto Sans SC"/>
                <a:ea typeface="Noto Sans SC"/>
                <a:cs typeface="Noto Sans SC"/>
                <a:sym typeface="Noto Sans SC"/>
              </a:rPr>
              <a:t>基础管理模块、财务收支账务管理模块</a:t>
            </a:r>
            <a:endParaRPr lang="en-US" sz="1100"/>
          </a:p>
        </p:txBody>
      </p:sp>
      <p:sp>
        <p:nvSpPr>
          <p:cNvPr name="AutoShape 22" id="22"/>
          <p:cNvSpPr/>
          <p:nvPr/>
        </p:nvSpPr>
        <p:spPr>
          <a:xfrm rot="0" flipH="false" flipV="false">
            <a:off x="762000" y="4572000"/>
            <a:ext cx="10668000" cy="914400"/>
          </a:xfrm>
          <a:prstGeom prst="roundRect">
            <a:avLst>
              <a:gd name="adj" fmla="val 0"/>
            </a:avLst>
          </a:prstGeom>
          <a:solidFill>
            <a:srgbClr val="FFF8E1">
              <a:alpha val="85000"/>
            </a:srgbClr>
          </a:solidFill>
          <a:ln cmpd="sng" cap="flat">
            <a:solidFill>
              <a:srgbClr val="E6DAB4">
                <a:alpha val="85000"/>
              </a:srgbClr>
            </a:solidFill>
            <a:prstDash val="solid"/>
            <a:round/>
          </a:ln>
        </p:spPr>
        <p:txBody>
          <a:bodyPr anchor="ctr" rtlCol="false" anchorCtr="false" vert="horz" wrap="square" lIns="0" rIns="0" tIns="0" bIns="0"/>
          <a:lstStyle/>
          <a:p>
            <a:pPr algn="ctr">
              <a:defRPr/>
            </a:pPr>
            <a:endParaRPr/>
          </a:p>
        </p:txBody>
      </p:sp>
      <p:sp>
        <p:nvSpPr>
          <p:cNvPr name="AutoShape 23" id="23"/>
          <p:cNvSpPr/>
          <p:nvPr/>
        </p:nvSpPr>
        <p:spPr>
          <a:xfrm rot="0" flipH="false" flipV="false">
            <a:off x="762000" y="4572000"/>
            <a:ext cx="50800" cy="914400"/>
          </a:xfrm>
          <a:prstGeom prst="roundRect">
            <a:avLst>
              <a:gd name="adj" fmla="val 0"/>
            </a:avLst>
          </a:prstGeom>
          <a:solidFill>
            <a:srgbClr val="8B4513">
              <a:alpha val="100000"/>
            </a:srgbClr>
          </a:solidFill>
          <a:ln cmpd="sng" cap="flat">
            <a:solidFill>
              <a:srgbClr val="723204">
                <a:alpha val="100000"/>
              </a:srgbClr>
            </a:solidFill>
            <a:prstDash val="solid"/>
            <a:round/>
          </a:ln>
        </p:spPr>
        <p:txBody>
          <a:bodyPr anchor="ctr" rtlCol="false" anchorCtr="false" vert="horz" wrap="square" lIns="0" rIns="0" tIns="0" bIns="0"/>
          <a:lstStyle/>
          <a:p>
            <a:pPr algn="ctr">
              <a:defRPr/>
            </a:pPr>
            <a:endParaRPr/>
          </a:p>
        </p:txBody>
      </p:sp>
      <p:sp>
        <p:nvSpPr>
          <p:cNvPr name="AutoShape 24" id="24"/>
          <p:cNvSpPr/>
          <p:nvPr/>
        </p:nvSpPr>
        <p:spPr>
          <a:xfrm rot="0" flipH="false" flipV="false">
            <a:off x="965200" y="4572000"/>
            <a:ext cx="1270000" cy="914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4800">
                <a:solidFill>
                  <a:srgbClr val="8B4513"/>
                </a:solidFill>
                <a:latin typeface="Noto Sans SC"/>
                <a:ea typeface="Noto Sans SC"/>
                <a:cs typeface="Noto Sans SC"/>
                <a:sym typeface="Noto Sans SC"/>
              </a:rPr>
              <a:t>04</a:t>
            </a:r>
            <a:endParaRPr lang="en-US" sz="1100"/>
          </a:p>
        </p:txBody>
      </p:sp>
      <p:sp>
        <p:nvSpPr>
          <p:cNvPr name="AutoShape 25" id="25"/>
          <p:cNvSpPr/>
          <p:nvPr/>
        </p:nvSpPr>
        <p:spPr>
          <a:xfrm rot="0" flipH="false" flipV="false">
            <a:off x="2387600" y="4673600"/>
            <a:ext cx="5080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4E342E"/>
                </a:solidFill>
                <a:latin typeface="Noto Sans SC"/>
                <a:ea typeface="Noto Sans SC"/>
                <a:cs typeface="Noto Sans SC"/>
                <a:sym typeface="Noto Sans SC"/>
              </a:rPr>
              <a:t>进阶加分拓展需求</a:t>
            </a:r>
            <a:endParaRPr lang="en-US" sz="1100"/>
          </a:p>
        </p:txBody>
      </p:sp>
      <p:sp>
        <p:nvSpPr>
          <p:cNvPr name="AutoShape 26" id="26"/>
          <p:cNvSpPr/>
          <p:nvPr/>
        </p:nvSpPr>
        <p:spPr>
          <a:xfrm rot="0" flipH="false" flipV="false">
            <a:off x="6350000" y="4699000"/>
            <a:ext cx="863600" cy="279400"/>
          </a:xfrm>
          <a:prstGeom prst="roundRect">
            <a:avLst>
              <a:gd name="adj" fmla="val 0"/>
            </a:avLst>
          </a:prstGeom>
          <a:solidFill>
            <a:srgbClr val="DAA520">
              <a:alpha val="25000"/>
            </a:srgbClr>
          </a:solidFill>
          <a:ln cmpd="sng" cap="flat">
            <a:solidFill>
              <a:srgbClr val="C18C09">
                <a:alpha val="25000"/>
              </a:srgbClr>
            </a:solidFill>
            <a:prstDash val="solid"/>
            <a:round/>
          </a:ln>
        </p:spPr>
        <p:txBody>
          <a:bodyPr anchor="ctr" rtlCol="false" anchorCtr="false" vert="horz" wrap="square" lIns="0" rIns="0" tIns="0" bIns="0"/>
          <a:lstStyle/>
          <a:p>
            <a:pPr algn="ctr">
              <a:defRPr/>
            </a:pPr>
            <a:endParaRPr/>
          </a:p>
        </p:txBody>
      </p:sp>
      <p:sp>
        <p:nvSpPr>
          <p:cNvPr name="AutoShape 27" id="27"/>
          <p:cNvSpPr/>
          <p:nvPr/>
        </p:nvSpPr>
        <p:spPr>
          <a:xfrm rot="0" flipH="false" flipV="false">
            <a:off x="6350000" y="4699000"/>
            <a:ext cx="863600" cy="279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true" i="false" strike="noStrike" u="none" sz="1100">
                <a:solidFill>
                  <a:srgbClr val="4E342E"/>
                </a:solidFill>
                <a:latin typeface="Noto Sans SC"/>
                <a:ea typeface="Noto Sans SC"/>
                <a:cs typeface="Noto Sans SC"/>
                <a:sym typeface="Noto Sans SC"/>
              </a:rPr>
              <a:t>选做</a:t>
            </a:r>
            <a:endParaRPr lang="en-US" sz="1100"/>
          </a:p>
        </p:txBody>
      </p:sp>
      <p:sp>
        <p:nvSpPr>
          <p:cNvPr name="AutoShape 28" id="28"/>
          <p:cNvSpPr/>
          <p:nvPr/>
        </p:nvSpPr>
        <p:spPr>
          <a:xfrm rot="0" flipH="false" flipV="false">
            <a:off x="2387600" y="5029200"/>
            <a:ext cx="7874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E342E">
                    <a:alpha val="85098"/>
                  </a:srgbClr>
                </a:solidFill>
                <a:latin typeface="Noto Sans SC"/>
                <a:ea typeface="Noto Sans SC"/>
                <a:cs typeface="Noto Sans SC"/>
                <a:sym typeface="Noto Sans SC"/>
              </a:rPr>
              <a:t>数据可视化、Excel导出、批量操作、按钮级权限、数据软删除</a:t>
            </a:r>
            <a:endParaRPr lang="en-US" sz="1100"/>
          </a:p>
        </p:txBody>
      </p:sp>
      <p:sp>
        <p:nvSpPr>
          <p:cNvPr name="AutoShape 29" id="29"/>
          <p:cNvSpPr/>
          <p:nvPr/>
        </p:nvSpPr>
        <p:spPr>
          <a:xfrm rot="0" flipH="false" flipV="false">
            <a:off x="762000" y="5588000"/>
            <a:ext cx="10668000" cy="914400"/>
          </a:xfrm>
          <a:prstGeom prst="roundRect">
            <a:avLst>
              <a:gd name="adj" fmla="val 0"/>
            </a:avLst>
          </a:prstGeom>
          <a:solidFill>
            <a:srgbClr val="FFF8E1">
              <a:alpha val="85000"/>
            </a:srgbClr>
          </a:solidFill>
          <a:ln cmpd="sng" cap="flat">
            <a:solidFill>
              <a:srgbClr val="E6DAB4">
                <a:alpha val="85000"/>
              </a:srgbClr>
            </a:solidFill>
            <a:prstDash val="solid"/>
            <a:round/>
          </a:ln>
        </p:spPr>
        <p:txBody>
          <a:bodyPr anchor="ctr" rtlCol="false" anchorCtr="false" vert="horz" wrap="square" lIns="0" rIns="0" tIns="0" bIns="0"/>
          <a:lstStyle/>
          <a:p>
            <a:pPr algn="ctr">
              <a:defRPr/>
            </a:pPr>
            <a:endParaRPr/>
          </a:p>
        </p:txBody>
      </p:sp>
      <p:sp>
        <p:nvSpPr>
          <p:cNvPr name="AutoShape 30" id="30"/>
          <p:cNvSpPr/>
          <p:nvPr/>
        </p:nvSpPr>
        <p:spPr>
          <a:xfrm rot="0" flipH="false" flipV="false">
            <a:off x="762000" y="5588000"/>
            <a:ext cx="50800" cy="914400"/>
          </a:xfrm>
          <a:prstGeom prst="roundRect">
            <a:avLst>
              <a:gd name="adj" fmla="val 0"/>
            </a:avLst>
          </a:prstGeom>
          <a:solidFill>
            <a:srgbClr val="8B4513">
              <a:alpha val="100000"/>
            </a:srgbClr>
          </a:solidFill>
          <a:ln cmpd="sng" cap="flat">
            <a:solidFill>
              <a:srgbClr val="723204">
                <a:alpha val="100000"/>
              </a:srgbClr>
            </a:solidFill>
            <a:prstDash val="solid"/>
            <a:round/>
          </a:ln>
        </p:spPr>
        <p:txBody>
          <a:bodyPr anchor="ctr" rtlCol="false" anchorCtr="false" vert="horz" wrap="square" lIns="0" rIns="0" tIns="0" bIns="0"/>
          <a:lstStyle/>
          <a:p>
            <a:pPr algn="ctr">
              <a:defRPr/>
            </a:pPr>
            <a:endParaRPr/>
          </a:p>
        </p:txBody>
      </p:sp>
      <p:sp>
        <p:nvSpPr>
          <p:cNvPr name="AutoShape 31" id="31"/>
          <p:cNvSpPr/>
          <p:nvPr/>
        </p:nvSpPr>
        <p:spPr>
          <a:xfrm rot="0" flipH="false" flipV="false">
            <a:off x="965200" y="5588000"/>
            <a:ext cx="1270000" cy="914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4800">
                <a:solidFill>
                  <a:srgbClr val="8B4513"/>
                </a:solidFill>
                <a:latin typeface="Noto Sans SC"/>
                <a:ea typeface="Noto Sans SC"/>
                <a:cs typeface="Noto Sans SC"/>
                <a:sym typeface="Noto Sans SC"/>
              </a:rPr>
              <a:t>05</a:t>
            </a:r>
            <a:endParaRPr lang="en-US" sz="1100"/>
          </a:p>
        </p:txBody>
      </p:sp>
      <p:sp>
        <p:nvSpPr>
          <p:cNvPr name="AutoShape 32" id="32"/>
          <p:cNvSpPr/>
          <p:nvPr/>
        </p:nvSpPr>
        <p:spPr>
          <a:xfrm rot="0" flipH="false" flipV="false">
            <a:off x="2387600" y="5689600"/>
            <a:ext cx="7620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4E342E"/>
                </a:solidFill>
                <a:latin typeface="Noto Sans SC"/>
                <a:ea typeface="Noto Sans SC"/>
                <a:cs typeface="Noto Sans SC"/>
                <a:sym typeface="Noto Sans SC"/>
              </a:rPr>
              <a:t>验收要求</a:t>
            </a:r>
            <a:endParaRPr lang="en-US" sz="1100"/>
          </a:p>
        </p:txBody>
      </p:sp>
      <p:sp>
        <p:nvSpPr>
          <p:cNvPr name="AutoShape 33" id="33"/>
          <p:cNvSpPr/>
          <p:nvPr/>
        </p:nvSpPr>
        <p:spPr>
          <a:xfrm rot="0" flipH="false" flipV="false">
            <a:off x="2387600" y="6045200"/>
            <a:ext cx="7874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E342E">
                    <a:alpha val="85098"/>
                  </a:srgbClr>
                </a:solidFill>
                <a:latin typeface="Noto Sans SC"/>
                <a:ea typeface="Noto Sans SC"/>
                <a:cs typeface="Noto Sans SC"/>
                <a:sym typeface="Noto Sans SC"/>
              </a:rPr>
              <a:t>评分规则、交付清单、验收标准</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9C4">
              <a:alpha val="92000"/>
            </a:srgbClr>
          </a:solidFill>
          <a:ln cmpd="sng" cap="flat">
            <a:solidFill>
              <a:srgbClr val="E6DE99">
                <a:alpha val="92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8890000" cy="6096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4E342E"/>
                </a:solidFill>
                <a:latin typeface="Noto Sans SC"/>
                <a:ea typeface="Noto Sans SC"/>
                <a:cs typeface="Noto Sans SC"/>
                <a:sym typeface="Noto Sans SC"/>
              </a:rPr>
              <a:t>01 考核概述与核心规则</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10287000" y="635000"/>
            <a:ext cx="1651000" cy="495300"/>
          </a:xfrm>
          <a:prstGeom prst="rect">
            <a:avLst/>
          </a:prstGeom>
          <a:noFill/>
          <a:ln w="25400" cmpd="sng" cap="flat">
            <a:noFill/>
            <a:prstDash val="solid"/>
            <a:round/>
          </a:ln>
        </p:spPr>
      </p:pic>
      <p:sp>
        <p:nvSpPr>
          <p:cNvPr name="AutoShape 5" id="5"/>
          <p:cNvSpPr/>
          <p:nvPr/>
        </p:nvSpPr>
        <p:spPr>
          <a:xfrm rot="0" flipH="false" flipV="false">
            <a:off x="762000" y="1422400"/>
            <a:ext cx="106680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00000"/>
              </a:lnSpc>
              <a:defRPr/>
            </a:pPr>
            <a:r>
              <a:rPr lang="en-US" b="true" i="false" strike="noStrike" u="none" sz="2000">
                <a:solidFill>
                  <a:srgbClr val="4E342E"/>
                </a:solidFill>
                <a:latin typeface="Noto Sans SC"/>
                <a:ea typeface="Noto Sans SC"/>
                <a:cs typeface="Noto Sans SC"/>
                <a:sym typeface="Noto Sans SC"/>
              </a:rPr>
              <a:t>考核目标:模拟真实企业开发场景</a:t>
            </a:r>
            <a:endParaRPr lang="en-US" sz="1100"/>
          </a:p>
        </p:txBody>
      </p:sp>
      <p:sp>
        <p:nvSpPr>
          <p:cNvPr name="AutoShape 6" id="6"/>
          <p:cNvSpPr/>
          <p:nvPr/>
        </p:nvSpPr>
        <p:spPr>
          <a:xfrm rot="0" flipH="false" flipV="false">
            <a:off x="762000" y="1905000"/>
            <a:ext cx="10668000" cy="533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400">
                <a:solidFill>
                  <a:srgbClr val="5D4037"/>
                </a:solidFill>
                <a:latin typeface="Noto Sans SC"/>
                <a:ea typeface="Noto Sans SC"/>
                <a:cs typeface="Noto Sans SC"/>
                <a:sym typeface="Noto Sans SC"/>
              </a:rPr>
              <a:t>本次考核旨在全面评估实习生在AI时代下的综合开发能力,重点考察以下五个核心维度:</a:t>
            </a:r>
            <a:endParaRPr lang="en-US" sz="1100"/>
          </a:p>
        </p:txBody>
      </p:sp>
      <p:sp>
        <p:nvSpPr>
          <p:cNvPr name="AutoShape 7" id="7"/>
          <p:cNvSpPr/>
          <p:nvPr/>
        </p:nvSpPr>
        <p:spPr>
          <a:xfrm rot="0" flipH="false" flipV="false">
            <a:off x="762000" y="2603500"/>
            <a:ext cx="2032000" cy="2286000"/>
          </a:xfrm>
          <a:prstGeom prst="roundRect">
            <a:avLst>
              <a:gd name="adj" fmla="val 0"/>
            </a:avLst>
          </a:prstGeom>
          <a:solidFill>
            <a:srgbClr val="FFFFFF">
              <a:alpha val="85000"/>
            </a:srgbClr>
          </a:solidFill>
          <a:ln w="12700" cmpd="sng" cap="flat">
            <a:solidFill>
              <a:srgbClr val="FFF3CD">
                <a:alpha val="100000"/>
              </a:srgbClr>
            </a:solidFill>
            <a:prstDash val="solid"/>
            <a:round/>
          </a:ln>
        </p:spPr>
        <p:txBody>
          <a:bodyPr anchor="ctr" rtlCol="false" anchorCtr="false" vert="horz" wrap="square" lIns="0" rIns="0" tIns="0" bIns="0"/>
          <a:lstStyle/>
          <a:p>
            <a:pPr algn="ctr">
              <a:defRPr/>
            </a:pPr>
            <a:endParaRPr/>
          </a:p>
        </p:txBody>
      </p:sp>
      <p:sp>
        <p:nvSpPr>
          <p:cNvPr name="AutoShape 8" id="8"/>
          <p:cNvSpPr/>
          <p:nvPr/>
        </p:nvSpPr>
        <p:spPr>
          <a:xfrm rot="0" flipH="false" flipV="false">
            <a:off x="762000" y="2603500"/>
            <a:ext cx="50800" cy="2286000"/>
          </a:xfrm>
          <a:prstGeom prst="roundRect">
            <a:avLst>
              <a:gd name="adj" fmla="val 0"/>
            </a:avLst>
          </a:prstGeom>
          <a:solidFill>
            <a:srgbClr val="DAA520">
              <a:alpha val="100000"/>
            </a:srgbClr>
          </a:solidFill>
          <a:ln cmpd="sng" cap="flat">
            <a:solidFill>
              <a:srgbClr val="C18C09">
                <a:alpha val="100000"/>
              </a:srgbClr>
            </a:solidFill>
            <a:prstDash val="solid"/>
            <a:round/>
          </a:ln>
        </p:spPr>
        <p:txBody>
          <a:bodyPr anchor="ctr" rtlCol="false" anchorCtr="false" vert="horz" wrap="square" lIns="0" rIns="0" tIns="0" bIns="0"/>
          <a:lstStyle/>
          <a:p>
            <a:pPr algn="ctr">
              <a:defRPr/>
            </a:pPr>
            <a:endParaRPr/>
          </a:p>
        </p:txBody>
      </p:sp>
      <p:sp>
        <p:nvSpPr>
          <p:cNvPr name="AutoShape 9" id="9"/>
          <p:cNvSpPr/>
          <p:nvPr/>
        </p:nvSpPr>
        <p:spPr>
          <a:xfrm rot="0" flipH="false" flipV="false">
            <a:off x="762000" y="2768600"/>
            <a:ext cx="2032000" cy="406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1600">
                <a:solidFill>
                  <a:srgbClr val="4E342E"/>
                </a:solidFill>
                <a:latin typeface="Noto Sans SC"/>
                <a:ea typeface="Noto Sans SC"/>
                <a:cs typeface="Noto Sans SC"/>
                <a:sym typeface="Noto Sans SC"/>
              </a:rPr>
              <a:t>AI辅助编码</a:t>
            </a:r>
            <a:endParaRPr lang="en-US" sz="1100"/>
          </a:p>
        </p:txBody>
      </p:sp>
      <p:sp>
        <p:nvSpPr>
          <p:cNvPr name="AutoShape 10" id="10"/>
          <p:cNvSpPr/>
          <p:nvPr/>
        </p:nvSpPr>
        <p:spPr>
          <a:xfrm rot="0" flipH="false" flipV="false">
            <a:off x="863600" y="3200400"/>
            <a:ext cx="1828800" cy="1625600"/>
          </a:xfrm>
          <a:prstGeom prst="rect">
            <a:avLst/>
          </a:prstGeom>
          <a:noFill/>
          <a:ln w="12700" cmpd="sng" cap="flat">
            <a:noFill/>
            <a:prstDash val="solid"/>
            <a:round/>
          </a:ln>
        </p:spPr>
        <p:txBody>
          <a:bodyPr anchor="t" rtlCol="false" anchorCtr="false" vert="horz" wrap="square" lIns="0" rIns="0" tIns="0" bIns="0"/>
          <a:lstStyle/>
          <a:p>
            <a:pPr algn="l" marL="0" indent="0">
              <a:lnSpc>
                <a:spcPct val="129166"/>
              </a:lnSpc>
              <a:defRPr/>
            </a:pPr>
            <a:r>
              <a:rPr lang="en-US" b="false" i="false" strike="noStrike" u="none" sz="1200">
                <a:solidFill>
                  <a:srgbClr val="5D4037"/>
                </a:solidFill>
                <a:latin typeface="Noto Sans SC"/>
                <a:ea typeface="Noto Sans SC"/>
                <a:cs typeface="Noto Sans SC"/>
                <a:sym typeface="Noto Sans SC"/>
              </a:rPr>
              <a:t>如何高效利用AI工具(如GitHub Copilot,Codeium等)生成高质量、可运行的代码。</a:t>
            </a:r>
            <a:endParaRPr lang="en-US" sz="1100"/>
          </a:p>
        </p:txBody>
      </p:sp>
      <p:sp>
        <p:nvSpPr>
          <p:cNvPr name="AutoShape 11" id="11"/>
          <p:cNvSpPr/>
          <p:nvPr/>
        </p:nvSpPr>
        <p:spPr>
          <a:xfrm rot="0" flipH="false" flipV="false">
            <a:off x="3009900" y="2603500"/>
            <a:ext cx="2032000" cy="2286000"/>
          </a:xfrm>
          <a:prstGeom prst="roundRect">
            <a:avLst>
              <a:gd name="adj" fmla="val 0"/>
            </a:avLst>
          </a:prstGeom>
          <a:solidFill>
            <a:srgbClr val="FFFFFF">
              <a:alpha val="85000"/>
            </a:srgbClr>
          </a:solidFill>
          <a:ln w="12700" cmpd="sng" cap="flat">
            <a:solidFill>
              <a:srgbClr val="FFF3CD">
                <a:alpha val="100000"/>
              </a:srgbClr>
            </a:solidFill>
            <a:prstDash val="solid"/>
            <a:round/>
          </a:ln>
        </p:spPr>
        <p:txBody>
          <a:bodyPr anchor="ctr" rtlCol="false" anchorCtr="false" vert="horz" wrap="square" lIns="0" rIns="0" tIns="0" bIns="0"/>
          <a:lstStyle/>
          <a:p>
            <a:pPr algn="ctr">
              <a:defRPr/>
            </a:pPr>
            <a:endParaRPr/>
          </a:p>
        </p:txBody>
      </p:sp>
      <p:sp>
        <p:nvSpPr>
          <p:cNvPr name="AutoShape 12" id="12"/>
          <p:cNvSpPr/>
          <p:nvPr/>
        </p:nvSpPr>
        <p:spPr>
          <a:xfrm rot="0" flipH="false" flipV="false">
            <a:off x="3009900" y="2603500"/>
            <a:ext cx="50800" cy="2286000"/>
          </a:xfrm>
          <a:prstGeom prst="roundRect">
            <a:avLst>
              <a:gd name="adj" fmla="val 0"/>
            </a:avLst>
          </a:prstGeom>
          <a:solidFill>
            <a:srgbClr val="DAA520">
              <a:alpha val="100000"/>
            </a:srgbClr>
          </a:solidFill>
          <a:ln cmpd="sng" cap="flat">
            <a:solidFill>
              <a:srgbClr val="C18C09">
                <a:alpha val="100000"/>
              </a:srgbClr>
            </a:solid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3009900" y="2768600"/>
            <a:ext cx="2032000" cy="406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1600">
                <a:solidFill>
                  <a:srgbClr val="4E342E"/>
                </a:solidFill>
                <a:latin typeface="Noto Sans SC"/>
                <a:ea typeface="Noto Sans SC"/>
                <a:cs typeface="Noto Sans SC"/>
                <a:sym typeface="Noto Sans SC"/>
              </a:rPr>
              <a:t>提示词工程</a:t>
            </a:r>
            <a:endParaRPr lang="en-US" sz="1100"/>
          </a:p>
        </p:txBody>
      </p:sp>
      <p:sp>
        <p:nvSpPr>
          <p:cNvPr name="AutoShape 14" id="14"/>
          <p:cNvSpPr/>
          <p:nvPr/>
        </p:nvSpPr>
        <p:spPr>
          <a:xfrm rot="0" flipH="false" flipV="false">
            <a:off x="3111500" y="3200400"/>
            <a:ext cx="1828800" cy="1625600"/>
          </a:xfrm>
          <a:prstGeom prst="rect">
            <a:avLst/>
          </a:prstGeom>
          <a:noFill/>
          <a:ln w="12700" cmpd="sng" cap="flat">
            <a:noFill/>
            <a:prstDash val="solid"/>
            <a:round/>
          </a:ln>
        </p:spPr>
        <p:txBody>
          <a:bodyPr anchor="t" rtlCol="false" anchorCtr="false" vert="horz" wrap="square" lIns="0" rIns="0" tIns="0" bIns="0"/>
          <a:lstStyle/>
          <a:p>
            <a:pPr algn="l" marL="0" indent="0">
              <a:lnSpc>
                <a:spcPct val="129166"/>
              </a:lnSpc>
              <a:defRPr/>
            </a:pPr>
            <a:r>
              <a:rPr lang="en-US" b="false" i="false" strike="noStrike" u="none" sz="1200">
                <a:solidFill>
                  <a:srgbClr val="5D4037"/>
                </a:solidFill>
                <a:latin typeface="Noto Sans SC"/>
                <a:ea typeface="Noto Sans SC"/>
                <a:cs typeface="Noto Sans SC"/>
                <a:sym typeface="Noto Sans SC"/>
              </a:rPr>
              <a:t>如何设计精准、清晰的提示词(Prompt),引导AI生成符合业务需求的代码和解决方案。</a:t>
            </a:r>
            <a:endParaRPr lang="en-US" sz="1100"/>
          </a:p>
        </p:txBody>
      </p:sp>
      <p:sp>
        <p:nvSpPr>
          <p:cNvPr name="AutoShape 15" id="15"/>
          <p:cNvSpPr/>
          <p:nvPr/>
        </p:nvSpPr>
        <p:spPr>
          <a:xfrm rot="0" flipH="false" flipV="false">
            <a:off x="5257800" y="2603500"/>
            <a:ext cx="2032000" cy="2286000"/>
          </a:xfrm>
          <a:prstGeom prst="roundRect">
            <a:avLst>
              <a:gd name="adj" fmla="val 0"/>
            </a:avLst>
          </a:prstGeom>
          <a:solidFill>
            <a:srgbClr val="FFFFFF">
              <a:alpha val="85000"/>
            </a:srgbClr>
          </a:solidFill>
          <a:ln w="12700" cmpd="sng" cap="flat">
            <a:solidFill>
              <a:srgbClr val="FFF3CD">
                <a:alpha val="100000"/>
              </a:srgbClr>
            </a:solidFill>
            <a:prstDash val="solid"/>
            <a:round/>
          </a:ln>
        </p:spPr>
        <p:txBody>
          <a:bodyPr anchor="ctr" rtlCol="false" anchorCtr="false" vert="horz" wrap="square" lIns="0" rIns="0" tIns="0" bIns="0"/>
          <a:lstStyle/>
          <a:p>
            <a:pPr algn="ctr">
              <a:defRPr/>
            </a:pPr>
            <a:endParaRPr/>
          </a:p>
        </p:txBody>
      </p:sp>
      <p:sp>
        <p:nvSpPr>
          <p:cNvPr name="AutoShape 16" id="16"/>
          <p:cNvSpPr/>
          <p:nvPr/>
        </p:nvSpPr>
        <p:spPr>
          <a:xfrm rot="0" flipH="false" flipV="false">
            <a:off x="5257800" y="2603500"/>
            <a:ext cx="50800" cy="2286000"/>
          </a:xfrm>
          <a:prstGeom prst="roundRect">
            <a:avLst>
              <a:gd name="adj" fmla="val 0"/>
            </a:avLst>
          </a:prstGeom>
          <a:solidFill>
            <a:srgbClr val="DAA520">
              <a:alpha val="100000"/>
            </a:srgbClr>
          </a:solidFill>
          <a:ln cmpd="sng" cap="flat">
            <a:solidFill>
              <a:srgbClr val="C18C09">
                <a:alpha val="100000"/>
              </a:srgbClr>
            </a:solidFill>
            <a:prstDash val="solid"/>
            <a:round/>
          </a:ln>
        </p:spPr>
        <p:txBody>
          <a:bodyPr anchor="ctr" rtlCol="false" anchorCtr="false" vert="horz" wrap="square" lIns="0" rIns="0" tIns="0" bIns="0"/>
          <a:lstStyle/>
          <a:p>
            <a:pPr algn="ctr">
              <a:defRPr/>
            </a:pPr>
            <a:endParaRPr/>
          </a:p>
        </p:txBody>
      </p:sp>
      <p:sp>
        <p:nvSpPr>
          <p:cNvPr name="AutoShape 17" id="17"/>
          <p:cNvSpPr/>
          <p:nvPr/>
        </p:nvSpPr>
        <p:spPr>
          <a:xfrm rot="0" flipH="false" flipV="false">
            <a:off x="5257800" y="2768600"/>
            <a:ext cx="2032000" cy="406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1600">
                <a:solidFill>
                  <a:srgbClr val="4E342E"/>
                </a:solidFill>
                <a:latin typeface="Noto Sans SC"/>
                <a:ea typeface="Noto Sans SC"/>
                <a:cs typeface="Noto Sans SC"/>
                <a:sym typeface="Noto Sans SC"/>
              </a:rPr>
              <a:t>全栈开发</a:t>
            </a:r>
            <a:endParaRPr lang="en-US" sz="1100"/>
          </a:p>
        </p:txBody>
      </p:sp>
      <p:sp>
        <p:nvSpPr>
          <p:cNvPr name="AutoShape 18" id="18"/>
          <p:cNvSpPr/>
          <p:nvPr/>
        </p:nvSpPr>
        <p:spPr>
          <a:xfrm rot="0" flipH="false" flipV="false">
            <a:off x="5359400" y="3200400"/>
            <a:ext cx="1828800" cy="1625600"/>
          </a:xfrm>
          <a:prstGeom prst="rect">
            <a:avLst/>
          </a:prstGeom>
          <a:noFill/>
          <a:ln w="12700" cmpd="sng" cap="flat">
            <a:noFill/>
            <a:prstDash val="solid"/>
            <a:round/>
          </a:ln>
        </p:spPr>
        <p:txBody>
          <a:bodyPr anchor="t" rtlCol="false" anchorCtr="false" vert="horz" wrap="square" lIns="0" rIns="0" tIns="0" bIns="0"/>
          <a:lstStyle/>
          <a:p>
            <a:pPr algn="l" marL="0" indent="0">
              <a:lnSpc>
                <a:spcPct val="129166"/>
              </a:lnSpc>
              <a:defRPr/>
            </a:pPr>
            <a:r>
              <a:rPr lang="en-US" b="false" i="false" strike="noStrike" u="none" sz="1200">
                <a:solidFill>
                  <a:srgbClr val="5D4037"/>
                </a:solidFill>
                <a:latin typeface="Noto Sans SC"/>
                <a:ea typeface="Noto Sans SC"/>
                <a:cs typeface="Noto Sans SC"/>
                <a:sym typeface="Noto Sans SC"/>
              </a:rPr>
              <a:t>考察从前端界面到后端服务的端到端开发能力。</a:t>
            </a:r>
            <a:endParaRPr lang="en-US" sz="1100"/>
          </a:p>
        </p:txBody>
      </p:sp>
      <p:sp>
        <p:nvSpPr>
          <p:cNvPr name="AutoShape 19" id="19"/>
          <p:cNvSpPr/>
          <p:nvPr/>
        </p:nvSpPr>
        <p:spPr>
          <a:xfrm rot="0" flipH="false" flipV="false">
            <a:off x="7505700" y="2603500"/>
            <a:ext cx="2032000" cy="2286000"/>
          </a:xfrm>
          <a:prstGeom prst="roundRect">
            <a:avLst>
              <a:gd name="adj" fmla="val 0"/>
            </a:avLst>
          </a:prstGeom>
          <a:solidFill>
            <a:srgbClr val="FFFFFF">
              <a:alpha val="85000"/>
            </a:srgbClr>
          </a:solidFill>
          <a:ln w="12700" cmpd="sng" cap="flat">
            <a:solidFill>
              <a:srgbClr val="FFF3CD">
                <a:alpha val="100000"/>
              </a:srgbClr>
            </a:solidFill>
            <a:prstDash val="solid"/>
            <a:round/>
          </a:ln>
        </p:spPr>
        <p:txBody>
          <a:bodyPr anchor="ctr" rtlCol="false" anchorCtr="false" vert="horz" wrap="square" lIns="0" rIns="0" tIns="0" bIns="0"/>
          <a:lstStyle/>
          <a:p>
            <a:pPr algn="ctr">
              <a:defRPr/>
            </a:pPr>
            <a:endParaRPr/>
          </a:p>
        </p:txBody>
      </p:sp>
      <p:sp>
        <p:nvSpPr>
          <p:cNvPr name="AutoShape 20" id="20"/>
          <p:cNvSpPr/>
          <p:nvPr/>
        </p:nvSpPr>
        <p:spPr>
          <a:xfrm rot="0" flipH="false" flipV="false">
            <a:off x="7505700" y="2603500"/>
            <a:ext cx="50800" cy="2286000"/>
          </a:xfrm>
          <a:prstGeom prst="roundRect">
            <a:avLst>
              <a:gd name="adj" fmla="val 0"/>
            </a:avLst>
          </a:prstGeom>
          <a:solidFill>
            <a:srgbClr val="DAA520">
              <a:alpha val="100000"/>
            </a:srgbClr>
          </a:solidFill>
          <a:ln cmpd="sng" cap="flat">
            <a:solidFill>
              <a:srgbClr val="C18C09">
                <a:alpha val="100000"/>
              </a:srgbClr>
            </a:solidFill>
            <a:prstDash val="solid"/>
            <a:round/>
          </a:ln>
        </p:spPr>
        <p:txBody>
          <a:bodyPr anchor="ctr" rtlCol="false" anchorCtr="false" vert="horz" wrap="square" lIns="0" rIns="0" tIns="0" bIns="0"/>
          <a:lstStyle/>
          <a:p>
            <a:pPr algn="ctr">
              <a:defRPr/>
            </a:pPr>
            <a:endParaRPr/>
          </a:p>
        </p:txBody>
      </p:sp>
      <p:sp>
        <p:nvSpPr>
          <p:cNvPr name="AutoShape 21" id="21"/>
          <p:cNvSpPr/>
          <p:nvPr/>
        </p:nvSpPr>
        <p:spPr>
          <a:xfrm rot="0" flipH="false" flipV="false">
            <a:off x="7505700" y="2768600"/>
            <a:ext cx="2032000" cy="406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1600">
                <a:solidFill>
                  <a:srgbClr val="4E342E"/>
                </a:solidFill>
                <a:latin typeface="Noto Sans SC"/>
                <a:ea typeface="Noto Sans SC"/>
                <a:cs typeface="Noto Sans SC"/>
                <a:sym typeface="Noto Sans SC"/>
              </a:rPr>
              <a:t>权限架构设计</a:t>
            </a:r>
            <a:endParaRPr lang="en-US" sz="1100"/>
          </a:p>
        </p:txBody>
      </p:sp>
      <p:sp>
        <p:nvSpPr>
          <p:cNvPr name="AutoShape 22" id="22"/>
          <p:cNvSpPr/>
          <p:nvPr/>
        </p:nvSpPr>
        <p:spPr>
          <a:xfrm rot="0" flipH="false" flipV="false">
            <a:off x="7607300" y="3200400"/>
            <a:ext cx="1828800" cy="1625600"/>
          </a:xfrm>
          <a:prstGeom prst="rect">
            <a:avLst/>
          </a:prstGeom>
          <a:noFill/>
          <a:ln w="12700" cmpd="sng" cap="flat">
            <a:noFill/>
            <a:prstDash val="solid"/>
            <a:round/>
          </a:ln>
        </p:spPr>
        <p:txBody>
          <a:bodyPr anchor="t" rtlCol="false" anchorCtr="false" vert="horz" wrap="square" lIns="0" rIns="0" tIns="0" bIns="0"/>
          <a:lstStyle/>
          <a:p>
            <a:pPr algn="l" marL="0" indent="0">
              <a:lnSpc>
                <a:spcPct val="129166"/>
              </a:lnSpc>
              <a:defRPr/>
            </a:pPr>
            <a:r>
              <a:rPr lang="en-US" b="false" i="false" strike="noStrike" u="none" sz="1200">
                <a:solidFill>
                  <a:srgbClr val="5D4037"/>
                </a:solidFill>
                <a:latin typeface="Noto Sans SC"/>
                <a:ea typeface="Noto Sans SC"/>
                <a:cs typeface="Noto Sans SC"/>
                <a:sym typeface="Noto Sans SC"/>
              </a:rPr>
              <a:t>评估对企业级应用中常见的权限控制模型(如RBAC)的理解和实践能力。</a:t>
            </a:r>
            <a:endParaRPr lang="en-US" sz="1100"/>
          </a:p>
        </p:txBody>
      </p:sp>
      <p:sp>
        <p:nvSpPr>
          <p:cNvPr name="AutoShape 23" id="23"/>
          <p:cNvSpPr/>
          <p:nvPr/>
        </p:nvSpPr>
        <p:spPr>
          <a:xfrm rot="0" flipH="false" flipV="false">
            <a:off x="9652000" y="2603500"/>
            <a:ext cx="2032000" cy="2286000"/>
          </a:xfrm>
          <a:prstGeom prst="roundRect">
            <a:avLst>
              <a:gd name="adj" fmla="val 0"/>
            </a:avLst>
          </a:prstGeom>
          <a:solidFill>
            <a:srgbClr val="FFFFFF">
              <a:alpha val="85000"/>
            </a:srgbClr>
          </a:solidFill>
          <a:ln w="12700" cmpd="sng" cap="flat">
            <a:solidFill>
              <a:srgbClr val="FFF3CD">
                <a:alpha val="100000"/>
              </a:srgbClr>
            </a:solidFill>
            <a:prstDash val="solid"/>
            <a:round/>
          </a:ln>
        </p:spPr>
        <p:txBody>
          <a:bodyPr anchor="ctr" rtlCol="false" anchorCtr="false" vert="horz" wrap="square" lIns="0" rIns="0" tIns="0" bIns="0"/>
          <a:lstStyle/>
          <a:p>
            <a:pPr algn="ctr">
              <a:defRPr/>
            </a:pPr>
            <a:endParaRPr/>
          </a:p>
        </p:txBody>
      </p:sp>
      <p:sp>
        <p:nvSpPr>
          <p:cNvPr name="AutoShape 24" id="24"/>
          <p:cNvSpPr/>
          <p:nvPr/>
        </p:nvSpPr>
        <p:spPr>
          <a:xfrm rot="0" flipH="false" flipV="false">
            <a:off x="9652000" y="2603500"/>
            <a:ext cx="50800" cy="2286000"/>
          </a:xfrm>
          <a:prstGeom prst="roundRect">
            <a:avLst>
              <a:gd name="adj" fmla="val 0"/>
            </a:avLst>
          </a:prstGeom>
          <a:solidFill>
            <a:srgbClr val="DAA520">
              <a:alpha val="100000"/>
            </a:srgbClr>
          </a:solidFill>
          <a:ln cmpd="sng" cap="flat">
            <a:solidFill>
              <a:srgbClr val="C18C09">
                <a:alpha val="100000"/>
              </a:srgbClr>
            </a:solidFill>
            <a:prstDash val="solid"/>
            <a:round/>
          </a:ln>
        </p:spPr>
        <p:txBody>
          <a:bodyPr anchor="ctr" rtlCol="false" anchorCtr="false" vert="horz" wrap="square" lIns="0" rIns="0" tIns="0" bIns="0"/>
          <a:lstStyle/>
          <a:p>
            <a:pPr algn="ctr">
              <a:defRPr/>
            </a:pPr>
            <a:endParaRPr/>
          </a:p>
        </p:txBody>
      </p:sp>
      <p:sp>
        <p:nvSpPr>
          <p:cNvPr name="AutoShape 25" id="25"/>
          <p:cNvSpPr/>
          <p:nvPr/>
        </p:nvSpPr>
        <p:spPr>
          <a:xfrm rot="0" flipH="false" flipV="false">
            <a:off x="9652000" y="2768600"/>
            <a:ext cx="2032000" cy="406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1600">
                <a:solidFill>
                  <a:srgbClr val="4E342E"/>
                </a:solidFill>
                <a:latin typeface="Noto Sans SC"/>
                <a:ea typeface="Noto Sans SC"/>
                <a:cs typeface="Noto Sans SC"/>
                <a:sym typeface="Noto Sans SC"/>
              </a:rPr>
              <a:t>业务数据处理</a:t>
            </a:r>
            <a:endParaRPr lang="en-US" sz="1100"/>
          </a:p>
        </p:txBody>
      </p:sp>
      <p:sp>
        <p:nvSpPr>
          <p:cNvPr name="AutoShape 26" id="26"/>
          <p:cNvSpPr/>
          <p:nvPr/>
        </p:nvSpPr>
        <p:spPr>
          <a:xfrm rot="0" flipH="false" flipV="false">
            <a:off x="9753600" y="3200400"/>
            <a:ext cx="1828800" cy="1625600"/>
          </a:xfrm>
          <a:prstGeom prst="rect">
            <a:avLst/>
          </a:prstGeom>
          <a:noFill/>
          <a:ln w="12700" cmpd="sng" cap="flat">
            <a:noFill/>
            <a:prstDash val="solid"/>
            <a:round/>
          </a:ln>
        </p:spPr>
        <p:txBody>
          <a:bodyPr anchor="t" rtlCol="false" anchorCtr="false" vert="horz" wrap="square" lIns="0" rIns="0" tIns="0" bIns="0"/>
          <a:lstStyle/>
          <a:p>
            <a:pPr algn="l" marL="0" indent="0">
              <a:lnSpc>
                <a:spcPct val="129166"/>
              </a:lnSpc>
              <a:defRPr/>
            </a:pPr>
            <a:r>
              <a:rPr lang="en-US" b="false" i="false" strike="noStrike" u="none" sz="1200">
                <a:solidFill>
                  <a:srgbClr val="5D4037"/>
                </a:solidFill>
                <a:latin typeface="Noto Sans SC"/>
                <a:ea typeface="Noto Sans SC"/>
                <a:cs typeface="Noto Sans SC"/>
                <a:sym typeface="Noto Sans SC"/>
              </a:rPr>
              <a:t>检验在核心业务模块中,对数据的增删改查、统计分析和准确性保障的能力。</a:t>
            </a:r>
            <a:endParaRPr lang="en-US" sz="1100"/>
          </a:p>
        </p:txBody>
      </p:sp>
      <p:sp>
        <p:nvSpPr>
          <p:cNvPr name="AutoShape 27" id="27"/>
          <p:cNvSpPr/>
          <p:nvPr/>
        </p:nvSpPr>
        <p:spPr>
          <a:xfrm rot="0" flipH="false" flipV="false">
            <a:off x="762000" y="5207000"/>
            <a:ext cx="10668000" cy="1143000"/>
          </a:xfrm>
          <a:prstGeom prst="roundRect">
            <a:avLst>
              <a:gd name="adj" fmla="val 0"/>
            </a:avLst>
          </a:prstGeom>
          <a:solidFill>
            <a:srgbClr val="4E342E">
              <a:alpha val="95000"/>
            </a:srgbClr>
          </a:solidFill>
          <a:ln cmpd="sng" cap="flat">
            <a:solidFill>
              <a:srgbClr val="351F1A">
                <a:alpha val="95000"/>
              </a:srgbClr>
            </a:solidFill>
            <a:prstDash val="solid"/>
            <a:round/>
          </a:ln>
        </p:spPr>
        <p:txBody>
          <a:bodyPr anchor="ctr" rtlCol="false" anchorCtr="false" vert="horz" wrap="square" lIns="0" rIns="0" tIns="0" bIns="0"/>
          <a:lstStyle/>
          <a:p>
            <a:pPr algn="ctr">
              <a:defRPr/>
            </a:pPr>
            <a:endParaRPr/>
          </a:p>
        </p:txBody>
      </p:sp>
      <p:sp>
        <p:nvSpPr>
          <p:cNvPr name="AutoShape 28" id="28"/>
          <p:cNvSpPr/>
          <p:nvPr/>
        </p:nvSpPr>
        <p:spPr>
          <a:xfrm rot="0" flipH="false" flipV="false">
            <a:off x="762000" y="5207000"/>
            <a:ext cx="50800" cy="1143000"/>
          </a:xfrm>
          <a:prstGeom prst="roundRect">
            <a:avLst>
              <a:gd name="adj" fmla="val 0"/>
            </a:avLst>
          </a:prstGeom>
          <a:solidFill>
            <a:srgbClr val="DAA520">
              <a:alpha val="100000"/>
            </a:srgbClr>
          </a:solidFill>
          <a:ln cmpd="sng" cap="flat">
            <a:solidFill>
              <a:srgbClr val="C18C09">
                <a:alpha val="100000"/>
              </a:srgbClr>
            </a:solidFill>
            <a:prstDash val="solid"/>
            <a:round/>
          </a:ln>
        </p:spPr>
        <p:txBody>
          <a:bodyPr anchor="ctr" rtlCol="false" anchorCtr="false" vert="horz" wrap="square" lIns="0" rIns="0" tIns="0" bIns="0"/>
          <a:lstStyle/>
          <a:p>
            <a:pPr algn="ctr">
              <a:defRPr/>
            </a:pPr>
            <a:endParaRPr/>
          </a:p>
        </p:txBody>
      </p:sp>
      <p:sp>
        <p:nvSpPr>
          <p:cNvPr name="AutoShape 29" id="29"/>
          <p:cNvSpPr/>
          <p:nvPr/>
        </p:nvSpPr>
        <p:spPr>
          <a:xfrm rot="0" flipH="false" flipV="false">
            <a:off x="1041400" y="5308600"/>
            <a:ext cx="152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FFF9C4"/>
                </a:solidFill>
                <a:latin typeface="Noto Sans SC"/>
                <a:ea typeface="Noto Sans SC"/>
                <a:cs typeface="Noto Sans SC"/>
                <a:sym typeface="Noto Sans SC"/>
              </a:rPr>
              <a:t>核心价值:</a:t>
            </a:r>
            <a:endParaRPr lang="en-US" sz="1100"/>
          </a:p>
        </p:txBody>
      </p:sp>
      <p:sp>
        <p:nvSpPr>
          <p:cNvPr name="AutoShape 30" id="30"/>
          <p:cNvSpPr/>
          <p:nvPr/>
        </p:nvSpPr>
        <p:spPr>
          <a:xfrm rot="0" flipH="false" flipV="false">
            <a:off x="1041400" y="5715000"/>
            <a:ext cx="10160000" cy="5334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300">
                <a:solidFill>
                  <a:srgbClr val="FFFDE7">
                    <a:alpha val="94902"/>
                  </a:srgbClr>
                </a:solidFill>
                <a:latin typeface="Noto Sans SC"/>
                <a:ea typeface="Noto Sans SC"/>
                <a:cs typeface="Noto Sans SC"/>
                <a:sym typeface="Noto Sans SC"/>
              </a:rPr>
              <a:t>本次考核完全贴合企业中后台真实开发场景,旨在选拔出能够快速适应现代开发模式、具备高效生产力的优秀人才。</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9E6">
              <a:alpha val="90000"/>
            </a:srgbClr>
          </a:solidFill>
          <a:ln cmpd="sng" cap="flat">
            <a:solidFill>
              <a:srgbClr val="E6DBB8">
                <a:alpha val="90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8890000" cy="5842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4D3828"/>
                </a:solidFill>
                <a:latin typeface="Noto Sans SC"/>
                <a:ea typeface="Noto Sans SC"/>
                <a:cs typeface="Noto Sans SC"/>
                <a:sym typeface="Noto Sans SC"/>
              </a:rPr>
              <a:t>01 考核概述与核心规则</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10287000" y="698500"/>
            <a:ext cx="1524000" cy="457200"/>
          </a:xfrm>
          <a:prstGeom prst="rect">
            <a:avLst/>
          </a:prstGeom>
          <a:noFill/>
          <a:ln w="25400" cmpd="sng" cap="flat">
            <a:noFill/>
            <a:prstDash val="solid"/>
            <a:round/>
          </a:ln>
        </p:spPr>
      </p:pic>
      <p:sp>
        <p:nvSpPr>
          <p:cNvPr name="AutoShape 5" id="5"/>
          <p:cNvSpPr/>
          <p:nvPr/>
        </p:nvSpPr>
        <p:spPr>
          <a:xfrm rot="0" flipH="false" flipV="false">
            <a:off x="762000" y="1397000"/>
            <a:ext cx="10668000" cy="431800"/>
          </a:xfrm>
          <a:prstGeom prst="rect">
            <a:avLst/>
          </a:prstGeom>
          <a:noFill/>
          <a:ln w="12700" cmpd="sng" cap="flat">
            <a:noFill/>
            <a:prstDash val="solid"/>
            <a:round/>
          </a:ln>
        </p:spPr>
        <p:txBody>
          <a:bodyPr anchor="t" rtlCol="false" anchorCtr="false" vert="horz" wrap="square" lIns="0" rIns="0" tIns="0" bIns="0"/>
          <a:lstStyle/>
          <a:p>
            <a:pPr algn="l" marL="0" indent="0">
              <a:lnSpc>
                <a:spcPct val="100000"/>
              </a:lnSpc>
              <a:defRPr/>
            </a:pPr>
            <a:r>
              <a:rPr lang="en-US" b="true" i="false" strike="noStrike" u="none" sz="2000">
                <a:solidFill>
                  <a:srgbClr val="4D3828"/>
                </a:solidFill>
                <a:latin typeface="Noto Sans SC"/>
                <a:ea typeface="Noto Sans SC"/>
                <a:cs typeface="Noto Sans SC"/>
                <a:sym typeface="Noto Sans SC"/>
              </a:rPr>
              <a:t>核心规则:拥抱AI,而非对抗AI</a:t>
            </a:r>
            <a:endParaRPr lang="en-US" sz="1100"/>
          </a:p>
        </p:txBody>
      </p:sp>
      <p:sp>
        <p:nvSpPr>
          <p:cNvPr name="AutoShape 6" id="6"/>
          <p:cNvSpPr/>
          <p:nvPr/>
        </p:nvSpPr>
        <p:spPr>
          <a:xfrm rot="0" flipH="false" flipV="false">
            <a:off x="762000" y="1905000"/>
            <a:ext cx="10668000" cy="3302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400">
                <a:solidFill>
                  <a:srgbClr val="5D4037"/>
                </a:solidFill>
                <a:latin typeface="Noto Sans SC"/>
                <a:ea typeface="Noto Sans SC"/>
                <a:cs typeface="Noto Sans SC"/>
                <a:sym typeface="Noto Sans SC"/>
              </a:rPr>
              <a:t>为了适应未来软件开发的趋势,我们设立了独特的核心规则:</a:t>
            </a:r>
            <a:endParaRPr lang="en-US" sz="1100"/>
          </a:p>
        </p:txBody>
      </p:sp>
      <p:sp>
        <p:nvSpPr>
          <p:cNvPr name="AutoShape 7" id="7"/>
          <p:cNvSpPr/>
          <p:nvPr/>
        </p:nvSpPr>
        <p:spPr>
          <a:xfrm rot="0" flipH="false" flipV="false">
            <a:off x="762000" y="2413000"/>
            <a:ext cx="5207000" cy="2286000"/>
          </a:xfrm>
          <a:prstGeom prst="roundRect">
            <a:avLst>
              <a:gd name="adj" fmla="val 0"/>
            </a:avLst>
          </a:prstGeom>
          <a:solidFill>
            <a:srgbClr val="FFFFFF">
              <a:alpha val="85000"/>
            </a:srgbClr>
          </a:solidFill>
          <a:ln cmpd="sng" cap="flat">
            <a:solidFill>
              <a:srgbClr val="E6CFCF">
                <a:alpha val="85000"/>
              </a:srgbClr>
            </a:solidFill>
            <a:prstDash val="solid"/>
            <a:round/>
          </a:ln>
        </p:spPr>
        <p:txBody>
          <a:bodyPr anchor="ctr" rtlCol="false" anchorCtr="false" vert="horz" wrap="square" lIns="0" rIns="0" tIns="0" bIns="0"/>
          <a:lstStyle/>
          <a:p>
            <a:pPr algn="ctr">
              <a:defRPr/>
            </a:pPr>
            <a:endParaRPr/>
          </a:p>
        </p:txBody>
      </p:sp>
      <p:sp>
        <p:nvSpPr>
          <p:cNvPr name="AutoShape 8" id="8"/>
          <p:cNvSpPr/>
          <p:nvPr/>
        </p:nvSpPr>
        <p:spPr>
          <a:xfrm rot="0" flipH="false" flipV="false">
            <a:off x="762000" y="2413000"/>
            <a:ext cx="50800" cy="2286000"/>
          </a:xfrm>
          <a:prstGeom prst="roundRect">
            <a:avLst>
              <a:gd name="adj" fmla="val 0"/>
            </a:avLst>
          </a:prstGeom>
          <a:solidFill>
            <a:srgbClr val="8D6E63">
              <a:alpha val="100000"/>
            </a:srgbClr>
          </a:solidFill>
          <a:ln cmpd="sng" cap="flat">
            <a:solidFill>
              <a:srgbClr val="745246">
                <a:alpha val="100000"/>
              </a:srgbClr>
            </a:solidFill>
            <a:prstDash val="solid"/>
            <a:round/>
          </a:ln>
        </p:spPr>
        <p:txBody>
          <a:bodyPr anchor="ctr" rtlCol="false" anchorCtr="false" vert="horz" wrap="square" lIns="0" rIns="0" tIns="0" bIns="0"/>
          <a:lstStyle/>
          <a:p>
            <a:pPr algn="ctr">
              <a:defRPr/>
            </a:pPr>
            <a:endParaRPr/>
          </a:p>
        </p:txBody>
      </p:sp>
      <p:sp>
        <p:nvSpPr>
          <p:cNvPr name="AutoShape 9" id="9"/>
          <p:cNvSpPr/>
          <p:nvPr/>
        </p:nvSpPr>
        <p:spPr>
          <a:xfrm rot="0" flipH="false" flipV="false">
            <a:off x="1041400" y="2590800"/>
            <a:ext cx="47752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00000"/>
              </a:lnSpc>
              <a:defRPr/>
            </a:pPr>
            <a:r>
              <a:rPr lang="en-US" b="true" i="false" strike="noStrike" u="none" sz="1800">
                <a:solidFill>
                  <a:srgbClr val="4D3828"/>
                </a:solidFill>
                <a:latin typeface="Noto Sans SC"/>
                <a:ea typeface="Noto Sans SC"/>
                <a:cs typeface="Noto Sans SC"/>
                <a:sym typeface="Noto Sans SC"/>
              </a:rPr>
              <a:t>禁止纯手写代码</a:t>
            </a:r>
            <a:endParaRPr lang="en-US" sz="1100"/>
          </a:p>
        </p:txBody>
      </p:sp>
      <p:sp>
        <p:nvSpPr>
          <p:cNvPr name="AutoShape 10" id="10"/>
          <p:cNvSpPr/>
          <p:nvPr/>
        </p:nvSpPr>
        <p:spPr>
          <a:xfrm rot="0" flipH="false" flipV="false">
            <a:off x="1041400" y="3048000"/>
            <a:ext cx="47752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9166"/>
              </a:lnSpc>
              <a:defRPr/>
            </a:pPr>
            <a:r>
              <a:rPr lang="en-US" b="false" i="false" strike="noStrike" u="none" sz="1300">
                <a:solidFill>
                  <a:srgbClr val="5D4037"/>
                </a:solidFill>
                <a:latin typeface="Noto Sans SC"/>
                <a:ea typeface="Noto Sans SC"/>
                <a:cs typeface="Noto Sans SC"/>
                <a:sym typeface="Noto Sans SC"/>
              </a:rPr>
              <a:t>项目要求</a:t>
            </a:r>
            <a:r>
              <a:rPr lang="en-US" b="true" i="false" strike="noStrike" u="none" sz="1800">
                <a:solidFill>
                  <a:srgbClr val="4D3828"/>
                </a:solidFill>
                <a:latin typeface="Noto Sans SC"/>
                <a:ea typeface="Noto Sans SC"/>
                <a:cs typeface="Noto Sans SC"/>
                <a:sym typeface="Noto Sans SC"/>
              </a:rPr>
              <a:t>80%以上</a:t>
            </a:r>
            <a:r>
              <a:rPr lang="en-US" b="false" i="false" strike="noStrike" u="none" sz="1300">
                <a:solidFill>
                  <a:srgbClr val="5D4037"/>
                </a:solidFill>
                <a:latin typeface="Noto Sans SC"/>
                <a:ea typeface="Noto Sans SC"/>
                <a:cs typeface="Noto Sans SC"/>
                <a:sym typeface="Noto Sans SC"/>
              </a:rPr>
              <a:t>的代码必须通过AI生成。</a:t>
            </a:r>
            <a:endParaRPr lang="en-US" sz="1100"/>
          </a:p>
        </p:txBody>
      </p:sp>
      <p:sp>
        <p:nvSpPr>
          <p:cNvPr name="AutoShape 11" id="11"/>
          <p:cNvSpPr/>
          <p:nvPr/>
        </p:nvSpPr>
        <p:spPr>
          <a:xfrm rot="0" flipH="false" flipV="false">
            <a:off x="1041400" y="3784600"/>
            <a:ext cx="4775200" cy="762000"/>
          </a:xfrm>
          <a:prstGeom prst="rect">
            <a:avLst/>
          </a:prstGeom>
          <a:noFill/>
          <a:ln w="12700" cmpd="sng" cap="flat">
            <a:noFill/>
            <a:prstDash val="solid"/>
            <a:round/>
          </a:ln>
        </p:spPr>
        <p:txBody>
          <a:bodyPr anchor="t" rtlCol="false" anchorCtr="false" vert="horz" wrap="square" lIns="0" rIns="0" tIns="0" bIns="0"/>
          <a:lstStyle/>
          <a:p>
            <a:pPr algn="l" marL="0" indent="0">
              <a:lnSpc>
                <a:spcPct val="129166"/>
              </a:lnSpc>
              <a:defRPr/>
            </a:pPr>
            <a:r>
              <a:rPr lang="en-US" b="false" i="false" strike="noStrike" u="none" sz="1300">
                <a:solidFill>
                  <a:srgbClr val="5D4037"/>
                </a:solidFill>
                <a:latin typeface="Noto Sans SC"/>
                <a:ea typeface="Noto Sans SC"/>
                <a:cs typeface="Noto Sans SC"/>
                <a:sym typeface="Noto Sans SC"/>
              </a:rPr>
              <a:t>您需要将主要精力放在需求分析、架构设计和提示词编写上。</a:t>
            </a:r>
            <a:endParaRPr lang="en-US" sz="1100"/>
          </a:p>
        </p:txBody>
      </p:sp>
      <p:sp>
        <p:nvSpPr>
          <p:cNvPr name="AutoShape 12" id="12"/>
          <p:cNvSpPr/>
          <p:nvPr/>
        </p:nvSpPr>
        <p:spPr>
          <a:xfrm rot="0" flipH="false" flipV="false">
            <a:off x="6223000" y="2413000"/>
            <a:ext cx="5207000" cy="2286000"/>
          </a:xfrm>
          <a:prstGeom prst="roundRect">
            <a:avLst>
              <a:gd name="adj" fmla="val 0"/>
            </a:avLst>
          </a:prstGeom>
          <a:solidFill>
            <a:srgbClr val="FFFFFF">
              <a:alpha val="85000"/>
            </a:srgbClr>
          </a:solidFill>
          <a:ln cmpd="sng" cap="flat">
            <a:solidFill>
              <a:srgbClr val="E6CFCF">
                <a:alpha val="85000"/>
              </a:srgbClr>
            </a:solid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6223000" y="2413000"/>
            <a:ext cx="50800" cy="2286000"/>
          </a:xfrm>
          <a:prstGeom prst="roundRect">
            <a:avLst>
              <a:gd name="adj" fmla="val 0"/>
            </a:avLst>
          </a:prstGeom>
          <a:solidFill>
            <a:srgbClr val="8D6E63">
              <a:alpha val="100000"/>
            </a:srgbClr>
          </a:solidFill>
          <a:ln cmpd="sng" cap="flat">
            <a:solidFill>
              <a:srgbClr val="745246">
                <a:alpha val="100000"/>
              </a:srgbClr>
            </a:solidFill>
            <a:prstDash val="solid"/>
            <a:round/>
          </a:ln>
        </p:spPr>
        <p:txBody>
          <a:bodyPr anchor="ctr" rtlCol="false" anchorCtr="false" vert="horz" wrap="square" lIns="0" rIns="0" tIns="0" bIns="0"/>
          <a:lstStyle/>
          <a:p>
            <a:pPr algn="ctr">
              <a:defRPr/>
            </a:pPr>
            <a:endParaRPr/>
          </a:p>
        </p:txBody>
      </p:sp>
      <p:sp>
        <p:nvSpPr>
          <p:cNvPr name="AutoShape 14" id="14"/>
          <p:cNvSpPr/>
          <p:nvPr/>
        </p:nvSpPr>
        <p:spPr>
          <a:xfrm rot="0" flipH="false" flipV="false">
            <a:off x="6502400" y="2590800"/>
            <a:ext cx="47752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00000"/>
              </a:lnSpc>
              <a:defRPr/>
            </a:pPr>
            <a:r>
              <a:rPr lang="en-US" b="true" i="false" strike="noStrike" u="none" sz="1800">
                <a:solidFill>
                  <a:srgbClr val="4D3828"/>
                </a:solidFill>
                <a:latin typeface="Noto Sans SC"/>
                <a:ea typeface="Noto Sans SC"/>
                <a:cs typeface="Noto Sans SC"/>
                <a:sym typeface="Noto Sans SC"/>
              </a:rPr>
              <a:t>AI漏洞修复与优化</a:t>
            </a:r>
            <a:endParaRPr lang="en-US" sz="1100"/>
          </a:p>
        </p:txBody>
      </p:sp>
      <p:sp>
        <p:nvSpPr>
          <p:cNvPr name="AutoShape 15" id="15"/>
          <p:cNvSpPr/>
          <p:nvPr/>
        </p:nvSpPr>
        <p:spPr>
          <a:xfrm rot="0" flipH="false" flipV="false">
            <a:off x="6502400" y="3048000"/>
            <a:ext cx="4775200" cy="584200"/>
          </a:xfrm>
          <a:prstGeom prst="rect">
            <a:avLst/>
          </a:prstGeom>
          <a:noFill/>
          <a:ln w="12700" cmpd="sng" cap="flat">
            <a:noFill/>
            <a:prstDash val="solid"/>
            <a:round/>
          </a:ln>
        </p:spPr>
        <p:txBody>
          <a:bodyPr anchor="t" rtlCol="false" anchorCtr="false" vert="horz" wrap="square" lIns="0" rIns="0" tIns="0" bIns="0"/>
          <a:lstStyle/>
          <a:p>
            <a:pPr algn="l" marL="0" indent="0">
              <a:lnSpc>
                <a:spcPct val="129166"/>
              </a:lnSpc>
              <a:defRPr/>
            </a:pPr>
            <a:r>
              <a:rPr lang="en-US" b="false" i="false" strike="noStrike" u="none" sz="1300">
                <a:solidFill>
                  <a:srgbClr val="5D4037"/>
                </a:solidFill>
                <a:latin typeface="Noto Sans SC"/>
                <a:ea typeface="Noto Sans SC"/>
                <a:cs typeface="Noto Sans SC"/>
                <a:sym typeface="Noto Sans SC"/>
              </a:rPr>
              <a:t>AI生成的代码并非完美,您需要具备自主修复AI漏洞、优化代码逻辑、提升代码质量的能力。</a:t>
            </a:r>
            <a:endParaRPr lang="en-US" sz="1100"/>
          </a:p>
        </p:txBody>
      </p:sp>
      <p:sp>
        <p:nvSpPr>
          <p:cNvPr name="AutoShape 16" id="16"/>
          <p:cNvSpPr/>
          <p:nvPr/>
        </p:nvSpPr>
        <p:spPr>
          <a:xfrm rot="0" flipH="false" flipV="false">
            <a:off x="6502400" y="3683000"/>
            <a:ext cx="2311400" cy="431800"/>
          </a:xfrm>
          <a:prstGeom prst="roundRect">
            <a:avLst>
              <a:gd name="adj" fmla="val 0"/>
            </a:avLst>
          </a:prstGeom>
          <a:solidFill>
            <a:srgbClr val="8D6E63">
              <a:alpha val="15000"/>
            </a:srgbClr>
          </a:solidFill>
          <a:ln cmpd="sng" cap="flat">
            <a:solidFill>
              <a:srgbClr val="745246">
                <a:alpha val="15000"/>
              </a:srgbClr>
            </a:solidFill>
            <a:prstDash val="solid"/>
            <a:round/>
          </a:ln>
        </p:spPr>
        <p:txBody>
          <a:bodyPr anchor="ctr" rtlCol="false" anchorCtr="false" vert="horz" wrap="square" lIns="0" rIns="0" tIns="0" bIns="0"/>
          <a:lstStyle/>
          <a:p>
            <a:pPr algn="ctr">
              <a:defRPr/>
            </a:pPr>
            <a:endParaRPr/>
          </a:p>
        </p:txBody>
      </p:sp>
      <p:sp>
        <p:nvSpPr>
          <p:cNvPr name="AutoShape 17" id="17"/>
          <p:cNvSpPr/>
          <p:nvPr/>
        </p:nvSpPr>
        <p:spPr>
          <a:xfrm rot="0" flipH="false" flipV="false">
            <a:off x="6502400" y="3683000"/>
            <a:ext cx="2311400" cy="431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91666"/>
              </a:lnSpc>
              <a:defRPr/>
            </a:pPr>
            <a:r>
              <a:rPr lang="en-US" b="true" i="false" strike="noStrike" u="none" sz="1200">
                <a:solidFill>
                  <a:srgbClr val="4D3828"/>
                </a:solidFill>
                <a:latin typeface="Noto Sans SC"/>
                <a:ea typeface="Noto Sans SC"/>
                <a:cs typeface="Noto Sans SC"/>
                <a:sym typeface="Noto Sans SC"/>
              </a:rPr>
              <a:t>修复语法错误和逻辑bug</a:t>
            </a:r>
            <a:endParaRPr lang="en-US" sz="1100"/>
          </a:p>
        </p:txBody>
      </p:sp>
      <p:sp>
        <p:nvSpPr>
          <p:cNvPr name="AutoShape 18" id="18"/>
          <p:cNvSpPr/>
          <p:nvPr/>
        </p:nvSpPr>
        <p:spPr>
          <a:xfrm rot="0" flipH="false" flipV="false">
            <a:off x="8940800" y="3683000"/>
            <a:ext cx="2311400" cy="431800"/>
          </a:xfrm>
          <a:prstGeom prst="roundRect">
            <a:avLst>
              <a:gd name="adj" fmla="val 0"/>
            </a:avLst>
          </a:prstGeom>
          <a:solidFill>
            <a:srgbClr val="8D6E63">
              <a:alpha val="15000"/>
            </a:srgbClr>
          </a:solidFill>
          <a:ln cmpd="sng" cap="flat">
            <a:solidFill>
              <a:srgbClr val="745246">
                <a:alpha val="15000"/>
              </a:srgbClr>
            </a:solidFill>
            <a:prstDash val="solid"/>
            <a:round/>
          </a:ln>
        </p:spPr>
        <p:txBody>
          <a:bodyPr anchor="ctr" rtlCol="false" anchorCtr="false" vert="horz" wrap="square" lIns="0" rIns="0" tIns="0" bIns="0"/>
          <a:lstStyle/>
          <a:p>
            <a:pPr algn="ctr">
              <a:defRPr/>
            </a:pPr>
            <a:endParaRPr/>
          </a:p>
        </p:txBody>
      </p:sp>
      <p:sp>
        <p:nvSpPr>
          <p:cNvPr name="AutoShape 19" id="19"/>
          <p:cNvSpPr/>
          <p:nvPr/>
        </p:nvSpPr>
        <p:spPr>
          <a:xfrm rot="0" flipH="false" flipV="false">
            <a:off x="8940800" y="3683000"/>
            <a:ext cx="2311400" cy="431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91666"/>
              </a:lnSpc>
              <a:defRPr/>
            </a:pPr>
            <a:r>
              <a:rPr lang="en-US" b="true" i="false" strike="noStrike" u="none" sz="1200">
                <a:solidFill>
                  <a:srgbClr val="4D3828"/>
                </a:solidFill>
                <a:latin typeface="Noto Sans SC"/>
                <a:ea typeface="Noto Sans SC"/>
                <a:cs typeface="Noto Sans SC"/>
                <a:sym typeface="Noto Sans SC"/>
              </a:rPr>
              <a:t>优化算法性能和可读性</a:t>
            </a:r>
            <a:endParaRPr lang="en-US" sz="1100"/>
          </a:p>
        </p:txBody>
      </p:sp>
      <p:sp>
        <p:nvSpPr>
          <p:cNvPr name="AutoShape 20" id="20"/>
          <p:cNvSpPr/>
          <p:nvPr/>
        </p:nvSpPr>
        <p:spPr>
          <a:xfrm rot="0" flipH="false" flipV="false">
            <a:off x="6502400" y="4191000"/>
            <a:ext cx="2311400" cy="431800"/>
          </a:xfrm>
          <a:prstGeom prst="roundRect">
            <a:avLst>
              <a:gd name="adj" fmla="val 0"/>
            </a:avLst>
          </a:prstGeom>
          <a:solidFill>
            <a:srgbClr val="8D6E63">
              <a:alpha val="15000"/>
            </a:srgbClr>
          </a:solidFill>
          <a:ln cmpd="sng" cap="flat">
            <a:solidFill>
              <a:srgbClr val="745246">
                <a:alpha val="15000"/>
              </a:srgbClr>
            </a:solidFill>
            <a:prstDash val="solid"/>
            <a:round/>
          </a:ln>
        </p:spPr>
        <p:txBody>
          <a:bodyPr anchor="ctr" rtlCol="false" anchorCtr="false" vert="horz" wrap="square" lIns="0" rIns="0" tIns="0" bIns="0"/>
          <a:lstStyle/>
          <a:p>
            <a:pPr algn="ctr">
              <a:defRPr/>
            </a:pPr>
            <a:endParaRPr/>
          </a:p>
        </p:txBody>
      </p:sp>
      <p:sp>
        <p:nvSpPr>
          <p:cNvPr name="AutoShape 21" id="21"/>
          <p:cNvSpPr/>
          <p:nvPr/>
        </p:nvSpPr>
        <p:spPr>
          <a:xfrm rot="0" flipH="false" flipV="false">
            <a:off x="6502400" y="4191000"/>
            <a:ext cx="2311400" cy="431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91666"/>
              </a:lnSpc>
              <a:defRPr/>
            </a:pPr>
            <a:r>
              <a:rPr lang="en-US" b="true" i="false" strike="noStrike" u="none" sz="1200">
                <a:solidFill>
                  <a:srgbClr val="4D3828"/>
                </a:solidFill>
                <a:latin typeface="Noto Sans SC"/>
                <a:ea typeface="Noto Sans SC"/>
                <a:cs typeface="Noto Sans SC"/>
                <a:sym typeface="Noto Sans SC"/>
              </a:rPr>
              <a:t>重构冗余或不合理代码</a:t>
            </a:r>
            <a:endParaRPr lang="en-US" sz="1100"/>
          </a:p>
        </p:txBody>
      </p:sp>
      <p:sp>
        <p:nvSpPr>
          <p:cNvPr name="AutoShape 22" id="22"/>
          <p:cNvSpPr/>
          <p:nvPr/>
        </p:nvSpPr>
        <p:spPr>
          <a:xfrm rot="0" flipH="false" flipV="false">
            <a:off x="8940800" y="4191000"/>
            <a:ext cx="2311400" cy="431800"/>
          </a:xfrm>
          <a:prstGeom prst="roundRect">
            <a:avLst>
              <a:gd name="adj" fmla="val 0"/>
            </a:avLst>
          </a:prstGeom>
          <a:solidFill>
            <a:srgbClr val="8D6E63">
              <a:alpha val="15000"/>
            </a:srgbClr>
          </a:solidFill>
          <a:ln cmpd="sng" cap="flat">
            <a:solidFill>
              <a:srgbClr val="745246">
                <a:alpha val="15000"/>
              </a:srgbClr>
            </a:solidFill>
            <a:prstDash val="solid"/>
            <a:round/>
          </a:ln>
        </p:spPr>
        <p:txBody>
          <a:bodyPr anchor="ctr" rtlCol="false" anchorCtr="false" vert="horz" wrap="square" lIns="0" rIns="0" tIns="0" bIns="0"/>
          <a:lstStyle/>
          <a:p>
            <a:pPr algn="ctr">
              <a:defRPr/>
            </a:pPr>
            <a:endParaRPr/>
          </a:p>
        </p:txBody>
      </p:sp>
      <p:sp>
        <p:nvSpPr>
          <p:cNvPr name="AutoShape 23" id="23"/>
          <p:cNvSpPr/>
          <p:nvPr/>
        </p:nvSpPr>
        <p:spPr>
          <a:xfrm rot="0" flipH="false" flipV="false">
            <a:off x="8940800" y="4191000"/>
            <a:ext cx="2311400" cy="431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91666"/>
              </a:lnSpc>
              <a:defRPr/>
            </a:pPr>
            <a:r>
              <a:rPr lang="en-US" b="true" i="false" strike="noStrike" u="none" sz="1200">
                <a:solidFill>
                  <a:srgbClr val="4D3828"/>
                </a:solidFill>
                <a:latin typeface="Noto Sans SC"/>
                <a:ea typeface="Noto Sans SC"/>
                <a:cs typeface="Noto Sans SC"/>
                <a:sym typeface="Noto Sans SC"/>
              </a:rPr>
              <a:t>符合团队规范和最佳实践</a:t>
            </a:r>
            <a:endParaRPr lang="en-US" sz="1100"/>
          </a:p>
        </p:txBody>
      </p:sp>
      <p:sp>
        <p:nvSpPr>
          <p:cNvPr name="AutoShape 24" id="24"/>
          <p:cNvSpPr/>
          <p:nvPr/>
        </p:nvSpPr>
        <p:spPr>
          <a:xfrm rot="0" flipH="false" flipV="false">
            <a:off x="762000" y="5080000"/>
            <a:ext cx="10668000" cy="1168400"/>
          </a:xfrm>
          <a:prstGeom prst="roundRect">
            <a:avLst>
              <a:gd name="adj" fmla="val 0"/>
            </a:avLst>
          </a:prstGeom>
          <a:gradFill rotWithShape="true">
            <a:gsLst>
              <a:gs pos="0">
                <a:srgbClr val="4D3828">
                  <a:alpha val="90000"/>
                </a:srgbClr>
              </a:gs>
              <a:gs pos="100000">
                <a:srgbClr val="5D4037">
                  <a:alpha val="90000"/>
                </a:srgbClr>
              </a:gs>
            </a:gsLst>
            <a:lin ang="0"/>
          </a:gradFill>
          <a:ln cmpd="sng" cap="flat">
            <a:gradFill rotWithShape="true">
              <a:gsLst>
                <a:gs pos="0">
                  <a:srgbClr val="342316">
                    <a:alpha val="90000"/>
                  </a:srgbClr>
                </a:gs>
                <a:gs pos="100000">
                  <a:srgbClr val="442921">
                    <a:alpha val="90000"/>
                  </a:srgbClr>
                </a:gs>
              </a:gsLst>
              <a:lin ang="0"/>
            </a:gradFill>
            <a:prstDash val="solid"/>
            <a:round/>
          </a:ln>
        </p:spPr>
        <p:txBody>
          <a:bodyPr anchor="ctr" rtlCol="false" anchorCtr="false" vert="horz" wrap="square" lIns="0" rIns="0" tIns="0" bIns="0"/>
          <a:lstStyle/>
          <a:p>
            <a:pPr algn="ctr">
              <a:defRPr/>
            </a:pPr>
            <a:endParaRPr/>
          </a:p>
        </p:txBody>
      </p:sp>
      <p:sp>
        <p:nvSpPr>
          <p:cNvPr name="AutoShape 25" id="25"/>
          <p:cNvSpPr/>
          <p:nvPr/>
        </p:nvSpPr>
        <p:spPr>
          <a:xfrm rot="0" flipH="false" flipV="false">
            <a:off x="1041400" y="52324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FFFFFF"/>
                </a:solidFill>
                <a:latin typeface="Noto Sans SC"/>
                <a:ea typeface="Noto Sans SC"/>
                <a:cs typeface="Noto Sans SC"/>
                <a:sym typeface="Noto Sans SC"/>
              </a:rPr>
              <a:t>考核理念</a:t>
            </a:r>
            <a:endParaRPr lang="en-US" sz="1100"/>
          </a:p>
        </p:txBody>
      </p:sp>
      <p:sp>
        <p:nvSpPr>
          <p:cNvPr name="AutoShape 26" id="26"/>
          <p:cNvSpPr/>
          <p:nvPr/>
        </p:nvSpPr>
        <p:spPr>
          <a:xfrm rot="0" flipH="false" flipV="false">
            <a:off x="2794000" y="5232400"/>
            <a:ext cx="8407400" cy="838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9166"/>
              </a:lnSpc>
              <a:defRPr/>
            </a:pPr>
            <a:r>
              <a:rPr lang="en-US" b="false" i="false" strike="noStrike" u="none" sz="1400">
                <a:solidFill>
                  <a:srgbClr val="FFFFFF">
                    <a:alpha val="92157"/>
                  </a:srgbClr>
                </a:solidFill>
                <a:latin typeface="Noto Sans SC"/>
                <a:ea typeface="Noto Sans SC"/>
                <a:cs typeface="Noto Sans SC"/>
                <a:sym typeface="Noto Sans SC"/>
              </a:rPr>
              <a:t>我们不考察您手写代码的速度,而是考察您驾驭AI、将其作为强大助手的能力。</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BEB">
              <a:alpha val="85000"/>
            </a:srgbClr>
          </a:solidFill>
          <a:ln cmpd="sng" cap="flat">
            <a:solidFill>
              <a:srgbClr val="E6DDBD">
                <a:alpha val="85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8890000" cy="635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3E2723"/>
                </a:solidFill>
                <a:latin typeface="Noto Sans SC"/>
                <a:ea typeface="Noto Sans SC"/>
                <a:cs typeface="Noto Sans SC"/>
                <a:sym typeface="Noto Sans SC"/>
              </a:rPr>
              <a:t>01 考核概述与核心规则</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10160000" y="698500"/>
            <a:ext cx="1778000" cy="533400"/>
          </a:xfrm>
          <a:prstGeom prst="rect">
            <a:avLst/>
          </a:prstGeom>
          <a:noFill/>
          <a:ln w="25400" cmpd="sng" cap="flat">
            <a:noFill/>
            <a:prstDash val="solid"/>
            <a:round/>
          </a:ln>
        </p:spPr>
      </p:pic>
      <p:sp>
        <p:nvSpPr>
          <p:cNvPr name="AutoShape 5" id="5"/>
          <p:cNvSpPr/>
          <p:nvPr/>
        </p:nvSpPr>
        <p:spPr>
          <a:xfrm rot="0" flipH="false" flipV="false">
            <a:off x="762000" y="1524000"/>
            <a:ext cx="10668000" cy="1143000"/>
          </a:xfrm>
          <a:prstGeom prst="roundRect">
            <a:avLst>
              <a:gd name="adj" fmla="val 0"/>
            </a:avLst>
          </a:prstGeom>
          <a:solidFill>
            <a:srgbClr val="FFFBEB">
              <a:alpha val="90000"/>
            </a:srgbClr>
          </a:solidFill>
          <a:ln cmpd="sng" cap="flat">
            <a:solidFill>
              <a:srgbClr val="E6DDBD">
                <a:alpha val="90000"/>
              </a:srgbClr>
            </a:solidFill>
            <a:prstDash val="solid"/>
            <a:round/>
          </a:ln>
        </p:spPr>
        <p:txBody>
          <a:bodyPr anchor="ctr" rtlCol="false" anchorCtr="false" vert="horz" wrap="square" lIns="0" rIns="0" tIns="0" bIns="0"/>
          <a:lstStyle/>
          <a:p>
            <a:pPr algn="ctr">
              <a:defRPr/>
            </a:pPr>
            <a:endParaRPr/>
          </a:p>
        </p:txBody>
      </p:sp>
      <p:sp>
        <p:nvSpPr>
          <p:cNvPr name="AutoShape 6" id="6"/>
          <p:cNvSpPr/>
          <p:nvPr/>
        </p:nvSpPr>
        <p:spPr>
          <a:xfrm rot="0" flipH="false" flipV="false">
            <a:off x="762000" y="1524000"/>
            <a:ext cx="50800" cy="1143000"/>
          </a:xfrm>
          <a:prstGeom prst="roundRect">
            <a:avLst>
              <a:gd name="adj" fmla="val 0"/>
            </a:avLst>
          </a:prstGeom>
          <a:solidFill>
            <a:srgbClr val="D4A037">
              <a:alpha val="100000"/>
            </a:srgbClr>
          </a:solidFill>
          <a:ln cmpd="sng" cap="flat">
            <a:solidFill>
              <a:srgbClr val="BB871E">
                <a:alpha val="100000"/>
              </a:srgbClr>
            </a:solidFill>
            <a:prstDash val="solid"/>
            <a:round/>
          </a:ln>
        </p:spPr>
        <p:txBody>
          <a:bodyPr anchor="ctr" rtlCol="false" anchorCtr="false" vert="horz" wrap="square" lIns="0" rIns="0" tIns="0" bIns="0"/>
          <a:lstStyle/>
          <a:p>
            <a:pPr algn="ctr">
              <a:defRPr/>
            </a:pPr>
            <a:endParaRPr/>
          </a:p>
        </p:txBody>
      </p:sp>
      <p:sp>
        <p:nvSpPr>
          <p:cNvPr name="AutoShape 7" id="7"/>
          <p:cNvSpPr/>
          <p:nvPr/>
        </p:nvSpPr>
        <p:spPr>
          <a:xfrm rot="0" flipH="false" flipV="false">
            <a:off x="1079500" y="1625600"/>
            <a:ext cx="177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3E2723"/>
                </a:solidFill>
                <a:latin typeface="Noto Sans SC"/>
                <a:ea typeface="Noto Sans SC"/>
                <a:cs typeface="Noto Sans SC"/>
                <a:sym typeface="Noto Sans SC"/>
              </a:rPr>
              <a:t>考核时长</a:t>
            </a:r>
            <a:endParaRPr lang="en-US" sz="1100"/>
          </a:p>
        </p:txBody>
      </p:sp>
      <p:sp>
        <p:nvSpPr>
          <p:cNvPr name="AutoShape 8" id="8"/>
          <p:cNvSpPr/>
          <p:nvPr/>
        </p:nvSpPr>
        <p:spPr>
          <a:xfrm rot="0" flipH="false" flipV="false">
            <a:off x="1079500" y="1981200"/>
            <a:ext cx="1905000" cy="660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4800">
                <a:solidFill>
                  <a:srgbClr val="3E2723"/>
                </a:solidFill>
                <a:latin typeface="Noto Sans SC"/>
                <a:ea typeface="Noto Sans SC"/>
                <a:cs typeface="Noto Sans SC"/>
                <a:sym typeface="Noto Sans SC"/>
              </a:rPr>
              <a:t>2</a:t>
            </a:r>
            <a:r>
              <a:rPr lang="en-US" b="true" i="false" strike="noStrike" u="none" sz="2200">
                <a:solidFill>
                  <a:srgbClr val="3E2723"/>
                </a:solidFill>
                <a:latin typeface="Noto Sans SC"/>
                <a:ea typeface="Noto Sans SC"/>
                <a:cs typeface="Noto Sans SC"/>
                <a:sym typeface="Noto Sans SC"/>
              </a:rPr>
              <a:t>周</a:t>
            </a:r>
            <a:endParaRPr lang="en-US" sz="1100"/>
          </a:p>
        </p:txBody>
      </p:sp>
      <p:cxnSp>
        <p:nvCxnSpPr>
          <p:cNvPr name="Connector 9" id="9"/>
          <p:cNvCxnSpPr/>
          <p:nvPr/>
        </p:nvCxnSpPr>
        <p:spPr>
          <a:xfrm rot="5342717" flipH="false" flipV="false">
            <a:off x="2730447" y="2089256"/>
            <a:ext cx="762106" cy="12700"/>
          </a:xfrm>
          <a:prstGeom prst="straightConnector1">
            <a:avLst/>
          </a:prstGeom>
          <a:solidFill>
            <a:srgbClr val="DEE0E3">
              <a:alpha val="100000"/>
            </a:srgbClr>
          </a:solidFill>
          <a:ln w="12700" cmpd="sng" cap="flat">
            <a:solidFill>
              <a:srgbClr val="3E2723">
                <a:alpha val="30000"/>
              </a:srgbClr>
            </a:solidFill>
            <a:prstDash val="solid"/>
            <a:round/>
            <a:headEnd type="none" w="med" len="med"/>
            <a:tailEnd type="none" w="med" len="med"/>
          </a:ln>
        </p:spPr>
      </p:cxnSp>
      <p:sp>
        <p:nvSpPr>
          <p:cNvPr name="AutoShape 10" id="10"/>
          <p:cNvSpPr/>
          <p:nvPr/>
        </p:nvSpPr>
        <p:spPr>
          <a:xfrm rot="0" flipH="false" flipV="false">
            <a:off x="3365500" y="1625600"/>
            <a:ext cx="7874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E2723"/>
                </a:solidFill>
                <a:latin typeface="Noto Sans SC"/>
                <a:ea typeface="Noto Sans SC"/>
                <a:cs typeface="Noto Sans SC"/>
                <a:sym typeface="Noto Sans SC"/>
              </a:rPr>
              <a:t>14个自然日</a:t>
            </a:r>
            <a:endParaRPr lang="en-US" sz="1100"/>
          </a:p>
        </p:txBody>
      </p:sp>
      <p:sp>
        <p:nvSpPr>
          <p:cNvPr name="AutoShape 11" id="11"/>
          <p:cNvSpPr/>
          <p:nvPr/>
        </p:nvSpPr>
        <p:spPr>
          <a:xfrm rot="0" flipH="false" flipV="false">
            <a:off x="3365500" y="2006600"/>
            <a:ext cx="7874000" cy="5334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400">
                <a:solidFill>
                  <a:srgbClr val="593E38"/>
                </a:solidFill>
                <a:latin typeface="Noto Sans SC"/>
                <a:ea typeface="Noto Sans SC"/>
                <a:cs typeface="Noto Sans SC"/>
                <a:sym typeface="Noto Sans SC"/>
              </a:rPr>
              <a:t>请合理规划时间,确保按时完成。</a:t>
            </a:r>
            <a:endParaRPr lang="en-US" sz="1100"/>
          </a:p>
        </p:txBody>
      </p:sp>
      <p:sp>
        <p:nvSpPr>
          <p:cNvPr name="AutoShape 12" id="12"/>
          <p:cNvSpPr/>
          <p:nvPr/>
        </p:nvSpPr>
        <p:spPr>
          <a:xfrm rot="0" flipH="false" flipV="false">
            <a:off x="762000" y="2895600"/>
            <a:ext cx="10668000" cy="406400"/>
          </a:xfrm>
          <a:prstGeom prst="rect">
            <a:avLst/>
          </a:prstGeom>
          <a:noFill/>
          <a:ln w="12700" cmpd="sng" cap="flat">
            <a:noFill/>
            <a:prstDash val="solid"/>
            <a:round/>
          </a:ln>
        </p:spPr>
        <p:txBody>
          <a:bodyPr anchor="t" rtlCol="false" anchorCtr="false" vert="horz" wrap="square" lIns="0" rIns="0" tIns="0" bIns="0"/>
          <a:lstStyle/>
          <a:p>
            <a:pPr algn="l" marL="0" indent="0">
              <a:lnSpc>
                <a:spcPct val="100000"/>
              </a:lnSpc>
              <a:defRPr/>
            </a:pPr>
            <a:r>
              <a:rPr lang="en-US" b="true" i="false" strike="noStrike" u="none" sz="2000">
                <a:solidFill>
                  <a:srgbClr val="3E2723"/>
                </a:solidFill>
                <a:latin typeface="Noto Sans SC"/>
                <a:ea typeface="Noto Sans SC"/>
                <a:cs typeface="Noto Sans SC"/>
                <a:sym typeface="Noto Sans SC"/>
              </a:rPr>
              <a:t>交付内容清单</a:t>
            </a:r>
            <a:endParaRPr lang="en-US" sz="1100"/>
          </a:p>
        </p:txBody>
      </p:sp>
      <p:sp>
        <p:nvSpPr>
          <p:cNvPr name="AutoShape 13" id="13"/>
          <p:cNvSpPr/>
          <p:nvPr/>
        </p:nvSpPr>
        <p:spPr>
          <a:xfrm rot="0" flipH="false" flipV="false">
            <a:off x="762000" y="3429000"/>
            <a:ext cx="2476500" cy="2794000"/>
          </a:xfrm>
          <a:prstGeom prst="roundRect">
            <a:avLst>
              <a:gd name="adj" fmla="val 0"/>
            </a:avLst>
          </a:prstGeom>
          <a:solidFill>
            <a:srgbClr val="FFFBEB">
              <a:alpha val="80000"/>
            </a:srgbClr>
          </a:solidFill>
          <a:ln cmpd="sng" cap="flat">
            <a:solidFill>
              <a:srgbClr val="E6DDBD">
                <a:alpha val="80000"/>
              </a:srgbClr>
            </a:solidFill>
            <a:prstDash val="solid"/>
            <a:round/>
          </a:ln>
        </p:spPr>
        <p:txBody>
          <a:bodyPr anchor="ctr" rtlCol="false" anchorCtr="false" vert="horz" wrap="square" lIns="0" rIns="0" tIns="0" bIns="0"/>
          <a:lstStyle/>
          <a:p>
            <a:pPr algn="ctr">
              <a:defRPr/>
            </a:pPr>
            <a:endParaRPr/>
          </a:p>
        </p:txBody>
      </p:sp>
      <p:sp>
        <p:nvSpPr>
          <p:cNvPr name="AutoShape 14" id="14"/>
          <p:cNvSpPr/>
          <p:nvPr/>
        </p:nvSpPr>
        <p:spPr>
          <a:xfrm rot="0" flipH="false" flipV="false">
            <a:off x="762000" y="3429000"/>
            <a:ext cx="50800" cy="2794000"/>
          </a:xfrm>
          <a:prstGeom prst="roundRect">
            <a:avLst>
              <a:gd name="adj" fmla="val 0"/>
            </a:avLst>
          </a:prstGeom>
          <a:solidFill>
            <a:srgbClr val="D4A037">
              <a:alpha val="100000"/>
            </a:srgbClr>
          </a:solidFill>
          <a:ln cmpd="sng" cap="flat">
            <a:solidFill>
              <a:srgbClr val="BB871E">
                <a:alpha val="100000"/>
              </a:srgbClr>
            </a:solidFill>
            <a:prstDash val="solid"/>
            <a:round/>
          </a:ln>
        </p:spPr>
        <p:txBody>
          <a:bodyPr anchor="ctr" rtlCol="false" anchorCtr="false" vert="horz" wrap="square" lIns="0" rIns="0" tIns="0" bIns="0"/>
          <a:lstStyle/>
          <a:p>
            <a:pPr algn="ctr">
              <a:defRPr/>
            </a:pPr>
            <a:endParaRPr/>
          </a:p>
        </p:txBody>
      </p:sp>
      <p:sp>
        <p:nvSpPr>
          <p:cNvPr name="AutoShape 15" id="15"/>
          <p:cNvSpPr/>
          <p:nvPr/>
        </p:nvSpPr>
        <p:spPr>
          <a:xfrm rot="0" flipH="false" flipV="false">
            <a:off x="952500" y="3619500"/>
            <a:ext cx="2222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E2723"/>
                </a:solidFill>
                <a:latin typeface="Noto Sans SC"/>
                <a:ea typeface="Noto Sans SC"/>
                <a:cs typeface="Noto Sans SC"/>
                <a:sym typeface="Noto Sans SC"/>
              </a:rPr>
              <a:t>前后端完整源码</a:t>
            </a:r>
            <a:endParaRPr lang="en-US" sz="1100"/>
          </a:p>
        </p:txBody>
      </p:sp>
      <p:sp>
        <p:nvSpPr>
          <p:cNvPr name="AutoShape 16" id="16"/>
          <p:cNvSpPr/>
          <p:nvPr/>
        </p:nvSpPr>
        <p:spPr>
          <a:xfrm rot="0" flipH="false" flipV="false">
            <a:off x="952500" y="4381500"/>
            <a:ext cx="2222500" cy="1651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false" i="false" strike="noStrike" u="none" sz="1100">
                <a:solidFill>
                  <a:srgbClr val="593E38"/>
                </a:solidFill>
                <a:latin typeface="Noto Sans SC"/>
                <a:ea typeface="Noto Sans SC"/>
                <a:cs typeface="Noto Sans SC"/>
                <a:sym typeface="Noto Sans SC"/>
              </a:rPr>
              <a:t>包含所有项目文件、配置文件和依赖说明。</a:t>
            </a:r>
            <a:r>
              <a:rPr lang="en-US" b="false" i="false" strike="noStrike" u="none" sz="1100">
                <a:solidFill>
                  <a:srgbClr val="593E38"/>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593E38"/>
                </a:solidFill>
                <a:latin typeface="Noto Sans SC"/>
                <a:ea typeface="Noto Sans SC"/>
                <a:cs typeface="Noto Sans SC"/>
                <a:sym typeface="Noto Sans SC"/>
              </a:rPr>
              <a:t>代码结构清晰,有必要的注释。</a:t>
            </a:r>
          </a:p>
        </p:txBody>
      </p:sp>
      <p:sp>
        <p:nvSpPr>
          <p:cNvPr name="AutoShape 17" id="17"/>
          <p:cNvSpPr/>
          <p:nvPr/>
        </p:nvSpPr>
        <p:spPr>
          <a:xfrm rot="0" flipH="false" flipV="false">
            <a:off x="3492500" y="3429000"/>
            <a:ext cx="2476500" cy="2794000"/>
          </a:xfrm>
          <a:prstGeom prst="roundRect">
            <a:avLst>
              <a:gd name="adj" fmla="val 0"/>
            </a:avLst>
          </a:prstGeom>
          <a:solidFill>
            <a:srgbClr val="FFFBEB">
              <a:alpha val="80000"/>
            </a:srgbClr>
          </a:solidFill>
          <a:ln cmpd="sng" cap="flat">
            <a:solidFill>
              <a:srgbClr val="E6DDBD">
                <a:alpha val="80000"/>
              </a:srgbClr>
            </a:solidFill>
            <a:prstDash val="solid"/>
            <a:round/>
          </a:ln>
        </p:spPr>
        <p:txBody>
          <a:bodyPr anchor="ctr" rtlCol="false" anchorCtr="false" vert="horz" wrap="square" lIns="0" rIns="0" tIns="0" bIns="0"/>
          <a:lstStyle/>
          <a:p>
            <a:pPr algn="ctr">
              <a:defRPr/>
            </a:pPr>
            <a:endParaRPr/>
          </a:p>
        </p:txBody>
      </p:sp>
      <p:sp>
        <p:nvSpPr>
          <p:cNvPr name="AutoShape 18" id="18"/>
          <p:cNvSpPr/>
          <p:nvPr/>
        </p:nvSpPr>
        <p:spPr>
          <a:xfrm rot="0" flipH="false" flipV="false">
            <a:off x="3492500" y="3429000"/>
            <a:ext cx="50800" cy="2794000"/>
          </a:xfrm>
          <a:prstGeom prst="roundRect">
            <a:avLst>
              <a:gd name="adj" fmla="val 0"/>
            </a:avLst>
          </a:prstGeom>
          <a:solidFill>
            <a:srgbClr val="D4A037">
              <a:alpha val="100000"/>
            </a:srgbClr>
          </a:solidFill>
          <a:ln cmpd="sng" cap="flat">
            <a:solidFill>
              <a:srgbClr val="BB871E">
                <a:alpha val="100000"/>
              </a:srgbClr>
            </a:solidFill>
            <a:prstDash val="solid"/>
            <a:round/>
          </a:ln>
        </p:spPr>
        <p:txBody>
          <a:bodyPr anchor="ctr" rtlCol="false" anchorCtr="false" vert="horz" wrap="square" lIns="0" rIns="0" tIns="0" bIns="0"/>
          <a:lstStyle/>
          <a:p>
            <a:pPr algn="ctr">
              <a:defRPr/>
            </a:pPr>
            <a:endParaRPr/>
          </a:p>
        </p:txBody>
      </p:sp>
      <p:sp>
        <p:nvSpPr>
          <p:cNvPr name="AutoShape 19" id="19"/>
          <p:cNvSpPr/>
          <p:nvPr/>
        </p:nvSpPr>
        <p:spPr>
          <a:xfrm rot="0" flipH="false" flipV="false">
            <a:off x="3683000" y="3619500"/>
            <a:ext cx="2222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E2723"/>
                </a:solidFill>
                <a:latin typeface="Noto Sans SC"/>
                <a:ea typeface="Noto Sans SC"/>
                <a:cs typeface="Noto Sans SC"/>
                <a:sym typeface="Noto Sans SC"/>
              </a:rPr>
              <a:t>工程介绍文档</a:t>
            </a:r>
            <a:endParaRPr lang="en-US" sz="1100"/>
          </a:p>
        </p:txBody>
      </p:sp>
      <p:sp>
        <p:nvSpPr>
          <p:cNvPr name="AutoShape 20" id="20"/>
          <p:cNvSpPr/>
          <p:nvPr/>
        </p:nvSpPr>
        <p:spPr>
          <a:xfrm rot="0" flipH="false" flipV="false">
            <a:off x="3683000" y="4381500"/>
            <a:ext cx="2222500" cy="1651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false" i="false" strike="noStrike" u="none" sz="1100">
                <a:solidFill>
                  <a:srgbClr val="593E38"/>
                </a:solidFill>
                <a:latin typeface="Noto Sans SC"/>
                <a:ea typeface="Noto Sans SC"/>
                <a:cs typeface="Noto Sans SC"/>
                <a:sym typeface="Noto Sans SC"/>
              </a:rPr>
              <a:t>简述项目架构、技术选型和关键功能实现思路。</a:t>
            </a:r>
            <a:r>
              <a:rPr lang="en-US" b="false" i="false" strike="noStrike" u="none" sz="1100">
                <a:solidFill>
                  <a:srgbClr val="593E38"/>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593E38"/>
                </a:solidFill>
                <a:latin typeface="Noto Sans SC"/>
                <a:ea typeface="Noto Sans SC"/>
                <a:cs typeface="Noto Sans SC"/>
                <a:sym typeface="Noto Sans SC"/>
              </a:rPr>
              <a:t>提供项目运行指南。</a:t>
            </a:r>
          </a:p>
        </p:txBody>
      </p:sp>
      <p:sp>
        <p:nvSpPr>
          <p:cNvPr name="AutoShape 21" id="21"/>
          <p:cNvSpPr/>
          <p:nvPr/>
        </p:nvSpPr>
        <p:spPr>
          <a:xfrm rot="0" flipH="false" flipV="false">
            <a:off x="6223000" y="3429000"/>
            <a:ext cx="2476500" cy="2794000"/>
          </a:xfrm>
          <a:prstGeom prst="roundRect">
            <a:avLst>
              <a:gd name="adj" fmla="val 0"/>
            </a:avLst>
          </a:prstGeom>
          <a:solidFill>
            <a:srgbClr val="FFFBEB">
              <a:alpha val="80000"/>
            </a:srgbClr>
          </a:solidFill>
          <a:ln cmpd="sng" cap="flat">
            <a:solidFill>
              <a:srgbClr val="E6DDBD">
                <a:alpha val="80000"/>
              </a:srgbClr>
            </a:solidFill>
            <a:prstDash val="solid"/>
            <a:round/>
          </a:ln>
        </p:spPr>
        <p:txBody>
          <a:bodyPr anchor="ctr" rtlCol="false" anchorCtr="false" vert="horz" wrap="square" lIns="0" rIns="0" tIns="0" bIns="0"/>
          <a:lstStyle/>
          <a:p>
            <a:pPr algn="ctr">
              <a:defRPr/>
            </a:pPr>
            <a:endParaRPr/>
          </a:p>
        </p:txBody>
      </p:sp>
      <p:sp>
        <p:nvSpPr>
          <p:cNvPr name="AutoShape 22" id="22"/>
          <p:cNvSpPr/>
          <p:nvPr/>
        </p:nvSpPr>
        <p:spPr>
          <a:xfrm rot="0" flipH="false" flipV="false">
            <a:off x="6223000" y="3429000"/>
            <a:ext cx="50800" cy="2794000"/>
          </a:xfrm>
          <a:prstGeom prst="roundRect">
            <a:avLst>
              <a:gd name="adj" fmla="val 0"/>
            </a:avLst>
          </a:prstGeom>
          <a:solidFill>
            <a:srgbClr val="D4A037">
              <a:alpha val="100000"/>
            </a:srgbClr>
          </a:solidFill>
          <a:ln cmpd="sng" cap="flat">
            <a:solidFill>
              <a:srgbClr val="BB871E">
                <a:alpha val="100000"/>
              </a:srgbClr>
            </a:solidFill>
            <a:prstDash val="solid"/>
            <a:round/>
          </a:ln>
        </p:spPr>
        <p:txBody>
          <a:bodyPr anchor="ctr" rtlCol="false" anchorCtr="false" vert="horz" wrap="square" lIns="0" rIns="0" tIns="0" bIns="0"/>
          <a:lstStyle/>
          <a:p>
            <a:pPr algn="ctr">
              <a:defRPr/>
            </a:pPr>
            <a:endParaRPr/>
          </a:p>
        </p:txBody>
      </p:sp>
      <p:sp>
        <p:nvSpPr>
          <p:cNvPr name="AutoShape 23" id="23"/>
          <p:cNvSpPr/>
          <p:nvPr/>
        </p:nvSpPr>
        <p:spPr>
          <a:xfrm rot="0" flipH="false" flipV="false">
            <a:off x="6413500" y="3619500"/>
            <a:ext cx="2222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E2723"/>
                </a:solidFill>
                <a:latin typeface="Noto Sans SC"/>
                <a:ea typeface="Noto Sans SC"/>
                <a:cs typeface="Noto Sans SC"/>
                <a:sym typeface="Noto Sans SC"/>
              </a:rPr>
              <a:t>AI提示词对话记录</a:t>
            </a:r>
            <a:endParaRPr lang="en-US" sz="1100"/>
          </a:p>
        </p:txBody>
      </p:sp>
      <p:sp>
        <p:nvSpPr>
          <p:cNvPr name="AutoShape 24" id="24"/>
          <p:cNvSpPr/>
          <p:nvPr/>
        </p:nvSpPr>
        <p:spPr>
          <a:xfrm rot="0" flipH="false" flipV="false">
            <a:off x="6413500" y="4381500"/>
            <a:ext cx="2222500" cy="1651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false" i="false" strike="noStrike" u="none" sz="1100">
                <a:solidFill>
                  <a:srgbClr val="593E38"/>
                </a:solidFill>
                <a:latin typeface="Noto Sans SC"/>
                <a:ea typeface="Noto Sans SC"/>
                <a:cs typeface="Noto Sans SC"/>
                <a:sym typeface="Noto Sans SC"/>
              </a:rPr>
              <a:t>列出关键、能体现思考过程的提示词。</a:t>
            </a:r>
            <a:r>
              <a:rPr lang="en-US" b="false" i="false" strike="noStrike" u="none" sz="1100">
                <a:solidFill>
                  <a:srgbClr val="593E38"/>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593E38"/>
                </a:solidFill>
                <a:latin typeface="Noto Sans SC"/>
                <a:ea typeface="Noto Sans SC"/>
                <a:cs typeface="Noto Sans SC"/>
                <a:sym typeface="Noto Sans SC"/>
              </a:rPr>
              <a:t>重点展示如何引导AI完成核心功能。</a:t>
            </a:r>
          </a:p>
        </p:txBody>
      </p:sp>
      <p:sp>
        <p:nvSpPr>
          <p:cNvPr name="AutoShape 25" id="25"/>
          <p:cNvSpPr/>
          <p:nvPr/>
        </p:nvSpPr>
        <p:spPr>
          <a:xfrm rot="0" flipH="false" flipV="false">
            <a:off x="8953500" y="3429000"/>
            <a:ext cx="2476500" cy="2794000"/>
          </a:xfrm>
          <a:prstGeom prst="roundRect">
            <a:avLst>
              <a:gd name="adj" fmla="val 0"/>
            </a:avLst>
          </a:prstGeom>
          <a:solidFill>
            <a:srgbClr val="FFFBEB">
              <a:alpha val="80000"/>
            </a:srgbClr>
          </a:solidFill>
          <a:ln cmpd="sng" cap="flat">
            <a:solidFill>
              <a:srgbClr val="E6DDBD">
                <a:alpha val="80000"/>
              </a:srgbClr>
            </a:solidFill>
            <a:prstDash val="solid"/>
            <a:round/>
          </a:ln>
        </p:spPr>
        <p:txBody>
          <a:bodyPr anchor="ctr" rtlCol="false" anchorCtr="false" vert="horz" wrap="square" lIns="0" rIns="0" tIns="0" bIns="0"/>
          <a:lstStyle/>
          <a:p>
            <a:pPr algn="ctr">
              <a:defRPr/>
            </a:pPr>
            <a:endParaRPr/>
          </a:p>
        </p:txBody>
      </p:sp>
      <p:sp>
        <p:nvSpPr>
          <p:cNvPr name="AutoShape 26" id="26"/>
          <p:cNvSpPr/>
          <p:nvPr/>
        </p:nvSpPr>
        <p:spPr>
          <a:xfrm rot="0" flipH="false" flipV="false">
            <a:off x="8953500" y="3429000"/>
            <a:ext cx="50800" cy="2794000"/>
          </a:xfrm>
          <a:prstGeom prst="roundRect">
            <a:avLst>
              <a:gd name="adj" fmla="val 0"/>
            </a:avLst>
          </a:prstGeom>
          <a:solidFill>
            <a:srgbClr val="D4A037">
              <a:alpha val="100000"/>
            </a:srgbClr>
          </a:solidFill>
          <a:ln cmpd="sng" cap="flat">
            <a:solidFill>
              <a:srgbClr val="BB871E">
                <a:alpha val="100000"/>
              </a:srgbClr>
            </a:solidFill>
            <a:prstDash val="solid"/>
            <a:round/>
          </a:ln>
        </p:spPr>
        <p:txBody>
          <a:bodyPr anchor="ctr" rtlCol="false" anchorCtr="false" vert="horz" wrap="square" lIns="0" rIns="0" tIns="0" bIns="0"/>
          <a:lstStyle/>
          <a:p>
            <a:pPr algn="ctr">
              <a:defRPr/>
            </a:pPr>
            <a:endParaRPr/>
          </a:p>
        </p:txBody>
      </p:sp>
      <p:sp>
        <p:nvSpPr>
          <p:cNvPr name="AutoShape 27" id="27"/>
          <p:cNvSpPr/>
          <p:nvPr/>
        </p:nvSpPr>
        <p:spPr>
          <a:xfrm rot="0" flipH="false" flipV="false">
            <a:off x="9144000" y="3619500"/>
            <a:ext cx="2222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E2723"/>
                </a:solidFill>
                <a:latin typeface="Noto Sans SC"/>
                <a:ea typeface="Noto Sans SC"/>
                <a:cs typeface="Noto Sans SC"/>
                <a:sym typeface="Noto Sans SC"/>
              </a:rPr>
              <a:t>OpenSpec文档</a:t>
            </a:r>
            <a:endParaRPr lang="en-US" sz="1100"/>
          </a:p>
        </p:txBody>
      </p:sp>
      <p:sp>
        <p:nvSpPr>
          <p:cNvPr name="AutoShape 28" id="28"/>
          <p:cNvSpPr/>
          <p:nvPr/>
        </p:nvSpPr>
        <p:spPr>
          <a:xfrm rot="0" flipH="false" flipV="false">
            <a:off x="9144000" y="4381500"/>
            <a:ext cx="2222500" cy="1651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false" i="false" strike="noStrike" u="none" sz="1100">
                <a:solidFill>
                  <a:srgbClr val="593E38"/>
                </a:solidFill>
                <a:latin typeface="Noto Sans SC"/>
                <a:ea typeface="Noto Sans SC"/>
                <a:cs typeface="Noto Sans SC"/>
                <a:sym typeface="Noto Sans SC"/>
              </a:rPr>
              <a:t>提供描述项目AI开发规范和提示词设计的OpenSpec文档。</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BEB">
              <a:alpha val="90000"/>
            </a:srgbClr>
          </a:solidFill>
          <a:ln cmpd="sng" cap="flat">
            <a:solidFill>
              <a:srgbClr val="E6DDBD">
                <a:alpha val="90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8890000" cy="635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452E22"/>
                </a:solidFill>
                <a:latin typeface="Noto Sans SC"/>
                <a:ea typeface="Noto Sans SC"/>
                <a:cs typeface="Noto Sans SC"/>
                <a:sym typeface="Noto Sans SC"/>
              </a:rPr>
              <a:t>01 考核概述与核心规则</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10287000" y="660400"/>
            <a:ext cx="1651000" cy="495300"/>
          </a:xfrm>
          <a:prstGeom prst="rect">
            <a:avLst/>
          </a:prstGeom>
          <a:noFill/>
          <a:ln w="25400" cmpd="sng" cap="flat">
            <a:noFill/>
            <a:prstDash val="solid"/>
            <a:round/>
          </a:ln>
        </p:spPr>
      </p:pic>
      <p:sp>
        <p:nvSpPr>
          <p:cNvPr name="AutoShape 5" id="5"/>
          <p:cNvSpPr/>
          <p:nvPr/>
        </p:nvSpPr>
        <p:spPr>
          <a:xfrm rot="0" flipH="false" flipV="false">
            <a:off x="762000" y="1524000"/>
            <a:ext cx="106680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00000"/>
              </a:lnSpc>
              <a:defRPr/>
            </a:pPr>
            <a:r>
              <a:rPr lang="en-US" b="true" i="false" strike="noStrike" u="none" sz="1800">
                <a:solidFill>
                  <a:srgbClr val="452E22"/>
                </a:solidFill>
                <a:latin typeface="Noto Sans SC"/>
                <a:ea typeface="Noto Sans SC"/>
                <a:cs typeface="Noto Sans SC"/>
                <a:sym typeface="Noto Sans SC"/>
              </a:rPr>
              <a:t>总分规则:基础与创新并重</a:t>
            </a:r>
            <a:endParaRPr lang="en-US" sz="1100"/>
          </a:p>
        </p:txBody>
      </p:sp>
      <p:sp>
        <p:nvSpPr>
          <p:cNvPr name="AutoShape 6" id="6"/>
          <p:cNvSpPr/>
          <p:nvPr/>
        </p:nvSpPr>
        <p:spPr>
          <a:xfrm rot="0" flipH="false" flipV="false">
            <a:off x="762000" y="2032000"/>
            <a:ext cx="5207000" cy="1778000"/>
          </a:xfrm>
          <a:prstGeom prst="roundRect">
            <a:avLst>
              <a:gd name="adj" fmla="val 0"/>
            </a:avLst>
          </a:prstGeom>
          <a:solidFill>
            <a:srgbClr val="FFFDF6">
              <a:alpha val="90000"/>
            </a:srgbClr>
          </a:solidFill>
          <a:ln cmpd="sng" cap="flat">
            <a:solidFill>
              <a:srgbClr val="E6DFC6">
                <a:alpha val="90000"/>
              </a:srgbClr>
            </a:solidFill>
            <a:prstDash val="solid"/>
            <a:round/>
          </a:ln>
        </p:spPr>
        <p:txBody>
          <a:bodyPr anchor="ctr" rtlCol="false" anchorCtr="false" vert="horz" wrap="square" lIns="0" rIns="0" tIns="0" bIns="0"/>
          <a:lstStyle/>
          <a:p>
            <a:pPr algn="ctr">
              <a:defRPr/>
            </a:pPr>
            <a:endParaRPr/>
          </a:p>
        </p:txBody>
      </p:sp>
      <p:sp>
        <p:nvSpPr>
          <p:cNvPr name="AutoShape 7" id="7"/>
          <p:cNvSpPr/>
          <p:nvPr/>
        </p:nvSpPr>
        <p:spPr>
          <a:xfrm rot="0" flipH="false" flipV="false">
            <a:off x="762000" y="2032000"/>
            <a:ext cx="50800" cy="17780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8" id="8"/>
          <p:cNvSpPr/>
          <p:nvPr/>
        </p:nvSpPr>
        <p:spPr>
          <a:xfrm rot="0" flipH="false" flipV="false">
            <a:off x="1041400" y="2133600"/>
            <a:ext cx="165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4800">
                <a:solidFill>
                  <a:srgbClr val="92400E"/>
                </a:solidFill>
                <a:latin typeface="Noto Sans SC"/>
                <a:ea typeface="Noto Sans SC"/>
                <a:cs typeface="Noto Sans SC"/>
                <a:sym typeface="Noto Sans SC"/>
              </a:rPr>
              <a:t>80</a:t>
            </a:r>
            <a:r>
              <a:rPr lang="en-US" b="true" i="false" strike="noStrike" u="none" sz="1800">
                <a:solidFill>
                  <a:srgbClr val="92400E"/>
                </a:solidFill>
                <a:latin typeface="Noto Sans SC"/>
                <a:ea typeface="Noto Sans SC"/>
                <a:cs typeface="Noto Sans SC"/>
                <a:sym typeface="Noto Sans SC"/>
              </a:rPr>
              <a:t>分</a:t>
            </a:r>
            <a:endParaRPr lang="en-US" sz="1100"/>
          </a:p>
        </p:txBody>
      </p:sp>
      <p:sp>
        <p:nvSpPr>
          <p:cNvPr name="AutoShape 9" id="9"/>
          <p:cNvSpPr/>
          <p:nvPr/>
        </p:nvSpPr>
        <p:spPr>
          <a:xfrm rot="0" flipH="false" flipV="false">
            <a:off x="2794000" y="2133600"/>
            <a:ext cx="2984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800">
                <a:solidFill>
                  <a:srgbClr val="452E22"/>
                </a:solidFill>
                <a:latin typeface="Noto Sans SC"/>
                <a:ea typeface="Noto Sans SC"/>
                <a:cs typeface="Noto Sans SC"/>
                <a:sym typeface="Noto Sans SC"/>
              </a:rPr>
              <a:t>基础功能</a:t>
            </a:r>
            <a:endParaRPr lang="en-US" sz="1100"/>
          </a:p>
        </p:txBody>
      </p:sp>
      <p:sp>
        <p:nvSpPr>
          <p:cNvPr name="AutoShape 10" id="10"/>
          <p:cNvSpPr/>
          <p:nvPr/>
        </p:nvSpPr>
        <p:spPr>
          <a:xfrm rot="0" flipH="false" flipV="false">
            <a:off x="2794000" y="2540000"/>
            <a:ext cx="2984500" cy="8382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300">
                <a:solidFill>
                  <a:srgbClr val="573F34"/>
                </a:solidFill>
                <a:latin typeface="Noto Sans SC"/>
                <a:ea typeface="Noto Sans SC"/>
                <a:cs typeface="Noto Sans SC"/>
                <a:sym typeface="Noto Sans SC"/>
              </a:rPr>
              <a:t>必须完成的核心业务模块,是通过考核的基础。</a:t>
            </a:r>
            <a:endParaRPr lang="en-US" sz="1100"/>
          </a:p>
        </p:txBody>
      </p:sp>
      <p:sp>
        <p:nvSpPr>
          <p:cNvPr name="AutoShape 11" id="11"/>
          <p:cNvSpPr/>
          <p:nvPr/>
        </p:nvSpPr>
        <p:spPr>
          <a:xfrm rot="0" flipH="false" flipV="false">
            <a:off x="6223000" y="2032000"/>
            <a:ext cx="5207000" cy="1778000"/>
          </a:xfrm>
          <a:prstGeom prst="roundRect">
            <a:avLst>
              <a:gd name="adj" fmla="val 0"/>
            </a:avLst>
          </a:prstGeom>
          <a:solidFill>
            <a:srgbClr val="FFFDF6">
              <a:alpha val="90000"/>
            </a:srgbClr>
          </a:solidFill>
          <a:ln cmpd="sng" cap="flat">
            <a:solidFill>
              <a:srgbClr val="E6DFC6">
                <a:alpha val="90000"/>
              </a:srgbClr>
            </a:solidFill>
            <a:prstDash val="solid"/>
            <a:round/>
          </a:ln>
        </p:spPr>
        <p:txBody>
          <a:bodyPr anchor="ctr" rtlCol="false" anchorCtr="false" vert="horz" wrap="square" lIns="0" rIns="0" tIns="0" bIns="0"/>
          <a:lstStyle/>
          <a:p>
            <a:pPr algn="ctr">
              <a:defRPr/>
            </a:pPr>
            <a:endParaRPr/>
          </a:p>
        </p:txBody>
      </p:sp>
      <p:sp>
        <p:nvSpPr>
          <p:cNvPr name="AutoShape 12" id="12"/>
          <p:cNvSpPr/>
          <p:nvPr/>
        </p:nvSpPr>
        <p:spPr>
          <a:xfrm rot="0" flipH="false" flipV="false">
            <a:off x="6223000" y="2032000"/>
            <a:ext cx="50800" cy="17780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6502400" y="2133600"/>
            <a:ext cx="165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4800">
                <a:solidFill>
                  <a:srgbClr val="92400E"/>
                </a:solidFill>
                <a:latin typeface="Noto Sans SC"/>
                <a:ea typeface="Noto Sans SC"/>
                <a:cs typeface="Noto Sans SC"/>
                <a:sym typeface="Noto Sans SC"/>
              </a:rPr>
              <a:t>20</a:t>
            </a:r>
            <a:r>
              <a:rPr lang="en-US" b="true" i="false" strike="noStrike" u="none" sz="1800">
                <a:solidFill>
                  <a:srgbClr val="92400E"/>
                </a:solidFill>
                <a:latin typeface="Noto Sans SC"/>
                <a:ea typeface="Noto Sans SC"/>
                <a:cs typeface="Noto Sans SC"/>
                <a:sym typeface="Noto Sans SC"/>
              </a:rPr>
              <a:t>分</a:t>
            </a:r>
            <a:endParaRPr lang="en-US" sz="1100"/>
          </a:p>
        </p:txBody>
      </p:sp>
      <p:sp>
        <p:nvSpPr>
          <p:cNvPr name="AutoShape 14" id="14"/>
          <p:cNvSpPr/>
          <p:nvPr/>
        </p:nvSpPr>
        <p:spPr>
          <a:xfrm rot="0" flipH="false" flipV="false">
            <a:off x="8255000" y="2133600"/>
            <a:ext cx="3111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800">
                <a:solidFill>
                  <a:srgbClr val="452E22"/>
                </a:solidFill>
                <a:latin typeface="Noto Sans SC"/>
                <a:ea typeface="Noto Sans SC"/>
                <a:cs typeface="Noto Sans SC"/>
                <a:sym typeface="Noto Sans SC"/>
              </a:rPr>
              <a:t>拓展加分项</a:t>
            </a:r>
            <a:endParaRPr lang="en-US" sz="1100"/>
          </a:p>
        </p:txBody>
      </p:sp>
      <p:sp>
        <p:nvSpPr>
          <p:cNvPr name="AutoShape 15" id="15"/>
          <p:cNvSpPr/>
          <p:nvPr/>
        </p:nvSpPr>
        <p:spPr>
          <a:xfrm rot="0" flipH="false" flipV="false">
            <a:off x="8255000" y="2540000"/>
            <a:ext cx="3111500" cy="8382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300">
                <a:solidFill>
                  <a:srgbClr val="573F34"/>
                </a:solidFill>
                <a:latin typeface="Noto Sans SC"/>
                <a:ea typeface="Noto Sans SC"/>
                <a:cs typeface="Noto Sans SC"/>
                <a:sym typeface="Noto Sans SC"/>
              </a:rPr>
              <a:t>可选做的进阶功能,用于展示您的技术深度和创新能力。</a:t>
            </a:r>
            <a:endParaRPr lang="en-US" sz="1100"/>
          </a:p>
        </p:txBody>
      </p:sp>
      <p:sp>
        <p:nvSpPr>
          <p:cNvPr name="AutoShape 16" id="16"/>
          <p:cNvSpPr/>
          <p:nvPr/>
        </p:nvSpPr>
        <p:spPr>
          <a:xfrm rot="0" flipH="false" flipV="false">
            <a:off x="762000" y="4064000"/>
            <a:ext cx="106680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00000"/>
              </a:lnSpc>
              <a:defRPr/>
            </a:pPr>
            <a:r>
              <a:rPr lang="en-US" b="true" i="false" strike="noStrike" u="none" sz="1800">
                <a:solidFill>
                  <a:srgbClr val="452E22"/>
                </a:solidFill>
                <a:latin typeface="Noto Sans SC"/>
                <a:ea typeface="Noto Sans SC"/>
                <a:cs typeface="Noto Sans SC"/>
                <a:sym typeface="Noto Sans SC"/>
              </a:rPr>
              <a:t>评分原则</a:t>
            </a:r>
            <a:endParaRPr lang="en-US" sz="1100"/>
          </a:p>
        </p:txBody>
      </p:sp>
      <p:sp>
        <p:nvSpPr>
          <p:cNvPr name="AutoShape 17" id="17"/>
          <p:cNvSpPr/>
          <p:nvPr/>
        </p:nvSpPr>
        <p:spPr>
          <a:xfrm rot="0" flipH="false" flipV="false">
            <a:off x="762000" y="4572000"/>
            <a:ext cx="3492500" cy="1651000"/>
          </a:xfrm>
          <a:prstGeom prst="roundRect">
            <a:avLst>
              <a:gd name="adj" fmla="val 0"/>
            </a:avLst>
          </a:prstGeom>
          <a:solidFill>
            <a:srgbClr val="FFFDF6">
              <a:alpha val="80000"/>
            </a:srgbClr>
          </a:solidFill>
          <a:ln cmpd="sng" cap="flat">
            <a:solidFill>
              <a:srgbClr val="E6DFC6">
                <a:alpha val="80000"/>
              </a:srgbClr>
            </a:solidFill>
            <a:prstDash val="solid"/>
            <a:round/>
          </a:ln>
        </p:spPr>
        <p:txBody>
          <a:bodyPr anchor="ctr" rtlCol="false" anchorCtr="false" vert="horz" wrap="square" lIns="0" rIns="0" tIns="0" bIns="0"/>
          <a:lstStyle/>
          <a:p>
            <a:pPr algn="ctr">
              <a:defRPr/>
            </a:pPr>
            <a:endParaRPr/>
          </a:p>
        </p:txBody>
      </p:sp>
      <p:sp>
        <p:nvSpPr>
          <p:cNvPr name="AutoShape 18" id="18"/>
          <p:cNvSpPr/>
          <p:nvPr/>
        </p:nvSpPr>
        <p:spPr>
          <a:xfrm rot="0" flipH="false" flipV="false">
            <a:off x="762000" y="4572000"/>
            <a:ext cx="50800" cy="16510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19" id="19"/>
          <p:cNvSpPr/>
          <p:nvPr/>
        </p:nvSpPr>
        <p:spPr>
          <a:xfrm rot="0" flipH="false" flipV="false">
            <a:off x="990600" y="4673600"/>
            <a:ext cx="3111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500">
                <a:solidFill>
                  <a:srgbClr val="452E22"/>
                </a:solidFill>
                <a:latin typeface="Noto Sans SC"/>
                <a:ea typeface="Noto Sans SC"/>
                <a:cs typeface="Noto Sans SC"/>
                <a:sym typeface="Noto Sans SC"/>
              </a:rPr>
              <a:t>基础计分</a:t>
            </a:r>
            <a:endParaRPr lang="en-US" sz="1100"/>
          </a:p>
        </p:txBody>
      </p:sp>
      <p:sp>
        <p:nvSpPr>
          <p:cNvPr name="AutoShape 20" id="20"/>
          <p:cNvSpPr/>
          <p:nvPr/>
        </p:nvSpPr>
        <p:spPr>
          <a:xfrm rot="0" flipH="false" flipV="false">
            <a:off x="990600" y="5029200"/>
            <a:ext cx="3111500" cy="8890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200">
                <a:solidFill>
                  <a:srgbClr val="573F34"/>
                </a:solidFill>
                <a:latin typeface="Noto Sans SC"/>
                <a:ea typeface="Noto Sans SC"/>
                <a:cs typeface="Noto Sans SC"/>
                <a:sym typeface="Noto Sans SC"/>
              </a:rPr>
              <a:t>基础功能部分按点计分,确保核心功能的完整性和正确性。</a:t>
            </a:r>
            <a:endParaRPr lang="en-US" sz="1100"/>
          </a:p>
        </p:txBody>
      </p:sp>
      <p:sp>
        <p:nvSpPr>
          <p:cNvPr name="AutoShape 21" id="21"/>
          <p:cNvSpPr/>
          <p:nvPr/>
        </p:nvSpPr>
        <p:spPr>
          <a:xfrm rot="0" flipH="false" flipV="false">
            <a:off x="4470400" y="4572000"/>
            <a:ext cx="3492500" cy="1651000"/>
          </a:xfrm>
          <a:prstGeom prst="roundRect">
            <a:avLst>
              <a:gd name="adj" fmla="val 0"/>
            </a:avLst>
          </a:prstGeom>
          <a:solidFill>
            <a:srgbClr val="FFFDF6">
              <a:alpha val="80000"/>
            </a:srgbClr>
          </a:solidFill>
          <a:ln cmpd="sng" cap="flat">
            <a:solidFill>
              <a:srgbClr val="E6DFC6">
                <a:alpha val="80000"/>
              </a:srgbClr>
            </a:solidFill>
            <a:prstDash val="solid"/>
            <a:round/>
          </a:ln>
        </p:spPr>
        <p:txBody>
          <a:bodyPr anchor="ctr" rtlCol="false" anchorCtr="false" vert="horz" wrap="square" lIns="0" rIns="0" tIns="0" bIns="0"/>
          <a:lstStyle/>
          <a:p>
            <a:pPr algn="ctr">
              <a:defRPr/>
            </a:pPr>
            <a:endParaRPr/>
          </a:p>
        </p:txBody>
      </p:sp>
      <p:sp>
        <p:nvSpPr>
          <p:cNvPr name="AutoShape 22" id="22"/>
          <p:cNvSpPr/>
          <p:nvPr/>
        </p:nvSpPr>
        <p:spPr>
          <a:xfrm rot="0" flipH="false" flipV="false">
            <a:off x="4470400" y="4572000"/>
            <a:ext cx="50800" cy="16510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23" id="23"/>
          <p:cNvSpPr/>
          <p:nvPr/>
        </p:nvSpPr>
        <p:spPr>
          <a:xfrm rot="0" flipH="false" flipV="false">
            <a:off x="4699000" y="4673600"/>
            <a:ext cx="3111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500">
                <a:solidFill>
                  <a:srgbClr val="452E22"/>
                </a:solidFill>
                <a:latin typeface="Noto Sans SC"/>
                <a:ea typeface="Noto Sans SC"/>
                <a:cs typeface="Noto Sans SC"/>
                <a:sym typeface="Noto Sans SC"/>
              </a:rPr>
              <a:t>加分叠加</a:t>
            </a:r>
            <a:endParaRPr lang="en-US" sz="1100"/>
          </a:p>
        </p:txBody>
      </p:sp>
      <p:sp>
        <p:nvSpPr>
          <p:cNvPr name="AutoShape 24" id="24"/>
          <p:cNvSpPr/>
          <p:nvPr/>
        </p:nvSpPr>
        <p:spPr>
          <a:xfrm rot="0" flipH="false" flipV="false">
            <a:off x="4699000" y="5029200"/>
            <a:ext cx="3111500" cy="8890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200">
                <a:solidFill>
                  <a:srgbClr val="573F34"/>
                </a:solidFill>
                <a:latin typeface="Noto Sans SC"/>
                <a:ea typeface="Noto Sans SC"/>
                <a:cs typeface="Noto Sans SC"/>
                <a:sym typeface="Noto Sans SC"/>
              </a:rPr>
              <a:t>拓展加分项可叠加得分,总分不超过100分。</a:t>
            </a:r>
            <a:endParaRPr lang="en-US" sz="1100"/>
          </a:p>
        </p:txBody>
      </p:sp>
      <p:sp>
        <p:nvSpPr>
          <p:cNvPr name="AutoShape 25" id="25"/>
          <p:cNvSpPr/>
          <p:nvPr/>
        </p:nvSpPr>
        <p:spPr>
          <a:xfrm rot="0" flipH="false" flipV="false">
            <a:off x="8178800" y="4572000"/>
            <a:ext cx="3492500" cy="1651000"/>
          </a:xfrm>
          <a:prstGeom prst="roundRect">
            <a:avLst>
              <a:gd name="adj" fmla="val 0"/>
            </a:avLst>
          </a:prstGeom>
          <a:solidFill>
            <a:srgbClr val="FFFDF6">
              <a:alpha val="80000"/>
            </a:srgbClr>
          </a:solidFill>
          <a:ln cmpd="sng" cap="flat">
            <a:solidFill>
              <a:srgbClr val="E6DFC6">
                <a:alpha val="80000"/>
              </a:srgbClr>
            </a:solidFill>
            <a:prstDash val="solid"/>
            <a:round/>
          </a:ln>
        </p:spPr>
        <p:txBody>
          <a:bodyPr anchor="ctr" rtlCol="false" anchorCtr="false" vert="horz" wrap="square" lIns="0" rIns="0" tIns="0" bIns="0"/>
          <a:lstStyle/>
          <a:p>
            <a:pPr algn="ctr">
              <a:defRPr/>
            </a:pPr>
            <a:endParaRPr/>
          </a:p>
        </p:txBody>
      </p:sp>
      <p:sp>
        <p:nvSpPr>
          <p:cNvPr name="AutoShape 26" id="26"/>
          <p:cNvSpPr/>
          <p:nvPr/>
        </p:nvSpPr>
        <p:spPr>
          <a:xfrm rot="0" flipH="false" flipV="false">
            <a:off x="8178800" y="4572000"/>
            <a:ext cx="50800" cy="16510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27" id="27"/>
          <p:cNvSpPr/>
          <p:nvPr/>
        </p:nvSpPr>
        <p:spPr>
          <a:xfrm rot="0" flipH="false" flipV="false">
            <a:off x="8407400" y="4673600"/>
            <a:ext cx="3111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500">
                <a:solidFill>
                  <a:srgbClr val="452E22"/>
                </a:solidFill>
                <a:latin typeface="Noto Sans SC"/>
                <a:ea typeface="Noto Sans SC"/>
                <a:cs typeface="Noto Sans SC"/>
                <a:sym typeface="Noto Sans SC"/>
              </a:rPr>
              <a:t>综合评估</a:t>
            </a:r>
            <a:endParaRPr lang="en-US" sz="1100"/>
          </a:p>
        </p:txBody>
      </p:sp>
      <p:sp>
        <p:nvSpPr>
          <p:cNvPr name="AutoShape 28" id="28"/>
          <p:cNvSpPr/>
          <p:nvPr/>
        </p:nvSpPr>
        <p:spPr>
          <a:xfrm rot="0" flipH="false" flipV="false">
            <a:off x="8407400" y="5029200"/>
            <a:ext cx="3111500" cy="8890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200">
                <a:solidFill>
                  <a:srgbClr val="573F34"/>
                </a:solidFill>
                <a:latin typeface="Noto Sans SC"/>
                <a:ea typeface="Noto Sans SC"/>
                <a:cs typeface="Noto Sans SC"/>
                <a:sym typeface="Noto Sans SC"/>
              </a:rPr>
              <a:t>代码质量、AI使用效率、文档规范性将作为重要的评分参考。</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BE6">
              <a:alpha val="90000"/>
            </a:srgbClr>
          </a:solidFill>
          <a:ln cmpd="sng" cap="flat">
            <a:solidFill>
              <a:srgbClr val="E6DEB8">
                <a:alpha val="90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7620000" cy="635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4E342E"/>
                </a:solidFill>
                <a:latin typeface="Noto Sans SC"/>
                <a:ea typeface="Noto Sans SC"/>
                <a:cs typeface="Noto Sans SC"/>
                <a:sym typeface="Noto Sans SC"/>
              </a:rPr>
              <a:t>02 统一技术栈要求</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10287000" y="660400"/>
            <a:ext cx="1651000" cy="495300"/>
          </a:xfrm>
          <a:prstGeom prst="rect">
            <a:avLst/>
          </a:prstGeom>
          <a:noFill/>
          <a:ln w="25400" cmpd="sng" cap="flat">
            <a:noFill/>
            <a:prstDash val="solid"/>
            <a:round/>
          </a:ln>
        </p:spPr>
      </p:pic>
      <p:sp>
        <p:nvSpPr>
          <p:cNvPr name="AutoShape 5" id="5"/>
          <p:cNvSpPr/>
          <p:nvPr/>
        </p:nvSpPr>
        <p:spPr>
          <a:xfrm rot="0" flipH="false" flipV="false">
            <a:off x="762000" y="1524000"/>
            <a:ext cx="7493000" cy="1206500"/>
          </a:xfrm>
          <a:prstGeom prst="roundRect">
            <a:avLst>
              <a:gd name="adj" fmla="val 0"/>
            </a:avLst>
          </a:prstGeom>
          <a:solidFill>
            <a:srgbClr val="FFF8DC">
              <a:alpha val="95000"/>
            </a:srgbClr>
          </a:solidFill>
          <a:ln cmpd="sng" cap="flat">
            <a:solidFill>
              <a:srgbClr val="E6DBAF">
                <a:alpha val="95000"/>
              </a:srgbClr>
            </a:solidFill>
            <a:prstDash val="solid"/>
            <a:round/>
          </a:ln>
        </p:spPr>
        <p:txBody>
          <a:bodyPr anchor="ctr" rtlCol="false" anchorCtr="false" vert="horz" wrap="square" lIns="0" rIns="0" tIns="0" bIns="0"/>
          <a:lstStyle/>
          <a:p>
            <a:pPr algn="ctr">
              <a:defRPr/>
            </a:pPr>
            <a:endParaRPr/>
          </a:p>
        </p:txBody>
      </p:sp>
      <p:sp>
        <p:nvSpPr>
          <p:cNvPr name="AutoShape 6" id="6"/>
          <p:cNvSpPr/>
          <p:nvPr/>
        </p:nvSpPr>
        <p:spPr>
          <a:xfrm rot="0" flipH="false" flipV="false">
            <a:off x="762000" y="1524000"/>
            <a:ext cx="50800" cy="1206500"/>
          </a:xfrm>
          <a:prstGeom prst="roundRect">
            <a:avLst>
              <a:gd name="adj" fmla="val 0"/>
            </a:avLst>
          </a:prstGeom>
          <a:solidFill>
            <a:srgbClr val="8B4513">
              <a:alpha val="100000"/>
            </a:srgbClr>
          </a:solidFill>
          <a:ln cmpd="sng" cap="flat">
            <a:solidFill>
              <a:srgbClr val="723204">
                <a:alpha val="100000"/>
              </a:srgbClr>
            </a:solidFill>
            <a:prstDash val="solid"/>
            <a:round/>
          </a:ln>
        </p:spPr>
        <p:txBody>
          <a:bodyPr anchor="ctr" rtlCol="false" anchorCtr="false" vert="horz" wrap="square" lIns="0" rIns="0" tIns="0" bIns="0"/>
          <a:lstStyle/>
          <a:p>
            <a:pPr algn="ctr">
              <a:defRPr/>
            </a:pPr>
            <a:endParaRPr/>
          </a:p>
        </p:txBody>
      </p:sp>
      <p:sp>
        <p:nvSpPr>
          <p:cNvPr name="AutoShape 7" id="7"/>
          <p:cNvSpPr/>
          <p:nvPr/>
        </p:nvSpPr>
        <p:spPr>
          <a:xfrm rot="0" flipH="false" flipV="false">
            <a:off x="1041400" y="1651000"/>
            <a:ext cx="7048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E342E"/>
                </a:solidFill>
                <a:latin typeface="Noto Sans SC"/>
                <a:ea typeface="Noto Sans SC"/>
                <a:cs typeface="Noto Sans SC"/>
                <a:sym typeface="Noto Sans SC"/>
              </a:rPr>
              <a:t>核心框架:Vue.js</a:t>
            </a:r>
            <a:endParaRPr lang="en-US" sz="1100"/>
          </a:p>
        </p:txBody>
      </p:sp>
      <p:sp>
        <p:nvSpPr>
          <p:cNvPr name="AutoShape 8" id="8"/>
          <p:cNvSpPr/>
          <p:nvPr/>
        </p:nvSpPr>
        <p:spPr>
          <a:xfrm rot="0" flipH="false" flipV="false">
            <a:off x="1041400" y="2032000"/>
            <a:ext cx="70485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200">
                <a:solidFill>
                  <a:srgbClr val="5C4033"/>
                </a:solidFill>
                <a:latin typeface="Noto Sans SC"/>
                <a:ea typeface="Noto Sans SC"/>
                <a:cs typeface="Noto Sans SC"/>
                <a:sym typeface="Noto Sans SC"/>
              </a:rPr>
              <a:t>您可以选择Vue 2或Vue 3,推荐使用</a:t>
            </a:r>
            <a:r>
              <a:rPr lang="en-US" b="true" i="false" strike="noStrike" u="none" sz="1200">
                <a:solidFill>
                  <a:srgbClr val="4E342E"/>
                </a:solidFill>
                <a:latin typeface="Noto Sans SC"/>
                <a:ea typeface="Noto Sans SC"/>
                <a:cs typeface="Noto Sans SC"/>
                <a:sym typeface="Noto Sans SC"/>
              </a:rPr>
              <a:t>Vue 3 + Vite</a:t>
            </a:r>
            <a:r>
              <a:rPr lang="en-US" b="false" i="false" strike="noStrike" u="none" sz="1200">
                <a:solidFill>
                  <a:srgbClr val="5C4033"/>
                </a:solidFill>
                <a:latin typeface="Noto Sans SC"/>
                <a:ea typeface="Noto Sans SC"/>
                <a:cs typeface="Noto Sans SC"/>
                <a:sym typeface="Noto Sans SC"/>
              </a:rPr>
              <a:t>以获得更好的开发体验。</a:t>
            </a:r>
            <a:endParaRPr lang="en-US" sz="1100"/>
          </a:p>
        </p:txBody>
      </p:sp>
      <p:sp>
        <p:nvSpPr>
          <p:cNvPr name="AutoShape 9" id="9"/>
          <p:cNvSpPr/>
          <p:nvPr/>
        </p:nvSpPr>
        <p:spPr>
          <a:xfrm rot="0" flipH="false" flipV="false">
            <a:off x="1041400" y="2336800"/>
            <a:ext cx="70485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false" i="false" strike="noStrike" u="none" sz="1200">
                <a:solidFill>
                  <a:srgbClr val="5C4033"/>
                </a:solidFill>
                <a:latin typeface="Noto Sans SC"/>
                <a:ea typeface="Noto Sans SC"/>
                <a:cs typeface="Noto Sans SC"/>
                <a:sym typeface="Noto Sans SC"/>
              </a:rPr>
              <a:t>配套的生态库(如Vue Router,Pinia/Vuex)请根据Vue版本自行选择。</a:t>
            </a:r>
            <a:endParaRPr lang="en-US" sz="1100"/>
          </a:p>
        </p:txBody>
      </p:sp>
      <p:sp>
        <p:nvSpPr>
          <p:cNvPr name="AutoShape 10" id="10"/>
          <p:cNvSpPr/>
          <p:nvPr/>
        </p:nvSpPr>
        <p:spPr>
          <a:xfrm rot="0" flipH="false" flipV="false">
            <a:off x="762000" y="2857500"/>
            <a:ext cx="7493000" cy="1079500"/>
          </a:xfrm>
          <a:prstGeom prst="roundRect">
            <a:avLst>
              <a:gd name="adj" fmla="val 0"/>
            </a:avLst>
          </a:prstGeom>
          <a:solidFill>
            <a:srgbClr val="FFF8DC">
              <a:alpha val="95000"/>
            </a:srgbClr>
          </a:solidFill>
          <a:ln cmpd="sng" cap="flat">
            <a:solidFill>
              <a:srgbClr val="E6DBAF">
                <a:alpha val="95000"/>
              </a:srgbClr>
            </a:solidFill>
            <a:prstDash val="solid"/>
            <a:round/>
          </a:ln>
        </p:spPr>
        <p:txBody>
          <a:bodyPr anchor="ctr" rtlCol="false" anchorCtr="false" vert="horz" wrap="square" lIns="0" rIns="0" tIns="0" bIns="0"/>
          <a:lstStyle/>
          <a:p>
            <a:pPr algn="ctr">
              <a:defRPr/>
            </a:pPr>
            <a:endParaRPr/>
          </a:p>
        </p:txBody>
      </p:sp>
      <p:sp>
        <p:nvSpPr>
          <p:cNvPr name="AutoShape 11" id="11"/>
          <p:cNvSpPr/>
          <p:nvPr/>
        </p:nvSpPr>
        <p:spPr>
          <a:xfrm rot="0" flipH="false" flipV="false">
            <a:off x="762000" y="2857500"/>
            <a:ext cx="50800" cy="1079500"/>
          </a:xfrm>
          <a:prstGeom prst="roundRect">
            <a:avLst>
              <a:gd name="adj" fmla="val 0"/>
            </a:avLst>
          </a:prstGeom>
          <a:solidFill>
            <a:srgbClr val="8B4513">
              <a:alpha val="100000"/>
            </a:srgbClr>
          </a:solidFill>
          <a:ln cmpd="sng" cap="flat">
            <a:solidFill>
              <a:srgbClr val="723204">
                <a:alpha val="100000"/>
              </a:srgbClr>
            </a:solidFill>
            <a:prstDash val="solid"/>
            <a:round/>
          </a:ln>
        </p:spPr>
        <p:txBody>
          <a:bodyPr anchor="ctr" rtlCol="false" anchorCtr="false" vert="horz" wrap="square" lIns="0" rIns="0" tIns="0" bIns="0"/>
          <a:lstStyle/>
          <a:p>
            <a:pPr algn="ctr">
              <a:defRPr/>
            </a:pPr>
            <a:endParaRPr/>
          </a:p>
        </p:txBody>
      </p:sp>
      <p:sp>
        <p:nvSpPr>
          <p:cNvPr name="AutoShape 12" id="12"/>
          <p:cNvSpPr/>
          <p:nvPr/>
        </p:nvSpPr>
        <p:spPr>
          <a:xfrm rot="0" flipH="false" flipV="false">
            <a:off x="1041400" y="2984500"/>
            <a:ext cx="7048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E342E"/>
                </a:solidFill>
                <a:latin typeface="Noto Sans SC"/>
                <a:ea typeface="Noto Sans SC"/>
                <a:cs typeface="Noto Sans SC"/>
                <a:sym typeface="Noto Sans SC"/>
              </a:rPr>
              <a:t>UI组件库:不限</a:t>
            </a:r>
            <a:endParaRPr lang="en-US" sz="1100"/>
          </a:p>
        </p:txBody>
      </p:sp>
      <p:sp>
        <p:nvSpPr>
          <p:cNvPr name="AutoShape 13" id="13"/>
          <p:cNvSpPr/>
          <p:nvPr/>
        </p:nvSpPr>
        <p:spPr>
          <a:xfrm rot="0" flipH="false" flipV="false">
            <a:off x="1041400" y="3365500"/>
            <a:ext cx="70485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false" i="false" strike="noStrike" u="none" sz="1200">
                <a:solidFill>
                  <a:srgbClr val="5C4033"/>
                </a:solidFill>
                <a:latin typeface="Noto Sans SC"/>
                <a:ea typeface="Noto Sans SC"/>
                <a:cs typeface="Noto Sans SC"/>
                <a:sym typeface="Noto Sans SC"/>
              </a:rPr>
              <a:t>您可以自由选择</a:t>
            </a:r>
            <a:r>
              <a:rPr lang="en-US" b="true" i="false" strike="noStrike" u="none" sz="1200">
                <a:solidFill>
                  <a:srgbClr val="4E342E"/>
                </a:solidFill>
                <a:latin typeface="Noto Sans SC"/>
                <a:ea typeface="Noto Sans SC"/>
                <a:cs typeface="Noto Sans SC"/>
                <a:sym typeface="Noto Sans SC"/>
              </a:rPr>
              <a:t>Element Plus、Ant Design Vue、Naive UI</a:t>
            </a:r>
            <a:r>
              <a:rPr lang="en-US" b="false" i="false" strike="noStrike" u="none" sz="1200">
                <a:solidFill>
                  <a:srgbClr val="5C4033"/>
                </a:solidFill>
                <a:latin typeface="Noto Sans SC"/>
                <a:ea typeface="Noto Sans SC"/>
                <a:cs typeface="Noto Sans SC"/>
                <a:sym typeface="Noto Sans SC"/>
              </a:rPr>
              <a:t>等主流组件库。</a:t>
            </a:r>
            <a:endParaRPr lang="en-US" sz="1100"/>
          </a:p>
        </p:txBody>
      </p:sp>
      <p:sp>
        <p:nvSpPr>
          <p:cNvPr name="AutoShape 14" id="14"/>
          <p:cNvSpPr/>
          <p:nvPr/>
        </p:nvSpPr>
        <p:spPr>
          <a:xfrm rot="0" flipH="false" flipV="false">
            <a:off x="762000" y="4064000"/>
            <a:ext cx="7493000" cy="1206500"/>
          </a:xfrm>
          <a:prstGeom prst="roundRect">
            <a:avLst>
              <a:gd name="adj" fmla="val 0"/>
            </a:avLst>
          </a:prstGeom>
          <a:solidFill>
            <a:srgbClr val="FFF8DC">
              <a:alpha val="95000"/>
            </a:srgbClr>
          </a:solidFill>
          <a:ln cmpd="sng" cap="flat">
            <a:solidFill>
              <a:srgbClr val="E6DBAF">
                <a:alpha val="95000"/>
              </a:srgbClr>
            </a:solidFill>
            <a:prstDash val="solid"/>
            <a:round/>
          </a:ln>
        </p:spPr>
        <p:txBody>
          <a:bodyPr anchor="ctr" rtlCol="false" anchorCtr="false" vert="horz" wrap="square" lIns="0" rIns="0" tIns="0" bIns="0"/>
          <a:lstStyle/>
          <a:p>
            <a:pPr algn="ctr">
              <a:defRPr/>
            </a:pPr>
            <a:endParaRPr/>
          </a:p>
        </p:txBody>
      </p:sp>
      <p:sp>
        <p:nvSpPr>
          <p:cNvPr name="AutoShape 15" id="15"/>
          <p:cNvSpPr/>
          <p:nvPr/>
        </p:nvSpPr>
        <p:spPr>
          <a:xfrm rot="0" flipH="false" flipV="false">
            <a:off x="762000" y="4064000"/>
            <a:ext cx="50800" cy="1206500"/>
          </a:xfrm>
          <a:prstGeom prst="roundRect">
            <a:avLst>
              <a:gd name="adj" fmla="val 0"/>
            </a:avLst>
          </a:prstGeom>
          <a:solidFill>
            <a:srgbClr val="8B4513">
              <a:alpha val="100000"/>
            </a:srgbClr>
          </a:solidFill>
          <a:ln cmpd="sng" cap="flat">
            <a:solidFill>
              <a:srgbClr val="723204">
                <a:alpha val="100000"/>
              </a:srgbClr>
            </a:solidFill>
            <a:prstDash val="solid"/>
            <a:round/>
          </a:ln>
        </p:spPr>
        <p:txBody>
          <a:bodyPr anchor="ctr" rtlCol="false" anchorCtr="false" vert="horz" wrap="square" lIns="0" rIns="0" tIns="0" bIns="0"/>
          <a:lstStyle/>
          <a:p>
            <a:pPr algn="ctr">
              <a:defRPr/>
            </a:pPr>
            <a:endParaRPr/>
          </a:p>
        </p:txBody>
      </p:sp>
      <p:sp>
        <p:nvSpPr>
          <p:cNvPr name="AutoShape 16" id="16"/>
          <p:cNvSpPr/>
          <p:nvPr/>
        </p:nvSpPr>
        <p:spPr>
          <a:xfrm rot="0" flipH="false" flipV="false">
            <a:off x="1041400" y="4191000"/>
            <a:ext cx="7048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E342E"/>
                </a:solidFill>
                <a:latin typeface="Noto Sans SC"/>
                <a:ea typeface="Noto Sans SC"/>
                <a:cs typeface="Noto Sans SC"/>
                <a:sym typeface="Noto Sans SC"/>
              </a:rPr>
              <a:t>其他建议</a:t>
            </a:r>
            <a:endParaRPr lang="en-US" sz="1100"/>
          </a:p>
        </p:txBody>
      </p:sp>
      <p:sp>
        <p:nvSpPr>
          <p:cNvPr name="AutoShape 17" id="17"/>
          <p:cNvSpPr/>
          <p:nvPr/>
        </p:nvSpPr>
        <p:spPr>
          <a:xfrm rot="0" flipH="false" flipV="false">
            <a:off x="1041400" y="4572000"/>
            <a:ext cx="70485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false" i="false" strike="noStrike" u="none" sz="1200">
                <a:solidFill>
                  <a:srgbClr val="5C4033"/>
                </a:solidFill>
                <a:latin typeface="Noto Sans SC"/>
                <a:ea typeface="Noto Sans SC"/>
                <a:cs typeface="Noto Sans SC"/>
                <a:sym typeface="Noto Sans SC"/>
              </a:rPr>
              <a:t>· 使用</a:t>
            </a:r>
            <a:r>
              <a:rPr lang="en-US" b="true" i="false" strike="noStrike" u="none" sz="1200">
                <a:solidFill>
                  <a:srgbClr val="4E342E"/>
                </a:solidFill>
                <a:latin typeface="Noto Sans SC"/>
                <a:ea typeface="Noto Sans SC"/>
                <a:cs typeface="Noto Sans SC"/>
                <a:sym typeface="Noto Sans SC"/>
              </a:rPr>
              <a:t>Axios或Fetch API</a:t>
            </a:r>
            <a:r>
              <a:rPr lang="en-US" b="false" i="false" strike="noStrike" u="none" sz="1200">
                <a:solidFill>
                  <a:srgbClr val="5C4033"/>
                </a:solidFill>
                <a:latin typeface="Noto Sans SC"/>
                <a:ea typeface="Noto Sans SC"/>
                <a:cs typeface="Noto Sans SC"/>
                <a:sym typeface="Noto Sans SC"/>
              </a:rPr>
              <a:t>进行HTTP请求。</a:t>
            </a:r>
            <a:endParaRPr lang="en-US" sz="1100"/>
          </a:p>
        </p:txBody>
      </p:sp>
      <p:sp>
        <p:nvSpPr>
          <p:cNvPr name="AutoShape 18" id="18"/>
          <p:cNvSpPr/>
          <p:nvPr/>
        </p:nvSpPr>
        <p:spPr>
          <a:xfrm rot="0" flipH="false" flipV="false">
            <a:off x="1041400" y="4876800"/>
            <a:ext cx="70485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false" i="false" strike="noStrike" u="none" sz="1200">
                <a:solidFill>
                  <a:srgbClr val="5C4033"/>
                </a:solidFill>
                <a:latin typeface="Noto Sans SC"/>
                <a:ea typeface="Noto Sans SC"/>
                <a:cs typeface="Noto Sans SC"/>
                <a:sym typeface="Noto Sans SC"/>
              </a:rPr>
              <a:t>· 鼓励使用</a:t>
            </a:r>
            <a:r>
              <a:rPr lang="en-US" b="true" i="false" strike="noStrike" u="none" sz="1200">
                <a:solidFill>
                  <a:srgbClr val="4E342E"/>
                </a:solidFill>
                <a:latin typeface="Noto Sans SC"/>
                <a:ea typeface="Noto Sans SC"/>
                <a:cs typeface="Noto Sans SC"/>
                <a:sym typeface="Noto Sans SC"/>
              </a:rPr>
              <a:t>TypeScript</a:t>
            </a:r>
            <a:r>
              <a:rPr lang="en-US" b="false" i="false" strike="noStrike" u="none" sz="1200">
                <a:solidFill>
                  <a:srgbClr val="5C4033"/>
                </a:solidFill>
                <a:latin typeface="Noto Sans SC"/>
                <a:ea typeface="Noto Sans SC"/>
                <a:cs typeface="Noto Sans SC"/>
                <a:sym typeface="Noto Sans SC"/>
              </a:rPr>
              <a:t>以提升代码健壮性。</a:t>
            </a:r>
            <a:endParaRPr lang="en-US" sz="1100"/>
          </a:p>
        </p:txBody>
      </p:sp>
      <p:sp>
        <p:nvSpPr>
          <p:cNvPr name="AutoShape 19" id="19"/>
          <p:cNvSpPr/>
          <p:nvPr/>
        </p:nvSpPr>
        <p:spPr>
          <a:xfrm rot="0" flipH="false" flipV="false">
            <a:off x="762000" y="5397500"/>
            <a:ext cx="7493000" cy="1079500"/>
          </a:xfrm>
          <a:prstGeom prst="roundRect">
            <a:avLst>
              <a:gd name="adj" fmla="val 0"/>
            </a:avLst>
          </a:prstGeom>
          <a:solidFill>
            <a:srgbClr val="FFF8DC">
              <a:alpha val="95000"/>
            </a:srgbClr>
          </a:solidFill>
          <a:ln cmpd="sng" cap="flat">
            <a:solidFill>
              <a:srgbClr val="E6DBAF">
                <a:alpha val="95000"/>
              </a:srgbClr>
            </a:solidFill>
            <a:prstDash val="solid"/>
            <a:round/>
          </a:ln>
        </p:spPr>
        <p:txBody>
          <a:bodyPr anchor="ctr" rtlCol="false" anchorCtr="false" vert="horz" wrap="square" lIns="0" rIns="0" tIns="0" bIns="0"/>
          <a:lstStyle/>
          <a:p>
            <a:pPr algn="ctr">
              <a:defRPr/>
            </a:pPr>
            <a:endParaRPr/>
          </a:p>
        </p:txBody>
      </p:sp>
      <p:sp>
        <p:nvSpPr>
          <p:cNvPr name="AutoShape 20" id="20"/>
          <p:cNvSpPr/>
          <p:nvPr/>
        </p:nvSpPr>
        <p:spPr>
          <a:xfrm rot="0" flipH="false" flipV="false">
            <a:off x="762000" y="5397500"/>
            <a:ext cx="50800" cy="1079500"/>
          </a:xfrm>
          <a:prstGeom prst="roundRect">
            <a:avLst>
              <a:gd name="adj" fmla="val 0"/>
            </a:avLst>
          </a:prstGeom>
          <a:solidFill>
            <a:srgbClr val="8B4513">
              <a:alpha val="100000"/>
            </a:srgbClr>
          </a:solidFill>
          <a:ln cmpd="sng" cap="flat">
            <a:solidFill>
              <a:srgbClr val="723204">
                <a:alpha val="100000"/>
              </a:srgbClr>
            </a:solidFill>
            <a:prstDash val="solid"/>
            <a:round/>
          </a:ln>
        </p:spPr>
        <p:txBody>
          <a:bodyPr anchor="ctr" rtlCol="false" anchorCtr="false" vert="horz" wrap="square" lIns="0" rIns="0" tIns="0" bIns="0"/>
          <a:lstStyle/>
          <a:p>
            <a:pPr algn="ctr">
              <a:defRPr/>
            </a:pPr>
            <a:endParaRPr/>
          </a:p>
        </p:txBody>
      </p:sp>
      <p:sp>
        <p:nvSpPr>
          <p:cNvPr name="AutoShape 21" id="21"/>
          <p:cNvSpPr/>
          <p:nvPr/>
        </p:nvSpPr>
        <p:spPr>
          <a:xfrm rot="0" flipH="false" flipV="false">
            <a:off x="1041400" y="5524500"/>
            <a:ext cx="7048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E342E"/>
                </a:solidFill>
                <a:latin typeface="Noto Sans SC"/>
                <a:ea typeface="Noto Sans SC"/>
                <a:cs typeface="Noto Sans SC"/>
                <a:sym typeface="Noto Sans SC"/>
              </a:rPr>
              <a:t>AI开发规范</a:t>
            </a:r>
            <a:endParaRPr lang="en-US" sz="1100"/>
          </a:p>
        </p:txBody>
      </p:sp>
      <p:sp>
        <p:nvSpPr>
          <p:cNvPr name="AutoShape 22" id="22"/>
          <p:cNvSpPr/>
          <p:nvPr/>
        </p:nvSpPr>
        <p:spPr>
          <a:xfrm rot="0" flipH="false" flipV="false">
            <a:off x="1041400" y="5905500"/>
            <a:ext cx="70485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false" i="false" strike="noStrike" u="none" sz="1200">
                <a:solidFill>
                  <a:srgbClr val="5C4033"/>
                </a:solidFill>
                <a:latin typeface="Noto Sans SC"/>
                <a:ea typeface="Noto Sans SC"/>
                <a:cs typeface="Noto Sans SC"/>
                <a:sym typeface="Noto Sans SC"/>
              </a:rPr>
              <a:t>使用OpenSpec进行AI开发，确保AI生成代码的规范性和一致性。</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9E6">
              <a:alpha val="90000"/>
            </a:srgbClr>
          </a:solidFill>
          <a:ln cmpd="sng" cap="flat">
            <a:solidFill>
              <a:srgbClr val="E6DBB8">
                <a:alpha val="90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7620000" cy="635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4E342E"/>
                </a:solidFill>
                <a:latin typeface="Noto Sans SC"/>
                <a:ea typeface="Noto Sans SC"/>
                <a:cs typeface="Noto Sans SC"/>
                <a:sym typeface="Noto Sans SC"/>
              </a:rPr>
              <a:t>02 统一技术栈要求</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10160000" y="660400"/>
            <a:ext cx="1778000" cy="533400"/>
          </a:xfrm>
          <a:prstGeom prst="rect">
            <a:avLst/>
          </a:prstGeom>
          <a:noFill/>
          <a:ln w="25400" cmpd="sng" cap="flat">
            <a:noFill/>
            <a:prstDash val="solid"/>
            <a:round/>
          </a:ln>
        </p:spPr>
      </p:pic>
      <p:sp>
        <p:nvSpPr>
          <p:cNvPr name="AutoShape 5" id="5"/>
          <p:cNvSpPr/>
          <p:nvPr/>
        </p:nvSpPr>
        <p:spPr>
          <a:xfrm rot="0" flipH="false" flipV="false">
            <a:off x="762000" y="1524000"/>
            <a:ext cx="7112000" cy="406400"/>
          </a:xfrm>
          <a:prstGeom prst="rect">
            <a:avLst/>
          </a:prstGeom>
          <a:noFill/>
          <a:ln w="12700" cmpd="sng" cap="flat">
            <a:noFill/>
            <a:prstDash val="solid"/>
            <a:round/>
          </a:ln>
        </p:spPr>
        <p:txBody>
          <a:bodyPr anchor="t" rtlCol="false" anchorCtr="false" vert="horz" wrap="square" lIns="0" rIns="0" tIns="0" bIns="0"/>
          <a:lstStyle/>
          <a:p>
            <a:pPr algn="l" marL="0" indent="0">
              <a:lnSpc>
                <a:spcPct val="100000"/>
              </a:lnSpc>
              <a:defRPr/>
            </a:pPr>
            <a:r>
              <a:rPr lang="en-US" b="true" i="false" strike="noStrike" u="none" sz="2000">
                <a:solidFill>
                  <a:srgbClr val="4E342E"/>
                </a:solidFill>
                <a:latin typeface="Noto Sans SC"/>
                <a:ea typeface="Noto Sans SC"/>
                <a:cs typeface="Noto Sans SC"/>
                <a:sym typeface="Noto Sans SC"/>
              </a:rPr>
              <a:t>后端技术栈</a:t>
            </a:r>
            <a:endParaRPr lang="en-US" sz="1100"/>
          </a:p>
        </p:txBody>
      </p:sp>
      <p:sp>
        <p:nvSpPr>
          <p:cNvPr name="AutoShape 6" id="6"/>
          <p:cNvSpPr/>
          <p:nvPr/>
        </p:nvSpPr>
        <p:spPr>
          <a:xfrm rot="0" flipH="false" flipV="false">
            <a:off x="762000" y="2032000"/>
            <a:ext cx="7112000" cy="1460500"/>
          </a:xfrm>
          <a:prstGeom prst="roundRect">
            <a:avLst>
              <a:gd name="adj" fmla="val 0"/>
            </a:avLst>
          </a:prstGeom>
          <a:solidFill>
            <a:srgbClr val="FFF5D7">
              <a:alpha val="80000"/>
            </a:srgbClr>
          </a:solidFill>
          <a:ln cmpd="sng" cap="flat">
            <a:solidFill>
              <a:srgbClr val="E6D7AB">
                <a:alpha val="80000"/>
              </a:srgbClr>
            </a:solidFill>
            <a:prstDash val="solid"/>
            <a:round/>
          </a:ln>
        </p:spPr>
        <p:txBody>
          <a:bodyPr anchor="ctr" rtlCol="false" anchorCtr="false" vert="horz" wrap="square" lIns="0" rIns="0" tIns="0" bIns="0"/>
          <a:lstStyle/>
          <a:p>
            <a:pPr algn="ctr">
              <a:defRPr/>
            </a:pPr>
            <a:endParaRPr/>
          </a:p>
        </p:txBody>
      </p:sp>
      <p:sp>
        <p:nvSpPr>
          <p:cNvPr name="AutoShape 7" id="7"/>
          <p:cNvSpPr/>
          <p:nvPr/>
        </p:nvSpPr>
        <p:spPr>
          <a:xfrm rot="0" flipH="false" flipV="false">
            <a:off x="762000" y="2032000"/>
            <a:ext cx="50800" cy="1460500"/>
          </a:xfrm>
          <a:prstGeom prst="roundRect">
            <a:avLst>
              <a:gd name="adj" fmla="val 0"/>
            </a:avLst>
          </a:prstGeom>
          <a:solidFill>
            <a:srgbClr val="4E342E">
              <a:alpha val="100000"/>
            </a:srgbClr>
          </a:solidFill>
          <a:ln cmpd="sng" cap="flat">
            <a:solidFill>
              <a:srgbClr val="351F1A">
                <a:alpha val="100000"/>
              </a:srgbClr>
            </a:solidFill>
            <a:prstDash val="solid"/>
            <a:round/>
          </a:ln>
        </p:spPr>
        <p:txBody>
          <a:bodyPr anchor="ctr" rtlCol="false" anchorCtr="false" vert="horz" wrap="square" lIns="0" rIns="0" tIns="0" bIns="0"/>
          <a:lstStyle/>
          <a:p>
            <a:pPr algn="ctr">
              <a:defRPr/>
            </a:pPr>
            <a:endParaRPr/>
          </a:p>
        </p:txBody>
      </p:sp>
      <p:sp>
        <p:nvSpPr>
          <p:cNvPr name="AutoShape 8" id="8"/>
          <p:cNvSpPr/>
          <p:nvPr/>
        </p:nvSpPr>
        <p:spPr>
          <a:xfrm rot="0" flipH="false" flipV="false">
            <a:off x="1016000" y="2133600"/>
            <a:ext cx="6731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E342E"/>
                </a:solidFill>
                <a:latin typeface="Noto Sans SC"/>
                <a:ea typeface="Noto Sans SC"/>
                <a:cs typeface="Noto Sans SC"/>
                <a:sym typeface="Noto Sans SC"/>
              </a:rPr>
              <a:t>编程语言:Python</a:t>
            </a:r>
            <a:r>
              <a:rPr lang="en-US" b="false" i="false" strike="noStrike" u="none" sz="1600">
                <a:solidFill>
                  <a:srgbClr val="4E342E"/>
                </a:solidFill>
                <a:latin typeface="Noto Sans SC"/>
                <a:ea typeface="Noto Sans SC"/>
                <a:cs typeface="Noto Sans SC"/>
                <a:sym typeface="Noto Sans SC"/>
              </a:rPr>
              <a:t>或</a:t>
            </a:r>
            <a:r>
              <a:rPr lang="en-US" b="true" i="false" strike="noStrike" u="none" sz="1600">
                <a:solidFill>
                  <a:srgbClr val="4E342E"/>
                </a:solidFill>
                <a:latin typeface="Noto Sans SC"/>
                <a:ea typeface="Noto Sans SC"/>
                <a:cs typeface="Noto Sans SC"/>
                <a:sym typeface="Noto Sans SC"/>
              </a:rPr>
              <a:t>Java</a:t>
            </a:r>
            <a:r>
              <a:rPr lang="en-US" b="false" i="false" strike="noStrike" u="none" sz="1600">
                <a:solidFill>
                  <a:srgbClr val="4E342E"/>
                </a:solidFill>
                <a:latin typeface="Noto Sans SC"/>
                <a:ea typeface="Noto Sans SC"/>
                <a:cs typeface="Noto Sans SC"/>
                <a:sym typeface="Noto Sans SC"/>
              </a:rPr>
              <a:t>,二选一。</a:t>
            </a:r>
            <a:endParaRPr lang="en-US" sz="1100"/>
          </a:p>
        </p:txBody>
      </p:sp>
      <p:sp>
        <p:nvSpPr>
          <p:cNvPr name="AutoShape 9" id="9"/>
          <p:cNvSpPr/>
          <p:nvPr/>
        </p:nvSpPr>
        <p:spPr>
          <a:xfrm rot="0" flipH="false" flipV="false">
            <a:off x="1016000" y="2540000"/>
            <a:ext cx="3238500" cy="825500"/>
          </a:xfrm>
          <a:prstGeom prst="roundRect">
            <a:avLst>
              <a:gd name="adj" fmla="val 0"/>
            </a:avLst>
          </a:prstGeom>
          <a:solidFill>
            <a:srgbClr val="FDECC4">
              <a:alpha val="70000"/>
            </a:srgbClr>
          </a:solidFill>
          <a:ln cmpd="sng" cap="flat">
            <a:solidFill>
              <a:srgbClr val="E4CD99">
                <a:alpha val="70000"/>
              </a:srgbClr>
            </a:solidFill>
            <a:prstDash val="solid"/>
            <a:round/>
          </a:ln>
        </p:spPr>
        <p:txBody>
          <a:bodyPr anchor="ctr" rtlCol="false" anchorCtr="false" vert="horz" wrap="square" lIns="0" rIns="0" tIns="0" bIns="0"/>
          <a:lstStyle/>
          <a:p>
            <a:pPr algn="ctr">
              <a:defRPr/>
            </a:pPr>
            <a:endParaRPr/>
          </a:p>
        </p:txBody>
      </p:sp>
      <p:sp>
        <p:nvSpPr>
          <p:cNvPr name="AutoShape 10" id="10"/>
          <p:cNvSpPr/>
          <p:nvPr/>
        </p:nvSpPr>
        <p:spPr>
          <a:xfrm rot="0" flipH="false" flipV="false">
            <a:off x="1143000" y="2578100"/>
            <a:ext cx="2984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300">
                <a:solidFill>
                  <a:srgbClr val="4E342E"/>
                </a:solidFill>
                <a:latin typeface="Noto Sans SC"/>
                <a:ea typeface="Noto Sans SC"/>
                <a:cs typeface="Noto Sans SC"/>
                <a:sym typeface="Noto Sans SC"/>
              </a:rPr>
              <a:t>选择Python:</a:t>
            </a:r>
            <a:endParaRPr lang="en-US" sz="1100"/>
          </a:p>
        </p:txBody>
      </p:sp>
      <p:sp>
        <p:nvSpPr>
          <p:cNvPr name="AutoShape 11" id="11"/>
          <p:cNvSpPr/>
          <p:nvPr/>
        </p:nvSpPr>
        <p:spPr>
          <a:xfrm rot="0" flipH="false" flipV="false">
            <a:off x="1143000" y="2844800"/>
            <a:ext cx="2984500" cy="4572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false" i="false" strike="noStrike" u="none" sz="1200">
                <a:solidFill>
                  <a:srgbClr val="6D4C41"/>
                </a:solidFill>
                <a:latin typeface="Noto Sans SC"/>
                <a:ea typeface="Noto Sans SC"/>
                <a:cs typeface="Noto Sans SC"/>
                <a:sym typeface="Noto Sans SC"/>
              </a:rPr>
              <a:t>推荐使用Django REST framework或FastAPI框架。</a:t>
            </a:r>
            <a:endParaRPr lang="en-US" sz="1100"/>
          </a:p>
        </p:txBody>
      </p:sp>
      <p:sp>
        <p:nvSpPr>
          <p:cNvPr name="AutoShape 12" id="12"/>
          <p:cNvSpPr/>
          <p:nvPr/>
        </p:nvSpPr>
        <p:spPr>
          <a:xfrm rot="0" flipH="false" flipV="false">
            <a:off x="4381500" y="2540000"/>
            <a:ext cx="3238500" cy="825500"/>
          </a:xfrm>
          <a:prstGeom prst="roundRect">
            <a:avLst>
              <a:gd name="adj" fmla="val 0"/>
            </a:avLst>
          </a:prstGeom>
          <a:solidFill>
            <a:srgbClr val="FDECC4">
              <a:alpha val="70000"/>
            </a:srgbClr>
          </a:solidFill>
          <a:ln cmpd="sng" cap="flat">
            <a:solidFill>
              <a:srgbClr val="E4CD99">
                <a:alpha val="70000"/>
              </a:srgbClr>
            </a:solid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4508500" y="2578100"/>
            <a:ext cx="2984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300">
                <a:solidFill>
                  <a:srgbClr val="4E342E"/>
                </a:solidFill>
                <a:latin typeface="Noto Sans SC"/>
                <a:ea typeface="Noto Sans SC"/>
                <a:cs typeface="Noto Sans SC"/>
                <a:sym typeface="Noto Sans SC"/>
              </a:rPr>
              <a:t>选择Java:</a:t>
            </a:r>
            <a:endParaRPr lang="en-US" sz="1100"/>
          </a:p>
        </p:txBody>
      </p:sp>
      <p:sp>
        <p:nvSpPr>
          <p:cNvPr name="AutoShape 14" id="14"/>
          <p:cNvSpPr/>
          <p:nvPr/>
        </p:nvSpPr>
        <p:spPr>
          <a:xfrm rot="0" flipH="false" flipV="false">
            <a:off x="4508500" y="2844800"/>
            <a:ext cx="2984500" cy="4572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false" i="false" strike="noStrike" u="none" sz="1200">
                <a:solidFill>
                  <a:srgbClr val="6D4C41"/>
                </a:solidFill>
                <a:latin typeface="Noto Sans SC"/>
                <a:ea typeface="Noto Sans SC"/>
                <a:cs typeface="Noto Sans SC"/>
                <a:sym typeface="Noto Sans SC"/>
              </a:rPr>
              <a:t>推荐使用Spring Boot框架。</a:t>
            </a:r>
            <a:endParaRPr lang="en-US" sz="1100"/>
          </a:p>
        </p:txBody>
      </p:sp>
      <p:sp>
        <p:nvSpPr>
          <p:cNvPr name="AutoShape 15" id="15"/>
          <p:cNvSpPr/>
          <p:nvPr/>
        </p:nvSpPr>
        <p:spPr>
          <a:xfrm rot="0" flipH="false" flipV="false">
            <a:off x="762000" y="3683000"/>
            <a:ext cx="50800" cy="762000"/>
          </a:xfrm>
          <a:prstGeom prst="roundRect">
            <a:avLst>
              <a:gd name="adj" fmla="val 0"/>
            </a:avLst>
          </a:prstGeom>
          <a:solidFill>
            <a:srgbClr val="4E342E">
              <a:alpha val="100000"/>
            </a:srgbClr>
          </a:solidFill>
          <a:ln cmpd="sng" cap="flat">
            <a:solidFill>
              <a:srgbClr val="351F1A">
                <a:alpha val="100000"/>
              </a:srgbClr>
            </a:solidFill>
            <a:prstDash val="solid"/>
            <a:round/>
          </a:ln>
        </p:spPr>
        <p:txBody>
          <a:bodyPr anchor="ctr" rtlCol="false" anchorCtr="false" vert="horz" wrap="square" lIns="0" rIns="0" tIns="0" bIns="0"/>
          <a:lstStyle/>
          <a:p>
            <a:pPr algn="ctr">
              <a:defRPr/>
            </a:pPr>
            <a:endParaRPr/>
          </a:p>
        </p:txBody>
      </p:sp>
      <p:sp>
        <p:nvSpPr>
          <p:cNvPr name="AutoShape 16" id="16"/>
          <p:cNvSpPr/>
          <p:nvPr/>
        </p:nvSpPr>
        <p:spPr>
          <a:xfrm rot="0" flipH="false" flipV="false">
            <a:off x="1016000" y="3683000"/>
            <a:ext cx="673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E342E"/>
                </a:solidFill>
                <a:latin typeface="Noto Sans SC"/>
                <a:ea typeface="Noto Sans SC"/>
                <a:cs typeface="Noto Sans SC"/>
                <a:sym typeface="Noto Sans SC"/>
              </a:rPr>
              <a:t>数据库:</a:t>
            </a:r>
            <a:r>
              <a:rPr lang="en-US" b="false" i="false" strike="noStrike" u="none" sz="1600">
                <a:solidFill>
                  <a:srgbClr val="4E342E"/>
                </a:solidFill>
                <a:latin typeface="Noto Sans SC"/>
                <a:ea typeface="Noto Sans SC"/>
                <a:cs typeface="Noto Sans SC"/>
                <a:sym typeface="Noto Sans SC"/>
              </a:rPr>
              <a:t>不限。</a:t>
            </a:r>
            <a:endParaRPr lang="en-US" sz="1100"/>
          </a:p>
        </p:txBody>
      </p:sp>
      <p:sp>
        <p:nvSpPr>
          <p:cNvPr name="AutoShape 17" id="17"/>
          <p:cNvSpPr/>
          <p:nvPr/>
        </p:nvSpPr>
        <p:spPr>
          <a:xfrm rot="0" flipH="false" flipV="false">
            <a:off x="1016000" y="4000500"/>
            <a:ext cx="67310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false" i="false" strike="noStrike" u="none" sz="1300">
                <a:solidFill>
                  <a:srgbClr val="6D4C41"/>
                </a:solidFill>
                <a:latin typeface="Noto Sans SC"/>
                <a:ea typeface="Noto Sans SC"/>
                <a:cs typeface="Noto Sans SC"/>
                <a:sym typeface="Noto Sans SC"/>
              </a:rPr>
              <a:t>推荐使用MySQL,PostgreSQL等关系型数据库。</a:t>
            </a:r>
            <a:endParaRPr lang="en-US" sz="1100"/>
          </a:p>
        </p:txBody>
      </p:sp>
      <p:sp>
        <p:nvSpPr>
          <p:cNvPr name="AutoShape 18" id="18"/>
          <p:cNvSpPr/>
          <p:nvPr/>
        </p:nvSpPr>
        <p:spPr>
          <a:xfrm rot="0" flipH="false" flipV="false">
            <a:off x="762000" y="4635500"/>
            <a:ext cx="50800" cy="762000"/>
          </a:xfrm>
          <a:prstGeom prst="roundRect">
            <a:avLst>
              <a:gd name="adj" fmla="val 0"/>
            </a:avLst>
          </a:prstGeom>
          <a:solidFill>
            <a:srgbClr val="4E342E">
              <a:alpha val="100000"/>
            </a:srgbClr>
          </a:solidFill>
          <a:ln cmpd="sng" cap="flat">
            <a:solidFill>
              <a:srgbClr val="351F1A">
                <a:alpha val="100000"/>
              </a:srgbClr>
            </a:solidFill>
            <a:prstDash val="solid"/>
            <a:round/>
          </a:ln>
        </p:spPr>
        <p:txBody>
          <a:bodyPr anchor="ctr" rtlCol="false" anchorCtr="false" vert="horz" wrap="square" lIns="0" rIns="0" tIns="0" bIns="0"/>
          <a:lstStyle/>
          <a:p>
            <a:pPr algn="ctr">
              <a:defRPr/>
            </a:pPr>
            <a:endParaRPr/>
          </a:p>
        </p:txBody>
      </p:sp>
      <p:sp>
        <p:nvSpPr>
          <p:cNvPr name="AutoShape 19" id="19"/>
          <p:cNvSpPr/>
          <p:nvPr/>
        </p:nvSpPr>
        <p:spPr>
          <a:xfrm rot="0" flipH="false" flipV="false">
            <a:off x="1016000" y="4635500"/>
            <a:ext cx="673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E342E"/>
                </a:solidFill>
                <a:latin typeface="Noto Sans SC"/>
                <a:ea typeface="Noto Sans SC"/>
                <a:cs typeface="Noto Sans SC"/>
                <a:sym typeface="Noto Sans SC"/>
              </a:rPr>
              <a:t>认证机制:</a:t>
            </a:r>
            <a:r>
              <a:rPr lang="en-US" b="false" i="false" strike="noStrike" u="none" sz="1600">
                <a:solidFill>
                  <a:srgbClr val="4E342E"/>
                </a:solidFill>
                <a:latin typeface="Noto Sans SC"/>
                <a:ea typeface="Noto Sans SC"/>
                <a:cs typeface="Noto Sans SC"/>
                <a:sym typeface="Noto Sans SC"/>
              </a:rPr>
              <a:t>必须使用</a:t>
            </a:r>
            <a:r>
              <a:rPr lang="en-US" b="true" i="false" strike="noStrike" u="none" sz="1600">
                <a:solidFill>
                  <a:srgbClr val="4E342E"/>
                </a:solidFill>
                <a:latin typeface="Noto Sans SC"/>
                <a:ea typeface="Noto Sans SC"/>
                <a:cs typeface="Noto Sans SC"/>
                <a:sym typeface="Noto Sans SC"/>
              </a:rPr>
              <a:t>JWT (JSON Web Token)</a:t>
            </a:r>
            <a:r>
              <a:rPr lang="en-US" b="false" i="false" strike="noStrike" u="none" sz="1600">
                <a:solidFill>
                  <a:srgbClr val="4E342E"/>
                </a:solidFill>
                <a:latin typeface="Noto Sans SC"/>
                <a:ea typeface="Noto Sans SC"/>
                <a:cs typeface="Noto Sans SC"/>
                <a:sym typeface="Noto Sans SC"/>
              </a:rPr>
              <a:t>进行用户认证。</a:t>
            </a:r>
            <a:endParaRPr lang="en-US" sz="1100"/>
          </a:p>
        </p:txBody>
      </p:sp>
      <p:sp>
        <p:nvSpPr>
          <p:cNvPr name="AutoShape 20" id="20"/>
          <p:cNvSpPr/>
          <p:nvPr/>
        </p:nvSpPr>
        <p:spPr>
          <a:xfrm rot="0" flipH="false" flipV="false">
            <a:off x="762000" y="5461000"/>
            <a:ext cx="50800" cy="1016000"/>
          </a:xfrm>
          <a:prstGeom prst="roundRect">
            <a:avLst>
              <a:gd name="adj" fmla="val 0"/>
            </a:avLst>
          </a:prstGeom>
          <a:solidFill>
            <a:srgbClr val="4E342E">
              <a:alpha val="100000"/>
            </a:srgbClr>
          </a:solidFill>
          <a:ln cmpd="sng" cap="flat">
            <a:solidFill>
              <a:srgbClr val="351F1A">
                <a:alpha val="100000"/>
              </a:srgbClr>
            </a:solidFill>
            <a:prstDash val="solid"/>
            <a:round/>
          </a:ln>
        </p:spPr>
        <p:txBody>
          <a:bodyPr anchor="ctr" rtlCol="false" anchorCtr="false" vert="horz" wrap="square" lIns="0" rIns="0" tIns="0" bIns="0"/>
          <a:lstStyle/>
          <a:p>
            <a:pPr algn="ctr">
              <a:defRPr/>
            </a:pPr>
            <a:endParaRPr/>
          </a:p>
        </p:txBody>
      </p:sp>
      <p:sp>
        <p:nvSpPr>
          <p:cNvPr name="AutoShape 21" id="21"/>
          <p:cNvSpPr/>
          <p:nvPr/>
        </p:nvSpPr>
        <p:spPr>
          <a:xfrm rot="0" flipH="false" flipV="false">
            <a:off x="1016000" y="5461000"/>
            <a:ext cx="673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E342E"/>
                </a:solidFill>
                <a:latin typeface="Noto Sans SC"/>
                <a:ea typeface="Noto Sans SC"/>
                <a:cs typeface="Noto Sans SC"/>
                <a:sym typeface="Noto Sans SC"/>
              </a:rPr>
              <a:t>其他建议:</a:t>
            </a:r>
            <a:endParaRPr lang="en-US" sz="1100"/>
          </a:p>
        </p:txBody>
      </p:sp>
      <p:sp>
        <p:nvSpPr>
          <p:cNvPr name="AutoShape 22" id="22"/>
          <p:cNvSpPr/>
          <p:nvPr/>
        </p:nvSpPr>
        <p:spPr>
          <a:xfrm rot="0" flipH="false" flipV="false">
            <a:off x="1016000" y="5778500"/>
            <a:ext cx="6731000" cy="635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300">
                <a:solidFill>
                  <a:srgbClr val="6D4C41"/>
                </a:solidFill>
                <a:latin typeface="Noto Sans SC"/>
                <a:ea typeface="Noto Sans SC"/>
                <a:cs typeface="Noto Sans SC"/>
                <a:sym typeface="Noto Sans SC"/>
              </a:rPr>
              <a:t>· 确保后端接口设计遵循RESTful风格。</a:t>
            </a:r>
            <a:r>
              <a:rPr lang="en-US" b="false" i="false" strike="noStrike" u="none" sz="1300">
                <a:solidFill>
                  <a:srgbClr val="6D4C41"/>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6D4C41"/>
                </a:solidFill>
                <a:latin typeface="Noto Sans SC"/>
                <a:ea typeface="Noto Sans SC"/>
                <a:cs typeface="Noto Sans SC"/>
                <a:sym typeface="Noto Sans SC"/>
              </a:rPr>
              <a:t>· 对敏感数据(如密码)进行加密存储。</a:t>
            </a:r>
          </a:p>
        </p:txBody>
      </p:sp>
      <p:pic>
        <p:nvPicPr>
          <p:cNvPr name="Picture 23" id="23"/>
          <p:cNvPicPr>
            <a:picLocks noChangeAspect="true"/>
          </p:cNvPicPr>
          <p:nvPr/>
        </p:nvPicPr>
        <p:blipFill>
          <a:blip r:embed="rId4"/>
          <a:srcRect l="31" r="31" t="0" b="0"/>
          <a:stretch>
            <a:fillRect/>
          </a:stretch>
        </p:blipFill>
        <p:spPr>
          <a:xfrm rot="0" flipH="false" flipV="false">
            <a:off x="8509000" y="2032000"/>
            <a:ext cx="1651000" cy="927100"/>
          </a:xfrm>
          <a:prstGeom prst="rect">
            <a:avLst/>
          </a:prstGeom>
          <a:noFill/>
          <a:ln w="25400" cmpd="sng" cap="flat">
            <a:noFill/>
            <a:prstDash val="solid"/>
            <a:round/>
          </a:ln>
        </p:spPr>
      </p:pic>
      <p:pic>
        <p:nvPicPr>
          <p:cNvPr name="Picture 24" id="24"/>
          <p:cNvPicPr>
            <a:picLocks noChangeAspect="true"/>
          </p:cNvPicPr>
          <p:nvPr/>
        </p:nvPicPr>
        <p:blipFill>
          <a:blip r:embed="rId5"/>
          <a:srcRect l="36" r="36" t="0" b="0"/>
          <a:stretch>
            <a:fillRect/>
          </a:stretch>
        </p:blipFill>
        <p:spPr>
          <a:xfrm rot="0" flipH="false" flipV="false">
            <a:off x="8636000" y="3213100"/>
            <a:ext cx="1143000" cy="2095500"/>
          </a:xfrm>
          <a:prstGeom prst="rect">
            <a:avLst/>
          </a:prstGeom>
          <a:noFill/>
          <a:ln w="25400" cmpd="sng" cap="flat">
            <a:noFill/>
            <a:prstDash val="solid"/>
            <a:round/>
          </a:ln>
        </p:spPr>
      </p:pic>
      <p:pic>
        <p:nvPicPr>
          <p:cNvPr name="Picture 25" id="25"/>
          <p:cNvPicPr>
            <a:picLocks noChangeAspect="true"/>
          </p:cNvPicPr>
          <p:nvPr/>
        </p:nvPicPr>
        <p:blipFill>
          <a:blip r:embed="rId6"/>
          <a:srcRect l="0" r="0" t="183" b="183"/>
          <a:stretch>
            <a:fillRect/>
          </a:stretch>
        </p:blipFill>
        <p:spPr>
          <a:xfrm rot="0" flipH="false" flipV="false">
            <a:off x="8636000" y="5334000"/>
            <a:ext cx="1460500" cy="1092200"/>
          </a:xfrm>
          <a:prstGeom prst="rect">
            <a:avLst/>
          </a:prstGeom>
          <a:noFill/>
          <a:ln w="25400" cmpd="sng" cap="flat">
            <a:noFill/>
            <a:prstDash val="solid"/>
            <a:round/>
          </a:ln>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BEB">
              <a:alpha val="92000"/>
            </a:srgbClr>
          </a:solidFill>
          <a:ln cmpd="sng" cap="flat">
            <a:solidFill>
              <a:srgbClr val="E6DDBD">
                <a:alpha val="92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9144000" cy="635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593F28"/>
                </a:solidFill>
                <a:latin typeface="Noto Sans SC"/>
                <a:ea typeface="Noto Sans SC"/>
                <a:cs typeface="Noto Sans SC"/>
                <a:sym typeface="Noto Sans SC"/>
              </a:rPr>
              <a:t>03 系统基础需求(基础必做,80分)</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10414000" y="660400"/>
            <a:ext cx="1651000" cy="495300"/>
          </a:xfrm>
          <a:prstGeom prst="rect">
            <a:avLst/>
          </a:prstGeom>
          <a:noFill/>
          <a:ln w="25400" cmpd="sng" cap="flat">
            <a:noFill/>
            <a:prstDash val="solid"/>
            <a:round/>
          </a:ln>
        </p:spPr>
      </p:pic>
      <p:sp>
        <p:nvSpPr>
          <p:cNvPr name="AutoShape 5" id="5"/>
          <p:cNvSpPr/>
          <p:nvPr/>
        </p:nvSpPr>
        <p:spPr>
          <a:xfrm rot="0" flipH="false" flipV="false">
            <a:off x="762000" y="1460500"/>
            <a:ext cx="71120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00000"/>
              </a:lnSpc>
              <a:defRPr/>
            </a:pPr>
            <a:r>
              <a:rPr lang="en-US" b="true" i="false" strike="noStrike" u="none" sz="1900">
                <a:solidFill>
                  <a:srgbClr val="593F28"/>
                </a:solidFill>
                <a:latin typeface="Noto Sans SC"/>
                <a:ea typeface="Noto Sans SC"/>
                <a:cs typeface="Noto Sans SC"/>
                <a:sym typeface="Noto Sans SC"/>
              </a:rPr>
              <a:t>系统概述:后台权限管理 + 财务收支记账系统</a:t>
            </a:r>
            <a:endParaRPr lang="en-US" sz="1100"/>
          </a:p>
        </p:txBody>
      </p:sp>
      <p:sp>
        <p:nvSpPr>
          <p:cNvPr name="AutoShape 6" id="6"/>
          <p:cNvSpPr/>
          <p:nvPr/>
        </p:nvSpPr>
        <p:spPr>
          <a:xfrm rot="0" flipH="false" flipV="false">
            <a:off x="762000" y="1905000"/>
            <a:ext cx="71120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400">
                <a:solidFill>
                  <a:srgbClr val="654D36"/>
                </a:solidFill>
                <a:latin typeface="Noto Sans SC"/>
                <a:ea typeface="Noto Sans SC"/>
                <a:cs typeface="Noto Sans SC"/>
                <a:sym typeface="Noto Sans SC"/>
              </a:rPr>
              <a:t>本系统旨在构建一个功能完整、权限严密的企业级后台应用。它包含两大核心模块:</a:t>
            </a:r>
            <a:endParaRPr lang="en-US" sz="1100"/>
          </a:p>
        </p:txBody>
      </p:sp>
      <p:sp>
        <p:nvSpPr>
          <p:cNvPr name="AutoShape 7" id="7"/>
          <p:cNvSpPr/>
          <p:nvPr/>
        </p:nvSpPr>
        <p:spPr>
          <a:xfrm rot="0" flipH="false" flipV="false">
            <a:off x="762000" y="2692400"/>
            <a:ext cx="7112000" cy="1206500"/>
          </a:xfrm>
          <a:prstGeom prst="roundRect">
            <a:avLst>
              <a:gd name="adj" fmla="val 0"/>
            </a:avLst>
          </a:prstGeom>
          <a:solidFill>
            <a:srgbClr val="FFF8E1">
              <a:alpha val="95000"/>
            </a:srgbClr>
          </a:solidFill>
          <a:ln cmpd="sng" cap="flat">
            <a:solidFill>
              <a:srgbClr val="E6DAB4">
                <a:alpha val="95000"/>
              </a:srgbClr>
            </a:solidFill>
            <a:prstDash val="solid"/>
            <a:round/>
          </a:ln>
        </p:spPr>
        <p:txBody>
          <a:bodyPr anchor="ctr" rtlCol="false" anchorCtr="false" vert="horz" wrap="square" lIns="0" rIns="0" tIns="0" bIns="0"/>
          <a:lstStyle/>
          <a:p>
            <a:pPr algn="ctr">
              <a:defRPr/>
            </a:pPr>
            <a:endParaRPr/>
          </a:p>
        </p:txBody>
      </p:sp>
      <p:sp>
        <p:nvSpPr>
          <p:cNvPr name="AutoShape 8" id="8"/>
          <p:cNvSpPr/>
          <p:nvPr/>
        </p:nvSpPr>
        <p:spPr>
          <a:xfrm rot="0" flipH="false" flipV="false">
            <a:off x="762000" y="2692400"/>
            <a:ext cx="50800" cy="1206500"/>
          </a:xfrm>
          <a:prstGeom prst="roundRect">
            <a:avLst>
              <a:gd name="adj" fmla="val 0"/>
            </a:avLst>
          </a:prstGeom>
          <a:solidFill>
            <a:srgbClr val="D9A95B">
              <a:alpha val="100000"/>
            </a:srgbClr>
          </a:solidFill>
          <a:ln cmpd="sng" cap="flat">
            <a:solidFill>
              <a:srgbClr val="C08E3D">
                <a:alpha val="100000"/>
              </a:srgbClr>
            </a:solidFill>
            <a:prstDash val="solid"/>
            <a:round/>
          </a:ln>
        </p:spPr>
        <p:txBody>
          <a:bodyPr anchor="ctr" rtlCol="false" anchorCtr="false" vert="horz" wrap="square" lIns="0" rIns="0" tIns="0" bIns="0"/>
          <a:lstStyle/>
          <a:p>
            <a:pPr algn="ctr">
              <a:defRPr/>
            </a:pPr>
            <a:endParaRPr/>
          </a:p>
        </p:txBody>
      </p:sp>
      <p:sp>
        <p:nvSpPr>
          <p:cNvPr name="AutoShape 9" id="9"/>
          <p:cNvSpPr/>
          <p:nvPr/>
        </p:nvSpPr>
        <p:spPr>
          <a:xfrm rot="0" flipH="false" flipV="false">
            <a:off x="1016000" y="2743200"/>
            <a:ext cx="660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593F28"/>
                </a:solidFill>
                <a:latin typeface="Noto Sans SC"/>
                <a:ea typeface="Noto Sans SC"/>
                <a:cs typeface="Noto Sans SC"/>
                <a:sym typeface="Noto Sans SC"/>
              </a:rPr>
              <a:t>【基础管理模块】</a:t>
            </a:r>
            <a:endParaRPr lang="en-US" sz="1100"/>
          </a:p>
        </p:txBody>
      </p:sp>
      <p:sp>
        <p:nvSpPr>
          <p:cNvPr name="AutoShape 10" id="10"/>
          <p:cNvSpPr/>
          <p:nvPr/>
        </p:nvSpPr>
        <p:spPr>
          <a:xfrm rot="0" flipH="false" flipV="false">
            <a:off x="1016000" y="3124200"/>
            <a:ext cx="6604000" cy="6985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300">
                <a:solidFill>
                  <a:srgbClr val="654D36"/>
                </a:solidFill>
                <a:latin typeface="Noto Sans SC"/>
                <a:ea typeface="Noto Sans SC"/>
                <a:cs typeface="Noto Sans SC"/>
                <a:sym typeface="Noto Sans SC"/>
              </a:rPr>
              <a:t>提供系统底层的用户、角色、菜单和权限管理能力,是所有业务功能的基石。</a:t>
            </a:r>
            <a:endParaRPr lang="en-US" sz="1100"/>
          </a:p>
        </p:txBody>
      </p:sp>
      <p:sp>
        <p:nvSpPr>
          <p:cNvPr name="AutoShape 11" id="11"/>
          <p:cNvSpPr/>
          <p:nvPr/>
        </p:nvSpPr>
        <p:spPr>
          <a:xfrm rot="0" flipH="false" flipV="false">
            <a:off x="762000" y="4025900"/>
            <a:ext cx="7112000" cy="1206500"/>
          </a:xfrm>
          <a:prstGeom prst="roundRect">
            <a:avLst>
              <a:gd name="adj" fmla="val 0"/>
            </a:avLst>
          </a:prstGeom>
          <a:solidFill>
            <a:srgbClr val="FFF8E1">
              <a:alpha val="95000"/>
            </a:srgbClr>
          </a:solidFill>
          <a:ln cmpd="sng" cap="flat">
            <a:solidFill>
              <a:srgbClr val="E6DAB4">
                <a:alpha val="95000"/>
              </a:srgbClr>
            </a:solidFill>
            <a:prstDash val="solid"/>
            <a:round/>
          </a:ln>
        </p:spPr>
        <p:txBody>
          <a:bodyPr anchor="ctr" rtlCol="false" anchorCtr="false" vert="horz" wrap="square" lIns="0" rIns="0" tIns="0" bIns="0"/>
          <a:lstStyle/>
          <a:p>
            <a:pPr algn="ctr">
              <a:defRPr/>
            </a:pPr>
            <a:endParaRPr/>
          </a:p>
        </p:txBody>
      </p:sp>
      <p:sp>
        <p:nvSpPr>
          <p:cNvPr name="AutoShape 12" id="12"/>
          <p:cNvSpPr/>
          <p:nvPr/>
        </p:nvSpPr>
        <p:spPr>
          <a:xfrm rot="0" flipH="false" flipV="false">
            <a:off x="762000" y="4025900"/>
            <a:ext cx="50800" cy="1206500"/>
          </a:xfrm>
          <a:prstGeom prst="roundRect">
            <a:avLst>
              <a:gd name="adj" fmla="val 0"/>
            </a:avLst>
          </a:prstGeom>
          <a:solidFill>
            <a:srgbClr val="D9A95B">
              <a:alpha val="100000"/>
            </a:srgbClr>
          </a:solidFill>
          <a:ln cmpd="sng" cap="flat">
            <a:solidFill>
              <a:srgbClr val="C08E3D">
                <a:alpha val="100000"/>
              </a:srgbClr>
            </a:solid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1016000" y="4076700"/>
            <a:ext cx="660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593F28"/>
                </a:solidFill>
                <a:latin typeface="Noto Sans SC"/>
                <a:ea typeface="Noto Sans SC"/>
                <a:cs typeface="Noto Sans SC"/>
                <a:sym typeface="Noto Sans SC"/>
              </a:rPr>
              <a:t>【收支账务管理模块】</a:t>
            </a:r>
            <a:endParaRPr lang="en-US" sz="1100"/>
          </a:p>
        </p:txBody>
      </p:sp>
      <p:sp>
        <p:nvSpPr>
          <p:cNvPr name="AutoShape 14" id="14"/>
          <p:cNvSpPr/>
          <p:nvPr/>
        </p:nvSpPr>
        <p:spPr>
          <a:xfrm rot="0" flipH="false" flipV="false">
            <a:off x="1016000" y="4457700"/>
            <a:ext cx="6604000" cy="6985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300">
                <a:solidFill>
                  <a:srgbClr val="654D36"/>
                </a:solidFill>
                <a:latin typeface="Noto Sans SC"/>
                <a:ea typeface="Noto Sans SC"/>
                <a:cs typeface="Noto Sans SC"/>
                <a:sym typeface="Noto Sans SC"/>
              </a:rPr>
              <a:t>实现核心的财务业务逻辑,包括收支记录、分类管理和数据统计。</a:t>
            </a:r>
            <a:endParaRPr lang="en-US" sz="1100"/>
          </a:p>
        </p:txBody>
      </p:sp>
      <p:sp>
        <p:nvSpPr>
          <p:cNvPr name="AutoShape 15" id="15"/>
          <p:cNvSpPr/>
          <p:nvPr/>
        </p:nvSpPr>
        <p:spPr>
          <a:xfrm rot="0" flipH="false" flipV="false">
            <a:off x="762000" y="5359400"/>
            <a:ext cx="7112000" cy="1041400"/>
          </a:xfrm>
          <a:prstGeom prst="roundRect">
            <a:avLst>
              <a:gd name="adj" fmla="val 0"/>
            </a:avLst>
          </a:prstGeom>
          <a:solidFill>
            <a:srgbClr val="FFF8E1">
              <a:alpha val="85000"/>
            </a:srgbClr>
          </a:solidFill>
          <a:ln cmpd="sng" cap="flat">
            <a:solidFill>
              <a:srgbClr val="E6DAB4">
                <a:alpha val="85000"/>
              </a:srgbClr>
            </a:solidFill>
            <a:prstDash val="solid"/>
            <a:round/>
          </a:ln>
        </p:spPr>
        <p:txBody>
          <a:bodyPr anchor="ctr" rtlCol="false" anchorCtr="false" vert="horz" wrap="square" lIns="0" rIns="0" tIns="0" bIns="0"/>
          <a:lstStyle/>
          <a:p>
            <a:pPr algn="ctr">
              <a:defRPr/>
            </a:pPr>
            <a:endParaRPr/>
          </a:p>
        </p:txBody>
      </p:sp>
      <p:sp>
        <p:nvSpPr>
          <p:cNvPr name="AutoShape 16" id="16"/>
          <p:cNvSpPr/>
          <p:nvPr/>
        </p:nvSpPr>
        <p:spPr>
          <a:xfrm rot="0" flipH="false" flipV="false">
            <a:off x="762000" y="5359400"/>
            <a:ext cx="50800" cy="1041400"/>
          </a:xfrm>
          <a:prstGeom prst="roundRect">
            <a:avLst>
              <a:gd name="adj" fmla="val 0"/>
            </a:avLst>
          </a:prstGeom>
          <a:solidFill>
            <a:srgbClr val="D9A95B">
              <a:alpha val="100000"/>
            </a:srgbClr>
          </a:solidFill>
          <a:ln cmpd="sng" cap="flat">
            <a:solidFill>
              <a:srgbClr val="C08E3D">
                <a:alpha val="100000"/>
              </a:srgbClr>
            </a:solidFill>
            <a:prstDash val="solid"/>
            <a:round/>
          </a:ln>
        </p:spPr>
        <p:txBody>
          <a:bodyPr anchor="ctr" rtlCol="false" anchorCtr="false" vert="horz" wrap="square" lIns="0" rIns="0" tIns="0" bIns="0"/>
          <a:lstStyle/>
          <a:p>
            <a:pPr algn="ctr">
              <a:defRPr/>
            </a:pPr>
            <a:endParaRPr/>
          </a:p>
        </p:txBody>
      </p:sp>
      <p:sp>
        <p:nvSpPr>
          <p:cNvPr name="AutoShape 17" id="17"/>
          <p:cNvSpPr/>
          <p:nvPr/>
        </p:nvSpPr>
        <p:spPr>
          <a:xfrm rot="0" flipH="false" flipV="false">
            <a:off x="1016000" y="5435600"/>
            <a:ext cx="254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593F28"/>
                </a:solidFill>
                <a:latin typeface="Noto Sans SC"/>
                <a:ea typeface="Noto Sans SC"/>
                <a:cs typeface="Noto Sans SC"/>
                <a:sym typeface="Noto Sans SC"/>
              </a:rPr>
              <a:t>核心要求</a:t>
            </a:r>
            <a:endParaRPr lang="en-US" sz="1100"/>
          </a:p>
        </p:txBody>
      </p:sp>
      <p:sp>
        <p:nvSpPr>
          <p:cNvPr name="AutoShape 18" id="18"/>
          <p:cNvSpPr/>
          <p:nvPr/>
        </p:nvSpPr>
        <p:spPr>
          <a:xfrm rot="0" flipH="false" flipV="false">
            <a:off x="1016000" y="5765800"/>
            <a:ext cx="6604000" cy="5842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300">
                <a:solidFill>
                  <a:srgbClr val="654D36"/>
                </a:solidFill>
                <a:latin typeface="Noto Sans SC"/>
                <a:ea typeface="Noto Sans SC"/>
                <a:cs typeface="Noto Sans SC"/>
                <a:sym typeface="Noto Sans SC"/>
              </a:rPr>
              <a:t>所有功能必须形成闭环,数据需持久化存储,权限隔离机制必须严格生效。</a:t>
            </a:r>
            <a:endParaRPr lang="en-US" sz="1100"/>
          </a:p>
        </p:txBody>
      </p:sp>
      <p:pic>
        <p:nvPicPr>
          <p:cNvPr name="Picture 19" id="19"/>
          <p:cNvPicPr>
            <a:picLocks noChangeAspect="true"/>
          </p:cNvPicPr>
          <p:nvPr/>
        </p:nvPicPr>
        <p:blipFill>
          <a:blip r:embed="rId4"/>
          <a:srcRect l="22115" r="22115" t="0" b="0"/>
          <a:stretch>
            <a:fillRect/>
          </a:stretch>
        </p:blipFill>
        <p:spPr>
          <a:xfrm rot="0" flipH="false" flipV="false">
            <a:off x="8128000" y="1460500"/>
            <a:ext cx="3683000" cy="4953000"/>
          </a:xfrm>
          <a:prstGeom prst="rect">
            <a:avLst/>
          </a:prstGeom>
          <a:noFill/>
          <a:ln w="25400" cmpd="sng" cap="flat">
            <a:noFill/>
            <a:prstDash val="solid"/>
            <a:round/>
          </a:ln>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BEB">
              <a:alpha val="90000"/>
            </a:srgbClr>
          </a:solidFill>
          <a:ln cmpd="sng" cap="flat">
            <a:solidFill>
              <a:srgbClr val="E6DDBD">
                <a:alpha val="90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7620000" cy="635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4D3019"/>
                </a:solidFill>
                <a:latin typeface="Noto Sans SC"/>
                <a:ea typeface="Noto Sans SC"/>
                <a:cs typeface="Noto Sans SC"/>
                <a:sym typeface="Noto Sans SC"/>
              </a:rPr>
              <a:t>03 系统基础需求</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10033000" y="660400"/>
            <a:ext cx="1651000" cy="495300"/>
          </a:xfrm>
          <a:prstGeom prst="rect">
            <a:avLst/>
          </a:prstGeom>
          <a:noFill/>
          <a:ln w="25400" cmpd="sng" cap="flat">
            <a:noFill/>
            <a:prstDash val="solid"/>
            <a:round/>
          </a:ln>
        </p:spPr>
      </p:pic>
      <p:sp>
        <p:nvSpPr>
          <p:cNvPr name="AutoShape 5" id="5"/>
          <p:cNvSpPr/>
          <p:nvPr/>
        </p:nvSpPr>
        <p:spPr>
          <a:xfrm rot="0" flipH="false" flipV="false">
            <a:off x="762000" y="1498600"/>
            <a:ext cx="6350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000">
                <a:solidFill>
                  <a:srgbClr val="4D3019"/>
                </a:solidFill>
                <a:latin typeface="Noto Sans SC"/>
                <a:ea typeface="Noto Sans SC"/>
                <a:cs typeface="Noto Sans SC"/>
                <a:sym typeface="Noto Sans SC"/>
              </a:rPr>
              <a:t>模块一:基础管理模块</a:t>
            </a:r>
            <a:endParaRPr lang="en-US" sz="1100"/>
          </a:p>
        </p:txBody>
      </p:sp>
      <p:sp>
        <p:nvSpPr>
          <p:cNvPr name="AutoShape 6" id="6"/>
          <p:cNvSpPr/>
          <p:nvPr/>
        </p:nvSpPr>
        <p:spPr>
          <a:xfrm rot="0" flipH="false" flipV="false">
            <a:off x="7239000" y="1498600"/>
            <a:ext cx="1016000" cy="431800"/>
          </a:xfrm>
          <a:prstGeom prst="roundRect">
            <a:avLst>
              <a:gd name="adj" fmla="val 41176"/>
            </a:avLst>
          </a:prstGeom>
          <a:solidFill>
            <a:srgbClr val="D97706">
              <a:alpha val="100000"/>
            </a:srgbClr>
          </a:solidFill>
          <a:ln cmpd="sng" cap="flat">
            <a:solidFill>
              <a:srgbClr val="C06700">
                <a:alpha val="100000"/>
              </a:srgbClr>
            </a:solidFill>
            <a:prstDash val="solid"/>
            <a:round/>
          </a:ln>
        </p:spPr>
        <p:txBody>
          <a:bodyPr anchor="ctr" rtlCol="false" anchorCtr="false" vert="horz" wrap="square" lIns="0" rIns="0" tIns="0" bIns="0"/>
          <a:lstStyle/>
          <a:p>
            <a:pPr algn="ctr">
              <a:defRPr/>
            </a:pPr>
            <a:endParaRPr/>
          </a:p>
        </p:txBody>
      </p:sp>
      <p:sp>
        <p:nvSpPr>
          <p:cNvPr name="AutoShape 7" id="7"/>
          <p:cNvSpPr/>
          <p:nvPr/>
        </p:nvSpPr>
        <p:spPr>
          <a:xfrm rot="0" flipH="false" flipV="false">
            <a:off x="7239000" y="1498600"/>
            <a:ext cx="1016000" cy="431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true" i="false" strike="noStrike" u="none" sz="1500">
                <a:solidFill>
                  <a:srgbClr val="FFFFFF"/>
                </a:solidFill>
                <a:latin typeface="Noto Sans SC"/>
                <a:ea typeface="Noto Sans SC"/>
                <a:cs typeface="Noto Sans SC"/>
                <a:sym typeface="Noto Sans SC"/>
              </a:rPr>
              <a:t>40分</a:t>
            </a:r>
            <a:endParaRPr lang="en-US" sz="1100"/>
          </a:p>
        </p:txBody>
      </p:sp>
      <p:sp>
        <p:nvSpPr>
          <p:cNvPr name="AutoShape 8" id="8"/>
          <p:cNvSpPr/>
          <p:nvPr/>
        </p:nvSpPr>
        <p:spPr>
          <a:xfrm rot="0" flipH="false" flipV="false">
            <a:off x="762000" y="2032000"/>
            <a:ext cx="106680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400">
                <a:solidFill>
                  <a:srgbClr val="4D3019">
                    <a:alpha val="80000"/>
                  </a:srgbClr>
                </a:solidFill>
                <a:latin typeface="Noto Sans SC"/>
                <a:ea typeface="Noto Sans SC"/>
                <a:cs typeface="Noto Sans SC"/>
                <a:sym typeface="Noto Sans SC"/>
              </a:rPr>
              <a:t>该模块是系统的安全基石,所有业务页面的访问都将依赖于此权限体系。</a:t>
            </a:r>
            <a:endParaRPr lang="en-US" sz="1100"/>
          </a:p>
        </p:txBody>
      </p:sp>
      <p:sp>
        <p:nvSpPr>
          <p:cNvPr name="AutoShape 9" id="9"/>
          <p:cNvSpPr/>
          <p:nvPr/>
        </p:nvSpPr>
        <p:spPr>
          <a:xfrm rot="0" flipH="false" flipV="false">
            <a:off x="762000" y="2540000"/>
            <a:ext cx="1066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4D3019"/>
                </a:solidFill>
                <a:latin typeface="Noto Sans SC"/>
                <a:ea typeface="Noto Sans SC"/>
                <a:cs typeface="Noto Sans SC"/>
                <a:sym typeface="Noto Sans SC"/>
              </a:rPr>
              <a:t>3.2.1 登录认证功能</a:t>
            </a:r>
            <a:r>
              <a:rPr lang="en-US" b="false" i="false" strike="noStrike" u="none" sz="1400">
                <a:solidFill>
                  <a:srgbClr val="4D3019">
                    <a:alpha val="70196"/>
                  </a:srgbClr>
                </a:solidFill>
                <a:latin typeface="Noto Sans SC"/>
                <a:ea typeface="Noto Sans SC"/>
                <a:cs typeface="Noto Sans SC"/>
                <a:sym typeface="Noto Sans SC"/>
              </a:rPr>
              <a:t>· 10分</a:t>
            </a:r>
            <a:endParaRPr lang="en-US" sz="1100"/>
          </a:p>
        </p:txBody>
      </p:sp>
      <p:sp>
        <p:nvSpPr>
          <p:cNvPr name="AutoShape 10" id="10"/>
          <p:cNvSpPr/>
          <p:nvPr/>
        </p:nvSpPr>
        <p:spPr>
          <a:xfrm rot="0" flipH="false" flipV="false">
            <a:off x="762000" y="3022600"/>
            <a:ext cx="10668000" cy="698500"/>
          </a:xfrm>
          <a:prstGeom prst="roundRect">
            <a:avLst>
              <a:gd name="adj" fmla="val 0"/>
            </a:avLst>
          </a:prstGeom>
          <a:solidFill>
            <a:srgbClr val="FEF3C7">
              <a:alpha val="80000"/>
            </a:srgbClr>
          </a:solidFill>
          <a:ln cmpd="sng" cap="flat">
            <a:solidFill>
              <a:srgbClr val="E5D69C">
                <a:alpha val="80000"/>
              </a:srgbClr>
            </a:solidFill>
            <a:prstDash val="solid"/>
            <a:round/>
          </a:ln>
        </p:spPr>
        <p:txBody>
          <a:bodyPr anchor="ctr" rtlCol="false" anchorCtr="false" vert="horz" wrap="square" lIns="0" rIns="0" tIns="0" bIns="0"/>
          <a:lstStyle/>
          <a:p>
            <a:pPr algn="ctr">
              <a:defRPr/>
            </a:pPr>
            <a:endParaRPr/>
          </a:p>
        </p:txBody>
      </p:sp>
      <p:sp>
        <p:nvSpPr>
          <p:cNvPr name="AutoShape 11" id="11"/>
          <p:cNvSpPr/>
          <p:nvPr/>
        </p:nvSpPr>
        <p:spPr>
          <a:xfrm rot="0" flipH="false" flipV="false">
            <a:off x="762000" y="3022600"/>
            <a:ext cx="50800" cy="698500"/>
          </a:xfrm>
          <a:prstGeom prst="roundRect">
            <a:avLst>
              <a:gd name="adj" fmla="val 0"/>
            </a:avLst>
          </a:prstGeom>
          <a:solidFill>
            <a:srgbClr val="4D3019">
              <a:alpha val="100000"/>
            </a:srgbClr>
          </a:solidFill>
          <a:ln cmpd="sng" cap="flat">
            <a:solidFill>
              <a:srgbClr val="341D0C">
                <a:alpha val="100000"/>
              </a:srgbClr>
            </a:solidFill>
            <a:prstDash val="solid"/>
            <a:round/>
          </a:ln>
        </p:spPr>
        <p:txBody>
          <a:bodyPr anchor="ctr" rtlCol="false" anchorCtr="false" vert="horz" wrap="square" lIns="0" rIns="0" tIns="0" bIns="0"/>
          <a:lstStyle/>
          <a:p>
            <a:pPr algn="ctr">
              <a:defRPr/>
            </a:pPr>
            <a:endParaRPr/>
          </a:p>
        </p:txBody>
      </p:sp>
      <p:sp>
        <p:nvSpPr>
          <p:cNvPr name="AutoShape 12" id="12"/>
          <p:cNvSpPr/>
          <p:nvPr/>
        </p:nvSpPr>
        <p:spPr>
          <a:xfrm rot="0" flipH="false" flipV="false">
            <a:off x="1041400" y="3022600"/>
            <a:ext cx="2540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600">
                <a:solidFill>
                  <a:srgbClr val="4D3019"/>
                </a:solidFill>
                <a:latin typeface="Noto Sans SC"/>
                <a:ea typeface="Noto Sans SC"/>
                <a:cs typeface="Noto Sans SC"/>
                <a:sym typeface="Noto Sans SC"/>
              </a:rPr>
              <a:t>账号密码登录</a:t>
            </a:r>
            <a:endParaRPr lang="en-US" sz="1100"/>
          </a:p>
        </p:txBody>
      </p:sp>
      <p:sp>
        <p:nvSpPr>
          <p:cNvPr name="AutoShape 13" id="13"/>
          <p:cNvSpPr/>
          <p:nvPr/>
        </p:nvSpPr>
        <p:spPr>
          <a:xfrm rot="0" flipH="false" flipV="false">
            <a:off x="1041400" y="3302000"/>
            <a:ext cx="1016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D3019">
                    <a:alpha val="80000"/>
                  </a:srgbClr>
                </a:solidFill>
                <a:latin typeface="Noto Sans SC"/>
                <a:ea typeface="Noto Sans SC"/>
                <a:cs typeface="Noto Sans SC"/>
                <a:sym typeface="Noto Sans SC"/>
              </a:rPr>
              <a:t>实现标准的登录界面和后端验证逻辑。</a:t>
            </a:r>
            <a:endParaRPr lang="en-US" sz="1100"/>
          </a:p>
        </p:txBody>
      </p:sp>
      <p:sp>
        <p:nvSpPr>
          <p:cNvPr name="AutoShape 14" id="14"/>
          <p:cNvSpPr/>
          <p:nvPr/>
        </p:nvSpPr>
        <p:spPr>
          <a:xfrm rot="0" flipH="false" flipV="false">
            <a:off x="762000" y="3771900"/>
            <a:ext cx="10668000" cy="698500"/>
          </a:xfrm>
          <a:prstGeom prst="roundRect">
            <a:avLst>
              <a:gd name="adj" fmla="val 0"/>
            </a:avLst>
          </a:prstGeom>
          <a:solidFill>
            <a:srgbClr val="FEF3C7">
              <a:alpha val="80000"/>
            </a:srgbClr>
          </a:solidFill>
          <a:ln cmpd="sng" cap="flat">
            <a:solidFill>
              <a:srgbClr val="E5D69C">
                <a:alpha val="80000"/>
              </a:srgbClr>
            </a:solidFill>
            <a:prstDash val="solid"/>
            <a:round/>
          </a:ln>
        </p:spPr>
        <p:txBody>
          <a:bodyPr anchor="ctr" rtlCol="false" anchorCtr="false" vert="horz" wrap="square" lIns="0" rIns="0" tIns="0" bIns="0"/>
          <a:lstStyle/>
          <a:p>
            <a:pPr algn="ctr">
              <a:defRPr/>
            </a:pPr>
            <a:endParaRPr/>
          </a:p>
        </p:txBody>
      </p:sp>
      <p:sp>
        <p:nvSpPr>
          <p:cNvPr name="AutoShape 15" id="15"/>
          <p:cNvSpPr/>
          <p:nvPr/>
        </p:nvSpPr>
        <p:spPr>
          <a:xfrm rot="0" flipH="false" flipV="false">
            <a:off x="762000" y="3771900"/>
            <a:ext cx="50800" cy="698500"/>
          </a:xfrm>
          <a:prstGeom prst="roundRect">
            <a:avLst>
              <a:gd name="adj" fmla="val 0"/>
            </a:avLst>
          </a:prstGeom>
          <a:solidFill>
            <a:srgbClr val="4D3019">
              <a:alpha val="100000"/>
            </a:srgbClr>
          </a:solidFill>
          <a:ln cmpd="sng" cap="flat">
            <a:solidFill>
              <a:srgbClr val="341D0C">
                <a:alpha val="100000"/>
              </a:srgbClr>
            </a:solidFill>
            <a:prstDash val="solid"/>
            <a:round/>
          </a:ln>
        </p:spPr>
        <p:txBody>
          <a:bodyPr anchor="ctr" rtlCol="false" anchorCtr="false" vert="horz" wrap="square" lIns="0" rIns="0" tIns="0" bIns="0"/>
          <a:lstStyle/>
          <a:p>
            <a:pPr algn="ctr">
              <a:defRPr/>
            </a:pPr>
            <a:endParaRPr/>
          </a:p>
        </p:txBody>
      </p:sp>
      <p:sp>
        <p:nvSpPr>
          <p:cNvPr name="AutoShape 16" id="16"/>
          <p:cNvSpPr/>
          <p:nvPr/>
        </p:nvSpPr>
        <p:spPr>
          <a:xfrm rot="0" flipH="false" flipV="false">
            <a:off x="1041400" y="3771900"/>
            <a:ext cx="2540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600">
                <a:solidFill>
                  <a:srgbClr val="4D3019"/>
                </a:solidFill>
                <a:latin typeface="Noto Sans SC"/>
                <a:ea typeface="Noto Sans SC"/>
                <a:cs typeface="Noto Sans SC"/>
                <a:sym typeface="Noto Sans SC"/>
              </a:rPr>
              <a:t>JWT令牌机制</a:t>
            </a:r>
            <a:endParaRPr lang="en-US" sz="1100"/>
          </a:p>
        </p:txBody>
      </p:sp>
      <p:sp>
        <p:nvSpPr>
          <p:cNvPr name="AutoShape 17" id="17"/>
          <p:cNvSpPr/>
          <p:nvPr/>
        </p:nvSpPr>
        <p:spPr>
          <a:xfrm rot="0" flipH="false" flipV="false">
            <a:off x="1041400" y="4051300"/>
            <a:ext cx="1016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D3019">
                    <a:alpha val="80000"/>
                  </a:srgbClr>
                </a:solidFill>
                <a:latin typeface="Noto Sans SC"/>
                <a:ea typeface="Noto Sans SC"/>
                <a:cs typeface="Noto Sans SC"/>
                <a:sym typeface="Noto Sans SC"/>
              </a:rPr>
              <a:t>登录成功后签发JWT令牌,前端存储并在后续请求中携带。</a:t>
            </a:r>
            <a:endParaRPr lang="en-US" sz="1100"/>
          </a:p>
        </p:txBody>
      </p:sp>
      <p:sp>
        <p:nvSpPr>
          <p:cNvPr name="AutoShape 18" id="18"/>
          <p:cNvSpPr/>
          <p:nvPr/>
        </p:nvSpPr>
        <p:spPr>
          <a:xfrm rot="0" flipH="false" flipV="false">
            <a:off x="762000" y="4521200"/>
            <a:ext cx="10668000" cy="698500"/>
          </a:xfrm>
          <a:prstGeom prst="roundRect">
            <a:avLst>
              <a:gd name="adj" fmla="val 0"/>
            </a:avLst>
          </a:prstGeom>
          <a:solidFill>
            <a:srgbClr val="FEF3C7">
              <a:alpha val="80000"/>
            </a:srgbClr>
          </a:solidFill>
          <a:ln cmpd="sng" cap="flat">
            <a:solidFill>
              <a:srgbClr val="E5D69C">
                <a:alpha val="80000"/>
              </a:srgbClr>
            </a:solidFill>
            <a:prstDash val="solid"/>
            <a:round/>
          </a:ln>
        </p:spPr>
        <p:txBody>
          <a:bodyPr anchor="ctr" rtlCol="false" anchorCtr="false" vert="horz" wrap="square" lIns="0" rIns="0" tIns="0" bIns="0"/>
          <a:lstStyle/>
          <a:p>
            <a:pPr algn="ctr">
              <a:defRPr/>
            </a:pPr>
            <a:endParaRPr/>
          </a:p>
        </p:txBody>
      </p:sp>
      <p:sp>
        <p:nvSpPr>
          <p:cNvPr name="AutoShape 19" id="19"/>
          <p:cNvSpPr/>
          <p:nvPr/>
        </p:nvSpPr>
        <p:spPr>
          <a:xfrm rot="0" flipH="false" flipV="false">
            <a:off x="762000" y="4521200"/>
            <a:ext cx="50800" cy="698500"/>
          </a:xfrm>
          <a:prstGeom prst="roundRect">
            <a:avLst>
              <a:gd name="adj" fmla="val 0"/>
            </a:avLst>
          </a:prstGeom>
          <a:solidFill>
            <a:srgbClr val="4D3019">
              <a:alpha val="100000"/>
            </a:srgbClr>
          </a:solidFill>
          <a:ln cmpd="sng" cap="flat">
            <a:solidFill>
              <a:srgbClr val="341D0C">
                <a:alpha val="100000"/>
              </a:srgbClr>
            </a:solidFill>
            <a:prstDash val="solid"/>
            <a:round/>
          </a:ln>
        </p:spPr>
        <p:txBody>
          <a:bodyPr anchor="ctr" rtlCol="false" anchorCtr="false" vert="horz" wrap="square" lIns="0" rIns="0" tIns="0" bIns="0"/>
          <a:lstStyle/>
          <a:p>
            <a:pPr algn="ctr">
              <a:defRPr/>
            </a:pPr>
            <a:endParaRPr/>
          </a:p>
        </p:txBody>
      </p:sp>
      <p:sp>
        <p:nvSpPr>
          <p:cNvPr name="AutoShape 20" id="20"/>
          <p:cNvSpPr/>
          <p:nvPr/>
        </p:nvSpPr>
        <p:spPr>
          <a:xfrm rot="0" flipH="false" flipV="false">
            <a:off x="1041400" y="4521200"/>
            <a:ext cx="2540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600">
                <a:solidFill>
                  <a:srgbClr val="4D3019"/>
                </a:solidFill>
                <a:latin typeface="Noto Sans SC"/>
                <a:ea typeface="Noto Sans SC"/>
                <a:cs typeface="Noto Sans SC"/>
                <a:sym typeface="Noto Sans SC"/>
              </a:rPr>
              <a:t>令牌安全</a:t>
            </a:r>
            <a:endParaRPr lang="en-US" sz="1100"/>
          </a:p>
        </p:txBody>
      </p:sp>
      <p:sp>
        <p:nvSpPr>
          <p:cNvPr name="AutoShape 21" id="21"/>
          <p:cNvSpPr/>
          <p:nvPr/>
        </p:nvSpPr>
        <p:spPr>
          <a:xfrm rot="0" flipH="false" flipV="false">
            <a:off x="1041400" y="4800600"/>
            <a:ext cx="1016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D3019">
                    <a:alpha val="80000"/>
                  </a:srgbClr>
                </a:solidFill>
                <a:latin typeface="Noto Sans SC"/>
                <a:ea typeface="Noto Sans SC"/>
                <a:cs typeface="Noto Sans SC"/>
                <a:sym typeface="Noto Sans SC"/>
              </a:rPr>
              <a:t>设置合理的过期时间,实现自动登出。</a:t>
            </a:r>
            <a:endParaRPr lang="en-US" sz="1100"/>
          </a:p>
        </p:txBody>
      </p:sp>
      <p:sp>
        <p:nvSpPr>
          <p:cNvPr name="AutoShape 22" id="22"/>
          <p:cNvSpPr/>
          <p:nvPr/>
        </p:nvSpPr>
        <p:spPr>
          <a:xfrm rot="0" flipH="false" flipV="false">
            <a:off x="762000" y="5232400"/>
            <a:ext cx="10668000" cy="698500"/>
          </a:xfrm>
          <a:prstGeom prst="roundRect">
            <a:avLst>
              <a:gd name="adj" fmla="val 0"/>
            </a:avLst>
          </a:prstGeom>
          <a:solidFill>
            <a:srgbClr val="FEF3C7">
              <a:alpha val="80000"/>
            </a:srgbClr>
          </a:solidFill>
          <a:ln cmpd="sng" cap="flat">
            <a:solidFill>
              <a:srgbClr val="E5D69C">
                <a:alpha val="80000"/>
              </a:srgbClr>
            </a:solidFill>
            <a:prstDash val="solid"/>
            <a:round/>
          </a:ln>
        </p:spPr>
        <p:txBody>
          <a:bodyPr anchor="ctr" rtlCol="false" anchorCtr="false" vert="horz" wrap="square" lIns="0" rIns="0" tIns="0" bIns="0"/>
          <a:lstStyle/>
          <a:p>
            <a:pPr algn="ctr">
              <a:defRPr/>
            </a:pPr>
            <a:endParaRPr/>
          </a:p>
        </p:txBody>
      </p:sp>
      <p:sp>
        <p:nvSpPr>
          <p:cNvPr name="AutoShape 23" id="23"/>
          <p:cNvSpPr/>
          <p:nvPr/>
        </p:nvSpPr>
        <p:spPr>
          <a:xfrm rot="0" flipH="false" flipV="false">
            <a:off x="762000" y="5232400"/>
            <a:ext cx="50800" cy="698500"/>
          </a:xfrm>
          <a:prstGeom prst="roundRect">
            <a:avLst>
              <a:gd name="adj" fmla="val 0"/>
            </a:avLst>
          </a:prstGeom>
          <a:solidFill>
            <a:srgbClr val="4D3019">
              <a:alpha val="100000"/>
            </a:srgbClr>
          </a:solidFill>
          <a:ln cmpd="sng" cap="flat">
            <a:solidFill>
              <a:srgbClr val="341D0C">
                <a:alpha val="100000"/>
              </a:srgbClr>
            </a:solidFill>
            <a:prstDash val="solid"/>
            <a:round/>
          </a:ln>
        </p:spPr>
        <p:txBody>
          <a:bodyPr anchor="ctr" rtlCol="false" anchorCtr="false" vert="horz" wrap="square" lIns="0" rIns="0" tIns="0" bIns="0"/>
          <a:lstStyle/>
          <a:p>
            <a:pPr algn="ctr">
              <a:defRPr/>
            </a:pPr>
            <a:endParaRPr/>
          </a:p>
        </p:txBody>
      </p:sp>
      <p:sp>
        <p:nvSpPr>
          <p:cNvPr name="AutoShape 24" id="24"/>
          <p:cNvSpPr/>
          <p:nvPr/>
        </p:nvSpPr>
        <p:spPr>
          <a:xfrm rot="0" flipH="false" flipV="false">
            <a:off x="1041400" y="5232400"/>
            <a:ext cx="2540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600">
                <a:solidFill>
                  <a:srgbClr val="4D3019"/>
                </a:solidFill>
                <a:latin typeface="Noto Sans SC"/>
                <a:ea typeface="Noto Sans SC"/>
                <a:cs typeface="Noto Sans SC"/>
                <a:sym typeface="Noto Sans SC"/>
              </a:rPr>
              <a:t>前端路由守卫</a:t>
            </a:r>
            <a:endParaRPr lang="en-US" sz="1100"/>
          </a:p>
        </p:txBody>
      </p:sp>
      <p:sp>
        <p:nvSpPr>
          <p:cNvPr name="AutoShape 25" id="25"/>
          <p:cNvSpPr/>
          <p:nvPr/>
        </p:nvSpPr>
        <p:spPr>
          <a:xfrm rot="0" flipH="false" flipV="false">
            <a:off x="1041400" y="5511800"/>
            <a:ext cx="1016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D3019">
                    <a:alpha val="80000"/>
                  </a:srgbClr>
                </a:solidFill>
                <a:latin typeface="Noto Sans SC"/>
                <a:ea typeface="Noto Sans SC"/>
                <a:cs typeface="Noto Sans SC"/>
                <a:sym typeface="Noto Sans SC"/>
              </a:rPr>
              <a:t>未登录用户访问受保护页面时,自动跳转至登录页。</a:t>
            </a:r>
            <a:endParaRPr lang="en-US" sz="1100"/>
          </a:p>
        </p:txBody>
      </p:sp>
      <p:sp>
        <p:nvSpPr>
          <p:cNvPr name="AutoShape 26" id="26"/>
          <p:cNvSpPr/>
          <p:nvPr/>
        </p:nvSpPr>
        <p:spPr>
          <a:xfrm rot="0" flipH="false" flipV="false">
            <a:off x="762000" y="5943600"/>
            <a:ext cx="10668000" cy="698500"/>
          </a:xfrm>
          <a:prstGeom prst="roundRect">
            <a:avLst>
              <a:gd name="adj" fmla="val 0"/>
            </a:avLst>
          </a:prstGeom>
          <a:solidFill>
            <a:srgbClr val="FEF3C7">
              <a:alpha val="80000"/>
            </a:srgbClr>
          </a:solidFill>
          <a:ln cmpd="sng" cap="flat">
            <a:solidFill>
              <a:srgbClr val="E5D69C">
                <a:alpha val="80000"/>
              </a:srgbClr>
            </a:solidFill>
            <a:prstDash val="solid"/>
            <a:round/>
          </a:ln>
        </p:spPr>
        <p:txBody>
          <a:bodyPr anchor="ctr" rtlCol="false" anchorCtr="false" vert="horz" wrap="square" lIns="0" rIns="0" tIns="0" bIns="0"/>
          <a:lstStyle/>
          <a:p>
            <a:pPr algn="ctr">
              <a:defRPr/>
            </a:pPr>
            <a:endParaRPr/>
          </a:p>
        </p:txBody>
      </p:sp>
      <p:sp>
        <p:nvSpPr>
          <p:cNvPr name="AutoShape 27" id="27"/>
          <p:cNvSpPr/>
          <p:nvPr/>
        </p:nvSpPr>
        <p:spPr>
          <a:xfrm rot="0" flipH="false" flipV="false">
            <a:off x="762000" y="5943600"/>
            <a:ext cx="50800" cy="698500"/>
          </a:xfrm>
          <a:prstGeom prst="roundRect">
            <a:avLst>
              <a:gd name="adj" fmla="val 0"/>
            </a:avLst>
          </a:prstGeom>
          <a:solidFill>
            <a:srgbClr val="4D3019">
              <a:alpha val="100000"/>
            </a:srgbClr>
          </a:solidFill>
          <a:ln cmpd="sng" cap="flat">
            <a:solidFill>
              <a:srgbClr val="341D0C">
                <a:alpha val="100000"/>
              </a:srgbClr>
            </a:solidFill>
            <a:prstDash val="solid"/>
            <a:round/>
          </a:ln>
        </p:spPr>
        <p:txBody>
          <a:bodyPr anchor="ctr" rtlCol="false" anchorCtr="false" vert="horz" wrap="square" lIns="0" rIns="0" tIns="0" bIns="0"/>
          <a:lstStyle/>
          <a:p>
            <a:pPr algn="ctr">
              <a:defRPr/>
            </a:pPr>
            <a:endParaRPr/>
          </a:p>
        </p:txBody>
      </p:sp>
      <p:sp>
        <p:nvSpPr>
          <p:cNvPr name="AutoShape 28" id="28"/>
          <p:cNvSpPr/>
          <p:nvPr/>
        </p:nvSpPr>
        <p:spPr>
          <a:xfrm rot="0" flipH="false" flipV="false">
            <a:off x="1041400" y="5943600"/>
            <a:ext cx="2540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600">
                <a:solidFill>
                  <a:srgbClr val="4D3019"/>
                </a:solidFill>
                <a:latin typeface="Noto Sans SC"/>
                <a:ea typeface="Noto Sans SC"/>
                <a:cs typeface="Noto Sans SC"/>
                <a:sym typeface="Noto Sans SC"/>
              </a:rPr>
              <a:t>密码安全</a:t>
            </a:r>
            <a:endParaRPr lang="en-US" sz="1100"/>
          </a:p>
        </p:txBody>
      </p:sp>
      <p:sp>
        <p:nvSpPr>
          <p:cNvPr name="AutoShape 29" id="29"/>
          <p:cNvSpPr/>
          <p:nvPr/>
        </p:nvSpPr>
        <p:spPr>
          <a:xfrm rot="0" flipH="false" flipV="false">
            <a:off x="1041400" y="6223000"/>
            <a:ext cx="1016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D3019">
                    <a:alpha val="80000"/>
                  </a:srgbClr>
                </a:solidFill>
                <a:latin typeface="Noto Sans SC"/>
                <a:ea typeface="Noto Sans SC"/>
                <a:cs typeface="Noto Sans SC"/>
                <a:sym typeface="Noto Sans SC"/>
              </a:rPr>
              <a:t>用户密码在后端必须通过哈希算法加密存储,</a:t>
            </a:r>
            <a:r>
              <a:rPr lang="en-US" b="true" i="false" strike="noStrike" u="none" sz="1300">
                <a:solidFill>
                  <a:srgbClr val="4D3019"/>
                </a:solidFill>
                <a:latin typeface="Noto Sans SC"/>
                <a:ea typeface="Noto Sans SC"/>
                <a:cs typeface="Noto Sans SC"/>
                <a:sym typeface="Noto Sans SC"/>
              </a:rPr>
              <a:t>禁止明文保存</a:t>
            </a:r>
            <a:r>
              <a:rPr lang="en-US" b="false" i="false" strike="noStrike" u="none" sz="1300">
                <a:solidFill>
                  <a:srgbClr val="4D3019">
                    <a:alpha val="80000"/>
                  </a:srgbClr>
                </a:solidFill>
                <a:latin typeface="Noto Sans SC"/>
                <a:ea typeface="Noto Sans SC"/>
                <a:cs typeface="Noto Sans SC"/>
                <a:sym typeface="Noto Sans SC"/>
              </a:rPr>
              <a:t>。</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9EB">
              <a:alpha val="90000"/>
            </a:srgbClr>
          </a:solidFill>
          <a:ln cmpd="sng" cap="flat">
            <a:solidFill>
              <a:srgbClr val="E6D9BD">
                <a:alpha val="90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7620000" cy="5842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57331C"/>
                </a:solidFill>
                <a:latin typeface="Noto Sans SC"/>
                <a:ea typeface="Noto Sans SC"/>
                <a:cs typeface="Noto Sans SC"/>
                <a:sym typeface="Noto Sans SC"/>
              </a:rPr>
              <a:t>03 系统基础需求</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10287000" y="635000"/>
            <a:ext cx="1651000" cy="495300"/>
          </a:xfrm>
          <a:prstGeom prst="rect">
            <a:avLst/>
          </a:prstGeom>
          <a:noFill/>
          <a:ln w="25400" cmpd="sng" cap="flat">
            <a:noFill/>
            <a:prstDash val="solid"/>
            <a:round/>
          </a:ln>
        </p:spPr>
      </p:pic>
      <p:sp>
        <p:nvSpPr>
          <p:cNvPr name="AutoShape 5" id="5"/>
          <p:cNvSpPr/>
          <p:nvPr/>
        </p:nvSpPr>
        <p:spPr>
          <a:xfrm rot="0" flipH="false" flipV="false">
            <a:off x="762000" y="1422400"/>
            <a:ext cx="736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000">
                <a:solidFill>
                  <a:srgbClr val="57331C"/>
                </a:solidFill>
                <a:latin typeface="Noto Sans SC"/>
                <a:ea typeface="Noto Sans SC"/>
                <a:cs typeface="Noto Sans SC"/>
                <a:sym typeface="Noto Sans SC"/>
              </a:rPr>
              <a:t>模块一:基础管理模块</a:t>
            </a:r>
            <a:r>
              <a:rPr lang="en-US" b="false" i="false" strike="noStrike" u="none" sz="1600">
                <a:solidFill>
                  <a:srgbClr val="8D6649"/>
                </a:solidFill>
                <a:latin typeface="Noto Sans SC"/>
                <a:ea typeface="Noto Sans SC"/>
                <a:cs typeface="Noto Sans SC"/>
                <a:sym typeface="Noto Sans SC"/>
              </a:rPr>
              <a:t>· 40分</a:t>
            </a:r>
            <a:endParaRPr lang="en-US" sz="1100"/>
          </a:p>
        </p:txBody>
      </p:sp>
      <p:sp>
        <p:nvSpPr>
          <p:cNvPr name="AutoShape 6" id="6"/>
          <p:cNvSpPr/>
          <p:nvPr/>
        </p:nvSpPr>
        <p:spPr>
          <a:xfrm rot="0" flipH="false" flipV="false">
            <a:off x="762000" y="1968500"/>
            <a:ext cx="7366000" cy="1333500"/>
          </a:xfrm>
          <a:prstGeom prst="roundRect">
            <a:avLst>
              <a:gd name="adj" fmla="val 0"/>
            </a:avLst>
          </a:prstGeom>
          <a:solidFill>
            <a:srgbClr val="FFFFFF">
              <a:alpha val="85000"/>
            </a:srgbClr>
          </a:solidFill>
          <a:ln cmpd="sng" cap="flat">
            <a:solidFill>
              <a:srgbClr val="E6CFCF">
                <a:alpha val="85000"/>
              </a:srgbClr>
            </a:solidFill>
            <a:prstDash val="solid"/>
            <a:round/>
          </a:ln>
        </p:spPr>
        <p:txBody>
          <a:bodyPr anchor="ctr" rtlCol="false" anchorCtr="false" vert="horz" wrap="square" lIns="0" rIns="0" tIns="0" bIns="0"/>
          <a:lstStyle/>
          <a:p>
            <a:pPr algn="ctr">
              <a:defRPr/>
            </a:pPr>
            <a:endParaRPr/>
          </a:p>
        </p:txBody>
      </p:sp>
      <p:sp>
        <p:nvSpPr>
          <p:cNvPr name="AutoShape 7" id="7"/>
          <p:cNvSpPr/>
          <p:nvPr/>
        </p:nvSpPr>
        <p:spPr>
          <a:xfrm rot="0" flipH="false" flipV="false">
            <a:off x="762000" y="1968500"/>
            <a:ext cx="50800" cy="1333500"/>
          </a:xfrm>
          <a:prstGeom prst="roundRect">
            <a:avLst>
              <a:gd name="adj" fmla="val 0"/>
            </a:avLst>
          </a:prstGeom>
          <a:solidFill>
            <a:srgbClr val="57331C">
              <a:alpha val="100000"/>
            </a:srgbClr>
          </a:solidFill>
          <a:ln cmpd="sng" cap="flat">
            <a:solidFill>
              <a:srgbClr val="3E200E">
                <a:alpha val="100000"/>
              </a:srgbClr>
            </a:solidFill>
            <a:prstDash val="solid"/>
            <a:round/>
          </a:ln>
        </p:spPr>
        <p:txBody>
          <a:bodyPr anchor="ctr" rtlCol="false" anchorCtr="false" vert="horz" wrap="square" lIns="0" rIns="0" tIns="0" bIns="0"/>
          <a:lstStyle/>
          <a:p>
            <a:pPr algn="ctr">
              <a:defRPr/>
            </a:pPr>
            <a:endParaRPr/>
          </a:p>
        </p:txBody>
      </p:sp>
      <p:sp>
        <p:nvSpPr>
          <p:cNvPr name="AutoShape 8" id="8"/>
          <p:cNvSpPr/>
          <p:nvPr/>
        </p:nvSpPr>
        <p:spPr>
          <a:xfrm rot="0" flipH="false" flipV="false">
            <a:off x="1016000" y="19685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57331C"/>
                </a:solidFill>
                <a:latin typeface="Noto Sans SC"/>
                <a:ea typeface="Noto Sans SC"/>
                <a:cs typeface="Noto Sans SC"/>
                <a:sym typeface="Noto Sans SC"/>
              </a:rPr>
              <a:t>3.2.2 用户管理</a:t>
            </a:r>
            <a:endParaRPr lang="en-US" sz="1100"/>
          </a:p>
        </p:txBody>
      </p:sp>
      <p:sp>
        <p:nvSpPr>
          <p:cNvPr name="AutoShape 9" id="9"/>
          <p:cNvSpPr/>
          <p:nvPr/>
        </p:nvSpPr>
        <p:spPr>
          <a:xfrm rot="0" flipH="false" flipV="false">
            <a:off x="6477000" y="1968500"/>
            <a:ext cx="762000" cy="3810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10" id="10"/>
          <p:cNvSpPr/>
          <p:nvPr/>
        </p:nvSpPr>
        <p:spPr>
          <a:xfrm rot="0" flipH="false" flipV="false">
            <a:off x="6477000" y="1968500"/>
            <a:ext cx="762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true" i="false" strike="noStrike" u="none" sz="1200">
                <a:solidFill>
                  <a:srgbClr val="FFFFFF"/>
                </a:solidFill>
                <a:latin typeface="Noto Sans SC"/>
                <a:ea typeface="Noto Sans SC"/>
                <a:cs typeface="Noto Sans SC"/>
                <a:sym typeface="Noto Sans SC"/>
              </a:rPr>
              <a:t>10分</a:t>
            </a:r>
            <a:endParaRPr lang="en-US" sz="1100"/>
          </a:p>
        </p:txBody>
      </p:sp>
      <p:sp>
        <p:nvSpPr>
          <p:cNvPr name="AutoShape 11" id="11"/>
          <p:cNvSpPr/>
          <p:nvPr/>
        </p:nvSpPr>
        <p:spPr>
          <a:xfrm rot="0" flipH="false" flipV="false">
            <a:off x="1016000" y="2387600"/>
            <a:ext cx="1397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400">
                <a:solidFill>
                  <a:srgbClr val="57331C"/>
                </a:solidFill>
                <a:latin typeface="Noto Sans SC"/>
                <a:ea typeface="Noto Sans SC"/>
                <a:cs typeface="Noto Sans SC"/>
                <a:sym typeface="Noto Sans SC"/>
              </a:rPr>
              <a:t>用户列表</a:t>
            </a:r>
            <a:endParaRPr lang="en-US" sz="1100"/>
          </a:p>
        </p:txBody>
      </p:sp>
      <p:sp>
        <p:nvSpPr>
          <p:cNvPr name="AutoShape 12" id="12"/>
          <p:cNvSpPr/>
          <p:nvPr/>
        </p:nvSpPr>
        <p:spPr>
          <a:xfrm rot="0" flipH="false" flipV="false">
            <a:off x="2413000" y="2387600"/>
            <a:ext cx="4953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785237"/>
                </a:solidFill>
                <a:latin typeface="Noto Sans SC"/>
                <a:ea typeface="Noto Sans SC"/>
                <a:cs typeface="Noto Sans SC"/>
                <a:sym typeface="Noto Sans SC"/>
              </a:rPr>
              <a:t>支持分页展示、关键词搜索、展示用户状态。</a:t>
            </a:r>
            <a:endParaRPr lang="en-US" sz="1100"/>
          </a:p>
        </p:txBody>
      </p:sp>
      <p:sp>
        <p:nvSpPr>
          <p:cNvPr name="AutoShape 13" id="13"/>
          <p:cNvSpPr/>
          <p:nvPr/>
        </p:nvSpPr>
        <p:spPr>
          <a:xfrm rot="0" flipH="false" flipV="false">
            <a:off x="1016000" y="2794000"/>
            <a:ext cx="1397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400">
                <a:solidFill>
                  <a:srgbClr val="57331C"/>
                </a:solidFill>
                <a:latin typeface="Noto Sans SC"/>
                <a:ea typeface="Noto Sans SC"/>
                <a:cs typeface="Noto Sans SC"/>
                <a:sym typeface="Noto Sans SC"/>
              </a:rPr>
              <a:t>用户操作</a:t>
            </a:r>
            <a:endParaRPr lang="en-US" sz="1100"/>
          </a:p>
        </p:txBody>
      </p:sp>
      <p:sp>
        <p:nvSpPr>
          <p:cNvPr name="AutoShape 14" id="14"/>
          <p:cNvSpPr/>
          <p:nvPr/>
        </p:nvSpPr>
        <p:spPr>
          <a:xfrm rot="0" flipH="false" flipV="false">
            <a:off x="2413000" y="2794000"/>
            <a:ext cx="4953000" cy="431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200">
                <a:solidFill>
                  <a:srgbClr val="785237"/>
                </a:solidFill>
                <a:latin typeface="Noto Sans SC"/>
                <a:ea typeface="Noto Sans SC"/>
                <a:cs typeface="Noto Sans SC"/>
                <a:sym typeface="Noto Sans SC"/>
              </a:rPr>
              <a:t>支持新增/编辑用户、状态管理(启用/禁用)、重置密码。</a:t>
            </a:r>
            <a:endParaRPr lang="en-US" sz="1100"/>
          </a:p>
        </p:txBody>
      </p:sp>
      <p:sp>
        <p:nvSpPr>
          <p:cNvPr name="AutoShape 15" id="15"/>
          <p:cNvSpPr/>
          <p:nvPr/>
        </p:nvSpPr>
        <p:spPr>
          <a:xfrm rot="0" flipH="false" flipV="false">
            <a:off x="762000" y="3429000"/>
            <a:ext cx="7366000" cy="1333500"/>
          </a:xfrm>
          <a:prstGeom prst="roundRect">
            <a:avLst>
              <a:gd name="adj" fmla="val 0"/>
            </a:avLst>
          </a:prstGeom>
          <a:solidFill>
            <a:srgbClr val="FFFFFF">
              <a:alpha val="85000"/>
            </a:srgbClr>
          </a:solidFill>
          <a:ln cmpd="sng" cap="flat">
            <a:solidFill>
              <a:srgbClr val="E6CFCF">
                <a:alpha val="85000"/>
              </a:srgbClr>
            </a:solidFill>
            <a:prstDash val="solid"/>
            <a:round/>
          </a:ln>
        </p:spPr>
        <p:txBody>
          <a:bodyPr anchor="ctr" rtlCol="false" anchorCtr="false" vert="horz" wrap="square" lIns="0" rIns="0" tIns="0" bIns="0"/>
          <a:lstStyle/>
          <a:p>
            <a:pPr algn="ctr">
              <a:defRPr/>
            </a:pPr>
            <a:endParaRPr/>
          </a:p>
        </p:txBody>
      </p:sp>
      <p:sp>
        <p:nvSpPr>
          <p:cNvPr name="AutoShape 16" id="16"/>
          <p:cNvSpPr/>
          <p:nvPr/>
        </p:nvSpPr>
        <p:spPr>
          <a:xfrm rot="0" flipH="false" flipV="false">
            <a:off x="762000" y="3429000"/>
            <a:ext cx="50800" cy="1333500"/>
          </a:xfrm>
          <a:prstGeom prst="roundRect">
            <a:avLst>
              <a:gd name="adj" fmla="val 0"/>
            </a:avLst>
          </a:prstGeom>
          <a:solidFill>
            <a:srgbClr val="57331C">
              <a:alpha val="100000"/>
            </a:srgbClr>
          </a:solidFill>
          <a:ln cmpd="sng" cap="flat">
            <a:solidFill>
              <a:srgbClr val="3E200E">
                <a:alpha val="100000"/>
              </a:srgbClr>
            </a:solidFill>
            <a:prstDash val="solid"/>
            <a:round/>
          </a:ln>
        </p:spPr>
        <p:txBody>
          <a:bodyPr anchor="ctr" rtlCol="false" anchorCtr="false" vert="horz" wrap="square" lIns="0" rIns="0" tIns="0" bIns="0"/>
          <a:lstStyle/>
          <a:p>
            <a:pPr algn="ctr">
              <a:defRPr/>
            </a:pPr>
            <a:endParaRPr/>
          </a:p>
        </p:txBody>
      </p:sp>
      <p:sp>
        <p:nvSpPr>
          <p:cNvPr name="AutoShape 17" id="17"/>
          <p:cNvSpPr/>
          <p:nvPr/>
        </p:nvSpPr>
        <p:spPr>
          <a:xfrm rot="0" flipH="false" flipV="false">
            <a:off x="1016000" y="3429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57331C"/>
                </a:solidFill>
                <a:latin typeface="Noto Sans SC"/>
                <a:ea typeface="Noto Sans SC"/>
                <a:cs typeface="Noto Sans SC"/>
                <a:sym typeface="Noto Sans SC"/>
              </a:rPr>
              <a:t>3.2.3 角色管理</a:t>
            </a:r>
            <a:endParaRPr lang="en-US" sz="1100"/>
          </a:p>
        </p:txBody>
      </p:sp>
      <p:sp>
        <p:nvSpPr>
          <p:cNvPr name="AutoShape 18" id="18"/>
          <p:cNvSpPr/>
          <p:nvPr/>
        </p:nvSpPr>
        <p:spPr>
          <a:xfrm rot="0" flipH="false" flipV="false">
            <a:off x="6477000" y="3429000"/>
            <a:ext cx="762000" cy="3810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19" id="19"/>
          <p:cNvSpPr/>
          <p:nvPr/>
        </p:nvSpPr>
        <p:spPr>
          <a:xfrm rot="0" flipH="false" flipV="false">
            <a:off x="6477000" y="3429000"/>
            <a:ext cx="762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true" i="false" strike="noStrike" u="none" sz="1200">
                <a:solidFill>
                  <a:srgbClr val="FFFFFF"/>
                </a:solidFill>
                <a:latin typeface="Noto Sans SC"/>
                <a:ea typeface="Noto Sans SC"/>
                <a:cs typeface="Noto Sans SC"/>
                <a:sym typeface="Noto Sans SC"/>
              </a:rPr>
              <a:t>10分</a:t>
            </a:r>
            <a:endParaRPr lang="en-US" sz="1100"/>
          </a:p>
        </p:txBody>
      </p:sp>
      <p:sp>
        <p:nvSpPr>
          <p:cNvPr name="AutoShape 20" id="20"/>
          <p:cNvSpPr/>
          <p:nvPr/>
        </p:nvSpPr>
        <p:spPr>
          <a:xfrm rot="0" flipH="false" flipV="false">
            <a:off x="1016000" y="3848100"/>
            <a:ext cx="1397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400">
                <a:solidFill>
                  <a:srgbClr val="57331C"/>
                </a:solidFill>
                <a:latin typeface="Noto Sans SC"/>
                <a:ea typeface="Noto Sans SC"/>
                <a:cs typeface="Noto Sans SC"/>
                <a:sym typeface="Noto Sans SC"/>
              </a:rPr>
              <a:t>角色CRUD</a:t>
            </a:r>
            <a:endParaRPr lang="en-US" sz="1100"/>
          </a:p>
        </p:txBody>
      </p:sp>
      <p:sp>
        <p:nvSpPr>
          <p:cNvPr name="AutoShape 21" id="21"/>
          <p:cNvSpPr/>
          <p:nvPr/>
        </p:nvSpPr>
        <p:spPr>
          <a:xfrm rot="0" flipH="false" flipV="false">
            <a:off x="2413000" y="3848100"/>
            <a:ext cx="4953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785237"/>
                </a:solidFill>
                <a:latin typeface="Noto Sans SC"/>
                <a:ea typeface="Noto Sans SC"/>
                <a:cs typeface="Noto Sans SC"/>
                <a:sym typeface="Noto Sans SC"/>
              </a:rPr>
              <a:t>支持角色的新增、编辑、删除和列表查询。</a:t>
            </a:r>
            <a:endParaRPr lang="en-US" sz="1100"/>
          </a:p>
        </p:txBody>
      </p:sp>
      <p:sp>
        <p:nvSpPr>
          <p:cNvPr name="AutoShape 22" id="22"/>
          <p:cNvSpPr/>
          <p:nvPr/>
        </p:nvSpPr>
        <p:spPr>
          <a:xfrm rot="0" flipH="false" flipV="false">
            <a:off x="1016000" y="4254500"/>
            <a:ext cx="1905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400">
                <a:solidFill>
                  <a:srgbClr val="57331C"/>
                </a:solidFill>
                <a:latin typeface="Noto Sans SC"/>
                <a:ea typeface="Noto Sans SC"/>
                <a:cs typeface="Noto Sans SC"/>
                <a:sym typeface="Noto Sans SC"/>
              </a:rPr>
              <a:t>角色菜单权限分配</a:t>
            </a:r>
            <a:endParaRPr lang="en-US" sz="1100"/>
          </a:p>
        </p:txBody>
      </p:sp>
      <p:sp>
        <p:nvSpPr>
          <p:cNvPr name="AutoShape 23" id="23"/>
          <p:cNvSpPr/>
          <p:nvPr/>
        </p:nvSpPr>
        <p:spPr>
          <a:xfrm rot="0" flipH="false" flipV="false">
            <a:off x="2984500" y="4254500"/>
            <a:ext cx="4381500" cy="431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200">
                <a:solidFill>
                  <a:srgbClr val="785237"/>
                </a:solidFill>
                <a:latin typeface="Noto Sans SC"/>
                <a:ea typeface="Noto Sans SC"/>
                <a:cs typeface="Noto Sans SC"/>
                <a:sym typeface="Noto Sans SC"/>
              </a:rPr>
              <a:t>提供可视化界面,为不同角色勾选对应的菜单权限。</a:t>
            </a:r>
            <a:endParaRPr lang="en-US" sz="1100"/>
          </a:p>
        </p:txBody>
      </p:sp>
      <p:sp>
        <p:nvSpPr>
          <p:cNvPr name="AutoShape 24" id="24"/>
          <p:cNvSpPr/>
          <p:nvPr/>
        </p:nvSpPr>
        <p:spPr>
          <a:xfrm rot="0" flipH="false" flipV="false">
            <a:off x="762000" y="4889500"/>
            <a:ext cx="7366000" cy="1460500"/>
          </a:xfrm>
          <a:prstGeom prst="roundRect">
            <a:avLst>
              <a:gd name="adj" fmla="val 0"/>
            </a:avLst>
          </a:prstGeom>
          <a:solidFill>
            <a:srgbClr val="FFFFFF">
              <a:alpha val="85000"/>
            </a:srgbClr>
          </a:solidFill>
          <a:ln cmpd="sng" cap="flat">
            <a:solidFill>
              <a:srgbClr val="E6CFCF">
                <a:alpha val="85000"/>
              </a:srgbClr>
            </a:solidFill>
            <a:prstDash val="solid"/>
            <a:round/>
          </a:ln>
        </p:spPr>
        <p:txBody>
          <a:bodyPr anchor="ctr" rtlCol="false" anchorCtr="false" vert="horz" wrap="square" lIns="0" rIns="0" tIns="0" bIns="0"/>
          <a:lstStyle/>
          <a:p>
            <a:pPr algn="ctr">
              <a:defRPr/>
            </a:pPr>
            <a:endParaRPr/>
          </a:p>
        </p:txBody>
      </p:sp>
      <p:sp>
        <p:nvSpPr>
          <p:cNvPr name="AutoShape 25" id="25"/>
          <p:cNvSpPr/>
          <p:nvPr/>
        </p:nvSpPr>
        <p:spPr>
          <a:xfrm rot="0" flipH="false" flipV="false">
            <a:off x="762000" y="4889500"/>
            <a:ext cx="50800" cy="1460500"/>
          </a:xfrm>
          <a:prstGeom prst="roundRect">
            <a:avLst>
              <a:gd name="adj" fmla="val 0"/>
            </a:avLst>
          </a:prstGeom>
          <a:solidFill>
            <a:srgbClr val="57331C">
              <a:alpha val="100000"/>
            </a:srgbClr>
          </a:solidFill>
          <a:ln cmpd="sng" cap="flat">
            <a:solidFill>
              <a:srgbClr val="3E200E">
                <a:alpha val="100000"/>
              </a:srgbClr>
            </a:solidFill>
            <a:prstDash val="solid"/>
            <a:round/>
          </a:ln>
        </p:spPr>
        <p:txBody>
          <a:bodyPr anchor="ctr" rtlCol="false" anchorCtr="false" vert="horz" wrap="square" lIns="0" rIns="0" tIns="0" bIns="0"/>
          <a:lstStyle/>
          <a:p>
            <a:pPr algn="ctr">
              <a:defRPr/>
            </a:pPr>
            <a:endParaRPr/>
          </a:p>
        </p:txBody>
      </p:sp>
      <p:sp>
        <p:nvSpPr>
          <p:cNvPr name="AutoShape 26" id="26"/>
          <p:cNvSpPr/>
          <p:nvPr/>
        </p:nvSpPr>
        <p:spPr>
          <a:xfrm rot="0" flipH="false" flipV="false">
            <a:off x="1016000" y="48895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57331C"/>
                </a:solidFill>
                <a:latin typeface="Noto Sans SC"/>
                <a:ea typeface="Noto Sans SC"/>
                <a:cs typeface="Noto Sans SC"/>
                <a:sym typeface="Noto Sans SC"/>
              </a:rPr>
              <a:t>3.2.4 菜单管理</a:t>
            </a:r>
            <a:endParaRPr lang="en-US" sz="1100"/>
          </a:p>
        </p:txBody>
      </p:sp>
      <p:sp>
        <p:nvSpPr>
          <p:cNvPr name="AutoShape 27" id="27"/>
          <p:cNvSpPr/>
          <p:nvPr/>
        </p:nvSpPr>
        <p:spPr>
          <a:xfrm rot="0" flipH="false" flipV="false">
            <a:off x="6477000" y="4889500"/>
            <a:ext cx="762000" cy="3810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28" id="28"/>
          <p:cNvSpPr/>
          <p:nvPr/>
        </p:nvSpPr>
        <p:spPr>
          <a:xfrm rot="0" flipH="false" flipV="false">
            <a:off x="6477000" y="4889500"/>
            <a:ext cx="762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true" i="false" strike="noStrike" u="none" sz="1200">
                <a:solidFill>
                  <a:srgbClr val="FFFFFF"/>
                </a:solidFill>
                <a:latin typeface="Noto Sans SC"/>
                <a:ea typeface="Noto Sans SC"/>
                <a:cs typeface="Noto Sans SC"/>
                <a:sym typeface="Noto Sans SC"/>
              </a:rPr>
              <a:t>10分</a:t>
            </a:r>
            <a:endParaRPr lang="en-US" sz="1100"/>
          </a:p>
        </p:txBody>
      </p:sp>
      <p:sp>
        <p:nvSpPr>
          <p:cNvPr name="AutoShape 29" id="29"/>
          <p:cNvSpPr/>
          <p:nvPr/>
        </p:nvSpPr>
        <p:spPr>
          <a:xfrm rot="0" flipH="false" flipV="false">
            <a:off x="1016000" y="5283200"/>
            <a:ext cx="1651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300">
                <a:solidFill>
                  <a:srgbClr val="57331C"/>
                </a:solidFill>
                <a:latin typeface="Noto Sans SC"/>
                <a:ea typeface="Noto Sans SC"/>
                <a:cs typeface="Noto Sans SC"/>
                <a:sym typeface="Noto Sans SC"/>
              </a:rPr>
              <a:t>树形层级管理</a:t>
            </a:r>
            <a:endParaRPr lang="en-US" sz="1100"/>
          </a:p>
        </p:txBody>
      </p:sp>
      <p:sp>
        <p:nvSpPr>
          <p:cNvPr name="AutoShape 30" id="30"/>
          <p:cNvSpPr/>
          <p:nvPr/>
        </p:nvSpPr>
        <p:spPr>
          <a:xfrm rot="0" flipH="false" flipV="false">
            <a:off x="2667000" y="5283200"/>
            <a:ext cx="4635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785237"/>
                </a:solidFill>
                <a:latin typeface="Noto Sans SC"/>
                <a:ea typeface="Noto Sans SC"/>
                <a:cs typeface="Noto Sans SC"/>
                <a:sym typeface="Noto Sans SC"/>
              </a:rPr>
              <a:t>实现一级/二级菜单的树形结构展示和管理。</a:t>
            </a:r>
            <a:endParaRPr lang="en-US" sz="1100"/>
          </a:p>
        </p:txBody>
      </p:sp>
      <p:sp>
        <p:nvSpPr>
          <p:cNvPr name="AutoShape 31" id="31"/>
          <p:cNvSpPr/>
          <p:nvPr/>
        </p:nvSpPr>
        <p:spPr>
          <a:xfrm rot="0" flipH="false" flipV="false">
            <a:off x="1016000" y="5626100"/>
            <a:ext cx="1651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300">
                <a:solidFill>
                  <a:srgbClr val="57331C"/>
                </a:solidFill>
                <a:latin typeface="Noto Sans SC"/>
                <a:ea typeface="Noto Sans SC"/>
                <a:cs typeface="Noto Sans SC"/>
                <a:sym typeface="Noto Sans SC"/>
              </a:rPr>
              <a:t>菜单CRUD</a:t>
            </a:r>
            <a:endParaRPr lang="en-US" sz="1100"/>
          </a:p>
        </p:txBody>
      </p:sp>
      <p:sp>
        <p:nvSpPr>
          <p:cNvPr name="AutoShape 32" id="32"/>
          <p:cNvSpPr/>
          <p:nvPr/>
        </p:nvSpPr>
        <p:spPr>
          <a:xfrm rot="0" flipH="false" flipV="false">
            <a:off x="2667000" y="5626100"/>
            <a:ext cx="4635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785237"/>
                </a:solidFill>
                <a:latin typeface="Noto Sans SC"/>
                <a:ea typeface="Noto Sans SC"/>
                <a:cs typeface="Noto Sans SC"/>
                <a:sym typeface="Noto Sans SC"/>
              </a:rPr>
              <a:t>支持菜单的新增、编辑、删除和排序。</a:t>
            </a:r>
            <a:endParaRPr lang="en-US" sz="1100"/>
          </a:p>
        </p:txBody>
      </p:sp>
      <p:sp>
        <p:nvSpPr>
          <p:cNvPr name="AutoShape 33" id="33"/>
          <p:cNvSpPr/>
          <p:nvPr/>
        </p:nvSpPr>
        <p:spPr>
          <a:xfrm rot="0" flipH="false" flipV="false">
            <a:off x="1016000" y="5969000"/>
            <a:ext cx="1651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300">
                <a:solidFill>
                  <a:srgbClr val="57331C"/>
                </a:solidFill>
                <a:latin typeface="Noto Sans SC"/>
                <a:ea typeface="Noto Sans SC"/>
                <a:cs typeface="Noto Sans SC"/>
                <a:sym typeface="Noto Sans SC"/>
              </a:rPr>
              <a:t>前端动态渲染</a:t>
            </a:r>
            <a:endParaRPr lang="en-US" sz="1100"/>
          </a:p>
        </p:txBody>
      </p:sp>
      <p:sp>
        <p:nvSpPr>
          <p:cNvPr name="AutoShape 34" id="34"/>
          <p:cNvSpPr/>
          <p:nvPr/>
        </p:nvSpPr>
        <p:spPr>
          <a:xfrm rot="0" flipH="false" flipV="false">
            <a:off x="2667000" y="5969000"/>
            <a:ext cx="4635500" cy="406400"/>
          </a:xfrm>
          <a:prstGeom prst="rect">
            <a:avLst/>
          </a:prstGeom>
          <a:noFill/>
          <a:ln w="12700" cmpd="sng" cap="flat">
            <a:noFill/>
            <a:prstDash val="solid"/>
            <a:round/>
          </a:ln>
        </p:spPr>
        <p:txBody>
          <a:bodyPr anchor="t" rtlCol="false" anchorCtr="false" vert="horz" wrap="square" lIns="0" rIns="0" tIns="0" bIns="0"/>
          <a:lstStyle/>
          <a:p>
            <a:pPr algn="l" marL="0" indent="0">
              <a:lnSpc>
                <a:spcPct val="104166"/>
              </a:lnSpc>
              <a:defRPr/>
            </a:pPr>
            <a:r>
              <a:rPr lang="en-US" b="false" i="false" strike="noStrike" u="none" sz="1200">
                <a:solidFill>
                  <a:srgbClr val="785237"/>
                </a:solidFill>
                <a:latin typeface="Noto Sans SC"/>
                <a:ea typeface="Noto Sans SC"/>
                <a:cs typeface="Noto Sans SC"/>
                <a:sym typeface="Noto Sans SC"/>
              </a:rPr>
              <a:t>前端根据当前登录用户的角色权限,动态生成侧边栏菜单,无权限菜单自动隐藏。</a:t>
            </a:r>
            <a:endParaRPr lang="en-US" sz="1100"/>
          </a:p>
        </p:txBody>
      </p:sp>
      <p:pic>
        <p:nvPicPr>
          <p:cNvPr name="Picture 35" id="35"/>
          <p:cNvPicPr>
            <a:picLocks noChangeAspect="true"/>
          </p:cNvPicPr>
          <p:nvPr/>
        </p:nvPicPr>
        <p:blipFill>
          <a:blip r:embed="rId4"/>
          <a:srcRect l="3571" r="3571" t="0" b="0"/>
          <a:stretch>
            <a:fillRect/>
          </a:stretch>
        </p:blipFill>
        <p:spPr>
          <a:xfrm rot="0" flipH="false" flipV="false">
            <a:off x="8509000" y="2159000"/>
            <a:ext cx="3429000" cy="1485900"/>
          </a:xfrm>
          <a:prstGeom prst="rect">
            <a:avLst/>
          </a:prstGeom>
          <a:noFill/>
          <a:ln w="25400" cmpd="sng" cap="flat">
            <a:noFill/>
            <a:prstDash val="solid"/>
            <a:round/>
          </a:ln>
        </p:spPr>
      </p:pic>
      <p:sp>
        <p:nvSpPr>
          <p:cNvPr name="AutoShape 36" id="36"/>
          <p:cNvSpPr/>
          <p:nvPr/>
        </p:nvSpPr>
        <p:spPr>
          <a:xfrm rot="0" flipH="false" flipV="false">
            <a:off x="8509000" y="3784600"/>
            <a:ext cx="3429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true" i="false" strike="noStrike" u="none" sz="1300">
                <a:solidFill>
                  <a:srgbClr val="57331C"/>
                </a:solidFill>
                <a:latin typeface="Noto Sans SC"/>
                <a:ea typeface="Noto Sans SC"/>
                <a:cs typeface="Noto Sans SC"/>
                <a:sym typeface="Noto Sans SC"/>
              </a:rPr>
              <a:t>RBAC权限模型</a:t>
            </a:r>
            <a:endParaRPr lang="en-US" sz="1100"/>
          </a:p>
        </p:txBody>
      </p:sp>
      <p:sp>
        <p:nvSpPr>
          <p:cNvPr name="AutoShape 37" id="37"/>
          <p:cNvSpPr/>
          <p:nvPr/>
        </p:nvSpPr>
        <p:spPr>
          <a:xfrm rot="0" flipH="false" flipV="false">
            <a:off x="8509000" y="4191000"/>
            <a:ext cx="3429000" cy="12700"/>
          </a:xfrm>
          <a:prstGeom prst="roundRect">
            <a:avLst>
              <a:gd name="adj" fmla="val 0"/>
            </a:avLst>
          </a:prstGeom>
          <a:solidFill>
            <a:srgbClr val="57331C">
              <a:alpha val="25000"/>
            </a:srgbClr>
          </a:solidFill>
          <a:ln cmpd="sng" cap="flat">
            <a:solidFill>
              <a:srgbClr val="3E200E">
                <a:alpha val="25000"/>
              </a:srgbClr>
            </a:solidFill>
            <a:prstDash val="solid"/>
            <a:round/>
          </a:ln>
        </p:spPr>
        <p:txBody>
          <a:bodyPr anchor="ctr" rtlCol="false" anchorCtr="false" vert="horz" wrap="square" lIns="0" rIns="0" tIns="0" bIns="0"/>
          <a:lstStyle/>
          <a:p>
            <a:pPr algn="ctr">
              <a:defRPr/>
            </a:pPr>
            <a:endParaRPr/>
          </a:p>
        </p:txBody>
      </p:sp>
      <p:sp>
        <p:nvSpPr>
          <p:cNvPr name="AutoShape 38" id="38"/>
          <p:cNvSpPr/>
          <p:nvPr/>
        </p:nvSpPr>
        <p:spPr>
          <a:xfrm rot="0" flipH="false" flipV="false">
            <a:off x="8509000" y="4343400"/>
            <a:ext cx="3429000" cy="10160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200">
                <a:solidFill>
                  <a:srgbClr val="785237"/>
                </a:solidFill>
                <a:latin typeface="Noto Sans SC"/>
                <a:ea typeface="Noto Sans SC"/>
                <a:cs typeface="Noto Sans SC"/>
                <a:sym typeface="Noto Sans SC"/>
              </a:rPr>
              <a:t>用户、角色、菜单三者共同构成系统的RBAC权限体系,是基础管理模块的核心。</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9E6">
              <a:alpha val="95000"/>
            </a:srgbClr>
          </a:solidFill>
          <a:ln cmpd="sng" cap="flat">
            <a:solidFill>
              <a:srgbClr val="E6DBB8">
                <a:alpha val="95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7620000" cy="635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3C2D1E"/>
                </a:solidFill>
                <a:latin typeface="Noto Sans SC"/>
                <a:ea typeface="Noto Sans SC"/>
                <a:cs typeface="Noto Sans SC"/>
                <a:sym typeface="Noto Sans SC"/>
              </a:rPr>
              <a:t>03 系统基础需求</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10287000" y="660400"/>
            <a:ext cx="1524000" cy="457200"/>
          </a:xfrm>
          <a:prstGeom prst="rect">
            <a:avLst/>
          </a:prstGeom>
          <a:noFill/>
          <a:ln w="25400" cmpd="sng" cap="flat">
            <a:noFill/>
            <a:prstDash val="solid"/>
            <a:round/>
          </a:ln>
        </p:spPr>
      </p:pic>
      <p:sp>
        <p:nvSpPr>
          <p:cNvPr name="AutoShape 5" id="5"/>
          <p:cNvSpPr/>
          <p:nvPr/>
        </p:nvSpPr>
        <p:spPr>
          <a:xfrm rot="0" flipH="false" flipV="false">
            <a:off x="762000" y="1460500"/>
            <a:ext cx="10668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000">
                <a:solidFill>
                  <a:srgbClr val="3C2D1E"/>
                </a:solidFill>
                <a:latin typeface="Noto Sans SC"/>
                <a:ea typeface="Noto Sans SC"/>
                <a:cs typeface="Noto Sans SC"/>
                <a:sym typeface="Noto Sans SC"/>
              </a:rPr>
              <a:t>模块二:财务收支账务管理模块</a:t>
            </a:r>
            <a:r>
              <a:rPr lang="en-US" b="false" i="false" strike="noStrike" u="none" sz="1800">
                <a:solidFill>
                  <a:srgbClr val="6D5843"/>
                </a:solidFill>
                <a:latin typeface="Noto Sans SC"/>
                <a:ea typeface="Noto Sans SC"/>
                <a:cs typeface="Noto Sans SC"/>
                <a:sym typeface="Noto Sans SC"/>
              </a:rPr>
              <a:t>(40分)</a:t>
            </a:r>
            <a:endParaRPr lang="en-US" sz="1100"/>
          </a:p>
        </p:txBody>
      </p:sp>
      <p:sp>
        <p:nvSpPr>
          <p:cNvPr name="AutoShape 6" id="6"/>
          <p:cNvSpPr/>
          <p:nvPr/>
        </p:nvSpPr>
        <p:spPr>
          <a:xfrm rot="0" flipH="false" flipV="false">
            <a:off x="762000" y="1943100"/>
            <a:ext cx="106680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400">
                <a:solidFill>
                  <a:srgbClr val="6D5843"/>
                </a:solidFill>
                <a:latin typeface="Noto Sans SC"/>
                <a:ea typeface="Noto Sans SC"/>
                <a:cs typeface="Noto Sans SC"/>
                <a:sym typeface="Noto Sans SC"/>
              </a:rPr>
              <a:t>该模块是系统的核心业务,要求实现日常收入、支出记录的全流程管理。</a:t>
            </a:r>
            <a:endParaRPr lang="en-US" sz="1100"/>
          </a:p>
        </p:txBody>
      </p:sp>
      <p:sp>
        <p:nvSpPr>
          <p:cNvPr name="AutoShape 7" id="7"/>
          <p:cNvSpPr/>
          <p:nvPr/>
        </p:nvSpPr>
        <p:spPr>
          <a:xfrm rot="0" flipH="false" flipV="false">
            <a:off x="762000" y="2540000"/>
            <a:ext cx="1066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3C2D1E"/>
                </a:solidFill>
                <a:latin typeface="Noto Sans SC"/>
                <a:ea typeface="Noto Sans SC"/>
                <a:cs typeface="Noto Sans SC"/>
                <a:sym typeface="Noto Sans SC"/>
              </a:rPr>
              <a:t>3.3.1 收支分类管理</a:t>
            </a:r>
            <a:r>
              <a:rPr lang="en-US" b="false" i="false" strike="noStrike" u="none" sz="1600">
                <a:solidFill>
                  <a:srgbClr val="6D5843"/>
                </a:solidFill>
                <a:latin typeface="Noto Sans SC"/>
                <a:ea typeface="Noto Sans SC"/>
                <a:cs typeface="Noto Sans SC"/>
                <a:sym typeface="Noto Sans SC"/>
              </a:rPr>
              <a:t>(10分)</a:t>
            </a:r>
            <a:endParaRPr lang="en-US" sz="1100"/>
          </a:p>
        </p:txBody>
      </p:sp>
      <p:sp>
        <p:nvSpPr>
          <p:cNvPr name="AutoShape 8" id="8"/>
          <p:cNvSpPr/>
          <p:nvPr/>
        </p:nvSpPr>
        <p:spPr>
          <a:xfrm rot="0" flipH="false" flipV="false">
            <a:off x="762000" y="3048000"/>
            <a:ext cx="3429000" cy="1333500"/>
          </a:xfrm>
          <a:prstGeom prst="roundRect">
            <a:avLst>
              <a:gd name="adj" fmla="val 0"/>
            </a:avLst>
          </a:prstGeom>
          <a:solidFill>
            <a:srgbClr val="FFFFFF">
              <a:alpha val="80000"/>
            </a:srgbClr>
          </a:solidFill>
          <a:ln cmpd="sng" cap="flat">
            <a:solidFill>
              <a:srgbClr val="E6CFCF">
                <a:alpha val="80000"/>
              </a:srgbClr>
            </a:solidFill>
            <a:prstDash val="solid"/>
            <a:round/>
          </a:ln>
        </p:spPr>
        <p:txBody>
          <a:bodyPr anchor="ctr" rtlCol="false" anchorCtr="false" vert="horz" wrap="square" lIns="0" rIns="0" tIns="0" bIns="0"/>
          <a:lstStyle/>
          <a:p>
            <a:pPr algn="ctr">
              <a:defRPr/>
            </a:pPr>
            <a:endParaRPr/>
          </a:p>
        </p:txBody>
      </p:sp>
      <p:sp>
        <p:nvSpPr>
          <p:cNvPr name="AutoShape 9" id="9"/>
          <p:cNvSpPr/>
          <p:nvPr/>
        </p:nvSpPr>
        <p:spPr>
          <a:xfrm rot="0" flipH="false" flipV="false">
            <a:off x="762000" y="3048000"/>
            <a:ext cx="50800" cy="1333500"/>
          </a:xfrm>
          <a:prstGeom prst="roundRect">
            <a:avLst>
              <a:gd name="adj" fmla="val 0"/>
            </a:avLst>
          </a:prstGeom>
          <a:solidFill>
            <a:srgbClr val="C79E4F">
              <a:alpha val="100000"/>
            </a:srgbClr>
          </a:solidFill>
          <a:ln cmpd="sng" cap="flat">
            <a:solidFill>
              <a:srgbClr val="AE8434">
                <a:alpha val="100000"/>
              </a:srgbClr>
            </a:solidFill>
            <a:prstDash val="solid"/>
            <a:round/>
          </a:ln>
        </p:spPr>
        <p:txBody>
          <a:bodyPr anchor="ctr" rtlCol="false" anchorCtr="false" vert="horz" wrap="square" lIns="0" rIns="0" tIns="0" bIns="0"/>
          <a:lstStyle/>
          <a:p>
            <a:pPr algn="ctr">
              <a:defRPr/>
            </a:pPr>
            <a:endParaRPr/>
          </a:p>
        </p:txBody>
      </p:sp>
      <p:sp>
        <p:nvSpPr>
          <p:cNvPr name="AutoShape 10" id="10"/>
          <p:cNvSpPr/>
          <p:nvPr/>
        </p:nvSpPr>
        <p:spPr>
          <a:xfrm rot="0" flipH="false" flipV="false">
            <a:off x="1016000" y="3149600"/>
            <a:ext cx="304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3C2D1E"/>
                </a:solidFill>
                <a:latin typeface="Noto Sans SC"/>
                <a:ea typeface="Noto Sans SC"/>
                <a:cs typeface="Noto Sans SC"/>
                <a:sym typeface="Noto Sans SC"/>
              </a:rPr>
              <a:t>分类类型</a:t>
            </a:r>
            <a:endParaRPr lang="en-US" sz="1100"/>
          </a:p>
        </p:txBody>
      </p:sp>
      <p:sp>
        <p:nvSpPr>
          <p:cNvPr name="AutoShape 11" id="11"/>
          <p:cNvSpPr/>
          <p:nvPr/>
        </p:nvSpPr>
        <p:spPr>
          <a:xfrm rot="0" flipH="false" flipV="false">
            <a:off x="1016000" y="3492500"/>
            <a:ext cx="3048000" cy="7620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300">
                <a:solidFill>
                  <a:srgbClr val="6D5843"/>
                </a:solidFill>
                <a:latin typeface="Noto Sans SC"/>
                <a:ea typeface="Noto Sans SC"/>
                <a:cs typeface="Noto Sans SC"/>
                <a:sym typeface="Noto Sans SC"/>
              </a:rPr>
              <a:t>分为"收入分类"和"支出分类"。</a:t>
            </a:r>
            <a:endParaRPr lang="en-US" sz="1100"/>
          </a:p>
        </p:txBody>
      </p:sp>
      <p:sp>
        <p:nvSpPr>
          <p:cNvPr name="AutoShape 12" id="12"/>
          <p:cNvSpPr/>
          <p:nvPr/>
        </p:nvSpPr>
        <p:spPr>
          <a:xfrm rot="0" flipH="false" flipV="false">
            <a:off x="4445000" y="3048000"/>
            <a:ext cx="3429000" cy="1333500"/>
          </a:xfrm>
          <a:prstGeom prst="roundRect">
            <a:avLst>
              <a:gd name="adj" fmla="val 0"/>
            </a:avLst>
          </a:prstGeom>
          <a:solidFill>
            <a:srgbClr val="FFFFFF">
              <a:alpha val="80000"/>
            </a:srgbClr>
          </a:solidFill>
          <a:ln cmpd="sng" cap="flat">
            <a:solidFill>
              <a:srgbClr val="E6CFCF">
                <a:alpha val="80000"/>
              </a:srgbClr>
            </a:solid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4445000" y="3048000"/>
            <a:ext cx="50800" cy="1333500"/>
          </a:xfrm>
          <a:prstGeom prst="roundRect">
            <a:avLst>
              <a:gd name="adj" fmla="val 0"/>
            </a:avLst>
          </a:prstGeom>
          <a:solidFill>
            <a:srgbClr val="C79E4F">
              <a:alpha val="100000"/>
            </a:srgbClr>
          </a:solidFill>
          <a:ln cmpd="sng" cap="flat">
            <a:solidFill>
              <a:srgbClr val="AE8434">
                <a:alpha val="100000"/>
              </a:srgbClr>
            </a:solidFill>
            <a:prstDash val="solid"/>
            <a:round/>
          </a:ln>
        </p:spPr>
        <p:txBody>
          <a:bodyPr anchor="ctr" rtlCol="false" anchorCtr="false" vert="horz" wrap="square" lIns="0" rIns="0" tIns="0" bIns="0"/>
          <a:lstStyle/>
          <a:p>
            <a:pPr algn="ctr">
              <a:defRPr/>
            </a:pPr>
            <a:endParaRPr/>
          </a:p>
        </p:txBody>
      </p:sp>
      <p:sp>
        <p:nvSpPr>
          <p:cNvPr name="AutoShape 14" id="14"/>
          <p:cNvSpPr/>
          <p:nvPr/>
        </p:nvSpPr>
        <p:spPr>
          <a:xfrm rot="0" flipH="false" flipV="false">
            <a:off x="4699000" y="3149600"/>
            <a:ext cx="304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3C2D1E"/>
                </a:solidFill>
                <a:latin typeface="Noto Sans SC"/>
                <a:ea typeface="Noto Sans SC"/>
                <a:cs typeface="Noto Sans SC"/>
                <a:sym typeface="Noto Sans SC"/>
              </a:rPr>
              <a:t>自定义分类</a:t>
            </a:r>
            <a:endParaRPr lang="en-US" sz="1100"/>
          </a:p>
        </p:txBody>
      </p:sp>
      <p:sp>
        <p:nvSpPr>
          <p:cNvPr name="AutoShape 15" id="15"/>
          <p:cNvSpPr/>
          <p:nvPr/>
        </p:nvSpPr>
        <p:spPr>
          <a:xfrm rot="0" flipH="false" flipV="false">
            <a:off x="4699000" y="3492500"/>
            <a:ext cx="3048000" cy="7620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300">
                <a:solidFill>
                  <a:srgbClr val="6D5843"/>
                </a:solidFill>
                <a:latin typeface="Noto Sans SC"/>
                <a:ea typeface="Noto Sans SC"/>
                <a:cs typeface="Noto Sans SC"/>
                <a:sym typeface="Noto Sans SC"/>
              </a:rPr>
              <a:t>支持用户自定义新增、编辑、删除分类。</a:t>
            </a:r>
            <a:endParaRPr lang="en-US" sz="1100"/>
          </a:p>
        </p:txBody>
      </p:sp>
      <p:sp>
        <p:nvSpPr>
          <p:cNvPr name="AutoShape 16" id="16"/>
          <p:cNvSpPr/>
          <p:nvPr/>
        </p:nvSpPr>
        <p:spPr>
          <a:xfrm rot="0" flipH="false" flipV="false">
            <a:off x="8001000" y="3048000"/>
            <a:ext cx="3429000" cy="1333500"/>
          </a:xfrm>
          <a:prstGeom prst="roundRect">
            <a:avLst>
              <a:gd name="adj" fmla="val 0"/>
            </a:avLst>
          </a:prstGeom>
          <a:solidFill>
            <a:srgbClr val="FFFFFF">
              <a:alpha val="80000"/>
            </a:srgbClr>
          </a:solidFill>
          <a:ln cmpd="sng" cap="flat">
            <a:solidFill>
              <a:srgbClr val="E6CFCF">
                <a:alpha val="80000"/>
              </a:srgbClr>
            </a:solidFill>
            <a:prstDash val="solid"/>
            <a:round/>
          </a:ln>
        </p:spPr>
        <p:txBody>
          <a:bodyPr anchor="ctr" rtlCol="false" anchorCtr="false" vert="horz" wrap="square" lIns="0" rIns="0" tIns="0" bIns="0"/>
          <a:lstStyle/>
          <a:p>
            <a:pPr algn="ctr">
              <a:defRPr/>
            </a:pPr>
            <a:endParaRPr/>
          </a:p>
        </p:txBody>
      </p:sp>
      <p:sp>
        <p:nvSpPr>
          <p:cNvPr name="AutoShape 17" id="17"/>
          <p:cNvSpPr/>
          <p:nvPr/>
        </p:nvSpPr>
        <p:spPr>
          <a:xfrm rot="0" flipH="false" flipV="false">
            <a:off x="8001000" y="3048000"/>
            <a:ext cx="50800" cy="1333500"/>
          </a:xfrm>
          <a:prstGeom prst="roundRect">
            <a:avLst>
              <a:gd name="adj" fmla="val 0"/>
            </a:avLst>
          </a:prstGeom>
          <a:solidFill>
            <a:srgbClr val="C79E4F">
              <a:alpha val="100000"/>
            </a:srgbClr>
          </a:solidFill>
          <a:ln cmpd="sng" cap="flat">
            <a:solidFill>
              <a:srgbClr val="AE8434">
                <a:alpha val="100000"/>
              </a:srgbClr>
            </a:solidFill>
            <a:prstDash val="solid"/>
            <a:round/>
          </a:ln>
        </p:spPr>
        <p:txBody>
          <a:bodyPr anchor="ctr" rtlCol="false" anchorCtr="false" vert="horz" wrap="square" lIns="0" rIns="0" tIns="0" bIns="0"/>
          <a:lstStyle/>
          <a:p>
            <a:pPr algn="ctr">
              <a:defRPr/>
            </a:pPr>
            <a:endParaRPr/>
          </a:p>
        </p:txBody>
      </p:sp>
      <p:sp>
        <p:nvSpPr>
          <p:cNvPr name="AutoShape 18" id="18"/>
          <p:cNvSpPr/>
          <p:nvPr/>
        </p:nvSpPr>
        <p:spPr>
          <a:xfrm rot="0" flipH="false" flipV="false">
            <a:off x="8255000" y="3149600"/>
            <a:ext cx="304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3C2D1E"/>
                </a:solidFill>
                <a:latin typeface="Noto Sans SC"/>
                <a:ea typeface="Noto Sans SC"/>
                <a:cs typeface="Noto Sans SC"/>
                <a:sym typeface="Noto Sans SC"/>
              </a:rPr>
              <a:t>数据关联</a:t>
            </a:r>
            <a:endParaRPr lang="en-US" sz="1100"/>
          </a:p>
        </p:txBody>
      </p:sp>
      <p:sp>
        <p:nvSpPr>
          <p:cNvPr name="AutoShape 19" id="19"/>
          <p:cNvSpPr/>
          <p:nvPr/>
        </p:nvSpPr>
        <p:spPr>
          <a:xfrm rot="0" flipH="false" flipV="false">
            <a:off x="8255000" y="3492500"/>
            <a:ext cx="3048000" cy="7620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300">
                <a:solidFill>
                  <a:srgbClr val="6D5843"/>
                </a:solidFill>
                <a:latin typeface="Noto Sans SC"/>
                <a:ea typeface="Noto Sans SC"/>
                <a:cs typeface="Noto Sans SC"/>
                <a:sym typeface="Noto Sans SC"/>
              </a:rPr>
              <a:t>分类数据将作为"收支记录"模块的可选绑定项。</a:t>
            </a:r>
            <a:endParaRPr lang="en-US" sz="1100"/>
          </a:p>
        </p:txBody>
      </p:sp>
      <p:sp>
        <p:nvSpPr>
          <p:cNvPr name="AutoShape 20" id="20"/>
          <p:cNvSpPr/>
          <p:nvPr/>
        </p:nvSpPr>
        <p:spPr>
          <a:xfrm rot="0" flipH="false" flipV="false">
            <a:off x="762000" y="4572000"/>
            <a:ext cx="1066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C2D1E"/>
                </a:solidFill>
                <a:latin typeface="Noto Sans SC"/>
                <a:ea typeface="Noto Sans SC"/>
                <a:cs typeface="Noto Sans SC"/>
                <a:sym typeface="Noto Sans SC"/>
              </a:rPr>
              <a:t>示例分类</a:t>
            </a:r>
            <a:endParaRPr lang="en-US" sz="1100"/>
          </a:p>
        </p:txBody>
      </p:sp>
      <p:sp>
        <p:nvSpPr>
          <p:cNvPr name="AutoShape 21" id="21"/>
          <p:cNvSpPr/>
          <p:nvPr/>
        </p:nvSpPr>
        <p:spPr>
          <a:xfrm rot="0" flipH="false" flipV="false">
            <a:off x="762000" y="4978400"/>
            <a:ext cx="5207000" cy="1460500"/>
          </a:xfrm>
          <a:prstGeom prst="roundRect">
            <a:avLst>
              <a:gd name="adj" fmla="val 0"/>
            </a:avLst>
          </a:prstGeom>
          <a:solidFill>
            <a:srgbClr val="F7ECD1">
              <a:alpha val="80000"/>
            </a:srgbClr>
          </a:solidFill>
          <a:ln cmpd="sng" cap="flat">
            <a:solidFill>
              <a:srgbClr val="DECDA5">
                <a:alpha val="80000"/>
              </a:srgbClr>
            </a:solidFill>
            <a:prstDash val="solid"/>
            <a:round/>
          </a:ln>
        </p:spPr>
        <p:txBody>
          <a:bodyPr anchor="ctr" rtlCol="false" anchorCtr="false" vert="horz" wrap="square" lIns="0" rIns="0" tIns="0" bIns="0"/>
          <a:lstStyle/>
          <a:p>
            <a:pPr algn="ctr">
              <a:defRPr/>
            </a:pPr>
            <a:endParaRPr/>
          </a:p>
        </p:txBody>
      </p:sp>
      <p:sp>
        <p:nvSpPr>
          <p:cNvPr name="AutoShape 22" id="22"/>
          <p:cNvSpPr/>
          <p:nvPr/>
        </p:nvSpPr>
        <p:spPr>
          <a:xfrm rot="0" flipH="false" flipV="false">
            <a:off x="990600" y="5054600"/>
            <a:ext cx="1524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3C2D1E"/>
                </a:solidFill>
                <a:latin typeface="Noto Sans SC"/>
                <a:ea typeface="Noto Sans SC"/>
                <a:cs typeface="Noto Sans SC"/>
                <a:sym typeface="Noto Sans SC"/>
              </a:rPr>
              <a:t>收入</a:t>
            </a:r>
            <a:endParaRPr lang="en-US" sz="1100"/>
          </a:p>
        </p:txBody>
      </p:sp>
      <p:cxnSp>
        <p:nvCxnSpPr>
          <p:cNvPr name="Connector 23" id="23"/>
          <p:cNvCxnSpPr/>
          <p:nvPr/>
        </p:nvCxnSpPr>
        <p:spPr>
          <a:xfrm rot="-9191" flipH="false" flipV="false">
            <a:off x="990608" y="5429250"/>
            <a:ext cx="4749817" cy="12700"/>
          </a:xfrm>
          <a:prstGeom prst="straightConnector1">
            <a:avLst/>
          </a:prstGeom>
          <a:solidFill>
            <a:srgbClr val="DEE0E3">
              <a:alpha val="100000"/>
            </a:srgbClr>
          </a:solidFill>
          <a:ln w="12700" cmpd="sng" cap="flat">
            <a:solidFill>
              <a:srgbClr val="C79E4F">
                <a:alpha val="40000"/>
              </a:srgbClr>
            </a:solidFill>
            <a:prstDash val="solid"/>
            <a:round/>
            <a:headEnd type="none" w="med" len="med"/>
            <a:tailEnd type="none" w="med" len="med"/>
          </a:ln>
        </p:spPr>
      </p:cxnSp>
      <p:sp>
        <p:nvSpPr>
          <p:cNvPr name="AutoShape 24" id="24"/>
          <p:cNvSpPr/>
          <p:nvPr/>
        </p:nvSpPr>
        <p:spPr>
          <a:xfrm rot="0" flipH="false" flipV="false">
            <a:off x="990600" y="5549900"/>
            <a:ext cx="914400" cy="381000"/>
          </a:xfrm>
          <a:prstGeom prst="roundRect">
            <a:avLst>
              <a:gd name="adj" fmla="val 0"/>
            </a:avLst>
          </a:prstGeom>
          <a:solidFill>
            <a:srgbClr val="EBDBB8">
              <a:alpha val="80000"/>
            </a:srgbClr>
          </a:solidFill>
          <a:ln cmpd="sng" cap="flat">
            <a:solidFill>
              <a:srgbClr val="D2BD8F">
                <a:alpha val="80000"/>
              </a:srgbClr>
            </a:solidFill>
            <a:prstDash val="solid"/>
            <a:round/>
          </a:ln>
        </p:spPr>
        <p:txBody>
          <a:bodyPr anchor="ctr" rtlCol="false" anchorCtr="false" vert="horz" wrap="square" lIns="0" rIns="0" tIns="0" bIns="0"/>
          <a:lstStyle/>
          <a:p>
            <a:pPr algn="ctr">
              <a:defRPr/>
            </a:pPr>
            <a:endParaRPr/>
          </a:p>
        </p:txBody>
      </p:sp>
      <p:sp>
        <p:nvSpPr>
          <p:cNvPr name="AutoShape 25" id="25"/>
          <p:cNvSpPr/>
          <p:nvPr/>
        </p:nvSpPr>
        <p:spPr>
          <a:xfrm rot="0" flipH="false" flipV="false">
            <a:off x="990600" y="5549900"/>
            <a:ext cx="9144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false" i="false" strike="noStrike" u="none" sz="1200">
                <a:solidFill>
                  <a:srgbClr val="3C2D1E"/>
                </a:solidFill>
                <a:latin typeface="Noto Sans SC"/>
                <a:ea typeface="Noto Sans SC"/>
                <a:cs typeface="Noto Sans SC"/>
                <a:sym typeface="Noto Sans SC"/>
              </a:rPr>
              <a:t>工资</a:t>
            </a:r>
            <a:endParaRPr lang="en-US" sz="1100"/>
          </a:p>
        </p:txBody>
      </p:sp>
      <p:sp>
        <p:nvSpPr>
          <p:cNvPr name="AutoShape 26" id="26"/>
          <p:cNvSpPr/>
          <p:nvPr/>
        </p:nvSpPr>
        <p:spPr>
          <a:xfrm rot="0" flipH="false" flipV="false">
            <a:off x="2006600" y="5549900"/>
            <a:ext cx="914400" cy="381000"/>
          </a:xfrm>
          <a:prstGeom prst="roundRect">
            <a:avLst>
              <a:gd name="adj" fmla="val 0"/>
            </a:avLst>
          </a:prstGeom>
          <a:solidFill>
            <a:srgbClr val="EBDBB8">
              <a:alpha val="80000"/>
            </a:srgbClr>
          </a:solidFill>
          <a:ln cmpd="sng" cap="flat">
            <a:solidFill>
              <a:srgbClr val="D2BD8F">
                <a:alpha val="80000"/>
              </a:srgbClr>
            </a:solidFill>
            <a:prstDash val="solid"/>
            <a:round/>
          </a:ln>
        </p:spPr>
        <p:txBody>
          <a:bodyPr anchor="ctr" rtlCol="false" anchorCtr="false" vert="horz" wrap="square" lIns="0" rIns="0" tIns="0" bIns="0"/>
          <a:lstStyle/>
          <a:p>
            <a:pPr algn="ctr">
              <a:defRPr/>
            </a:pPr>
            <a:endParaRPr/>
          </a:p>
        </p:txBody>
      </p:sp>
      <p:sp>
        <p:nvSpPr>
          <p:cNvPr name="AutoShape 27" id="27"/>
          <p:cNvSpPr/>
          <p:nvPr/>
        </p:nvSpPr>
        <p:spPr>
          <a:xfrm rot="0" flipH="false" flipV="false">
            <a:off x="2006600" y="5549900"/>
            <a:ext cx="9144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false" i="false" strike="noStrike" u="none" sz="1200">
                <a:solidFill>
                  <a:srgbClr val="3C2D1E"/>
                </a:solidFill>
                <a:latin typeface="Noto Sans SC"/>
                <a:ea typeface="Noto Sans SC"/>
                <a:cs typeface="Noto Sans SC"/>
                <a:sym typeface="Noto Sans SC"/>
              </a:rPr>
              <a:t>奖金</a:t>
            </a:r>
            <a:endParaRPr lang="en-US" sz="1100"/>
          </a:p>
        </p:txBody>
      </p:sp>
      <p:sp>
        <p:nvSpPr>
          <p:cNvPr name="AutoShape 28" id="28"/>
          <p:cNvSpPr/>
          <p:nvPr/>
        </p:nvSpPr>
        <p:spPr>
          <a:xfrm rot="0" flipH="false" flipV="false">
            <a:off x="3022600" y="5549900"/>
            <a:ext cx="914400" cy="381000"/>
          </a:xfrm>
          <a:prstGeom prst="roundRect">
            <a:avLst>
              <a:gd name="adj" fmla="val 0"/>
            </a:avLst>
          </a:prstGeom>
          <a:solidFill>
            <a:srgbClr val="EBDBB8">
              <a:alpha val="80000"/>
            </a:srgbClr>
          </a:solidFill>
          <a:ln cmpd="sng" cap="flat">
            <a:solidFill>
              <a:srgbClr val="D2BD8F">
                <a:alpha val="80000"/>
              </a:srgbClr>
            </a:solidFill>
            <a:prstDash val="solid"/>
            <a:round/>
          </a:ln>
        </p:spPr>
        <p:txBody>
          <a:bodyPr anchor="ctr" rtlCol="false" anchorCtr="false" vert="horz" wrap="square" lIns="0" rIns="0" tIns="0" bIns="0"/>
          <a:lstStyle/>
          <a:p>
            <a:pPr algn="ctr">
              <a:defRPr/>
            </a:pPr>
            <a:endParaRPr/>
          </a:p>
        </p:txBody>
      </p:sp>
      <p:sp>
        <p:nvSpPr>
          <p:cNvPr name="AutoShape 29" id="29"/>
          <p:cNvSpPr/>
          <p:nvPr/>
        </p:nvSpPr>
        <p:spPr>
          <a:xfrm rot="0" flipH="false" flipV="false">
            <a:off x="3022600" y="5549900"/>
            <a:ext cx="9144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false" i="false" strike="noStrike" u="none" sz="1200">
                <a:solidFill>
                  <a:srgbClr val="3C2D1E"/>
                </a:solidFill>
                <a:latin typeface="Noto Sans SC"/>
                <a:ea typeface="Noto Sans SC"/>
                <a:cs typeface="Noto Sans SC"/>
                <a:sym typeface="Noto Sans SC"/>
              </a:rPr>
              <a:t>副业</a:t>
            </a:r>
            <a:endParaRPr lang="en-US" sz="1100"/>
          </a:p>
        </p:txBody>
      </p:sp>
      <p:sp>
        <p:nvSpPr>
          <p:cNvPr name="AutoShape 30" id="30"/>
          <p:cNvSpPr/>
          <p:nvPr/>
        </p:nvSpPr>
        <p:spPr>
          <a:xfrm rot="0" flipH="false" flipV="false">
            <a:off x="4038600" y="5549900"/>
            <a:ext cx="914400" cy="381000"/>
          </a:xfrm>
          <a:prstGeom prst="roundRect">
            <a:avLst>
              <a:gd name="adj" fmla="val 0"/>
            </a:avLst>
          </a:prstGeom>
          <a:solidFill>
            <a:srgbClr val="EBDBB8">
              <a:alpha val="80000"/>
            </a:srgbClr>
          </a:solidFill>
          <a:ln cmpd="sng" cap="flat">
            <a:solidFill>
              <a:srgbClr val="D2BD8F">
                <a:alpha val="80000"/>
              </a:srgbClr>
            </a:solidFill>
            <a:prstDash val="solid"/>
            <a:round/>
          </a:ln>
        </p:spPr>
        <p:txBody>
          <a:bodyPr anchor="ctr" rtlCol="false" anchorCtr="false" vert="horz" wrap="square" lIns="0" rIns="0" tIns="0" bIns="0"/>
          <a:lstStyle/>
          <a:p>
            <a:pPr algn="ctr">
              <a:defRPr/>
            </a:pPr>
            <a:endParaRPr/>
          </a:p>
        </p:txBody>
      </p:sp>
      <p:sp>
        <p:nvSpPr>
          <p:cNvPr name="AutoShape 31" id="31"/>
          <p:cNvSpPr/>
          <p:nvPr/>
        </p:nvSpPr>
        <p:spPr>
          <a:xfrm rot="0" flipH="false" flipV="false">
            <a:off x="4038600" y="5549900"/>
            <a:ext cx="9144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false" i="false" strike="noStrike" u="none" sz="1200">
                <a:solidFill>
                  <a:srgbClr val="3C2D1E"/>
                </a:solidFill>
                <a:latin typeface="Noto Sans SC"/>
                <a:ea typeface="Noto Sans SC"/>
                <a:cs typeface="Noto Sans SC"/>
                <a:sym typeface="Noto Sans SC"/>
              </a:rPr>
              <a:t>理财</a:t>
            </a:r>
            <a:endParaRPr lang="en-US" sz="1100"/>
          </a:p>
        </p:txBody>
      </p:sp>
      <p:sp>
        <p:nvSpPr>
          <p:cNvPr name="AutoShape 32" id="32"/>
          <p:cNvSpPr/>
          <p:nvPr/>
        </p:nvSpPr>
        <p:spPr>
          <a:xfrm rot="0" flipH="false" flipV="false">
            <a:off x="6223000" y="4978400"/>
            <a:ext cx="5207000" cy="1460500"/>
          </a:xfrm>
          <a:prstGeom prst="roundRect">
            <a:avLst>
              <a:gd name="adj" fmla="val 0"/>
            </a:avLst>
          </a:prstGeom>
          <a:solidFill>
            <a:srgbClr val="F7ECD1">
              <a:alpha val="80000"/>
            </a:srgbClr>
          </a:solidFill>
          <a:ln cmpd="sng" cap="flat">
            <a:solidFill>
              <a:srgbClr val="DECDA5">
                <a:alpha val="80000"/>
              </a:srgbClr>
            </a:solidFill>
            <a:prstDash val="solid"/>
            <a:round/>
          </a:ln>
        </p:spPr>
        <p:txBody>
          <a:bodyPr anchor="ctr" rtlCol="false" anchorCtr="false" vert="horz" wrap="square" lIns="0" rIns="0" tIns="0" bIns="0"/>
          <a:lstStyle/>
          <a:p>
            <a:pPr algn="ctr">
              <a:defRPr/>
            </a:pPr>
            <a:endParaRPr/>
          </a:p>
        </p:txBody>
      </p:sp>
      <p:sp>
        <p:nvSpPr>
          <p:cNvPr name="AutoShape 33" id="33"/>
          <p:cNvSpPr/>
          <p:nvPr/>
        </p:nvSpPr>
        <p:spPr>
          <a:xfrm rot="0" flipH="false" flipV="false">
            <a:off x="6451600" y="5054600"/>
            <a:ext cx="1524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3C2D1E"/>
                </a:solidFill>
                <a:latin typeface="Noto Sans SC"/>
                <a:ea typeface="Noto Sans SC"/>
                <a:cs typeface="Noto Sans SC"/>
                <a:sym typeface="Noto Sans SC"/>
              </a:rPr>
              <a:t>支出</a:t>
            </a:r>
            <a:endParaRPr lang="en-US" sz="1100"/>
          </a:p>
        </p:txBody>
      </p:sp>
      <p:cxnSp>
        <p:nvCxnSpPr>
          <p:cNvPr name="Connector 34" id="34"/>
          <p:cNvCxnSpPr/>
          <p:nvPr/>
        </p:nvCxnSpPr>
        <p:spPr>
          <a:xfrm rot="-9191" flipH="false" flipV="false">
            <a:off x="6451608" y="5429250"/>
            <a:ext cx="4749817" cy="12700"/>
          </a:xfrm>
          <a:prstGeom prst="straightConnector1">
            <a:avLst/>
          </a:prstGeom>
          <a:solidFill>
            <a:srgbClr val="DEE0E3">
              <a:alpha val="100000"/>
            </a:srgbClr>
          </a:solidFill>
          <a:ln w="12700" cmpd="sng" cap="flat">
            <a:solidFill>
              <a:srgbClr val="C79E4F">
                <a:alpha val="40000"/>
              </a:srgbClr>
            </a:solidFill>
            <a:prstDash val="solid"/>
            <a:round/>
            <a:headEnd type="none" w="med" len="med"/>
            <a:tailEnd type="none" w="med" len="med"/>
          </a:ln>
        </p:spPr>
      </p:cxnSp>
      <p:sp>
        <p:nvSpPr>
          <p:cNvPr name="AutoShape 35" id="35"/>
          <p:cNvSpPr/>
          <p:nvPr/>
        </p:nvSpPr>
        <p:spPr>
          <a:xfrm rot="0" flipH="false" flipV="false">
            <a:off x="6451600" y="5549900"/>
            <a:ext cx="863600" cy="381000"/>
          </a:xfrm>
          <a:prstGeom prst="roundRect">
            <a:avLst>
              <a:gd name="adj" fmla="val 0"/>
            </a:avLst>
          </a:prstGeom>
          <a:solidFill>
            <a:srgbClr val="EBDBB8">
              <a:alpha val="80000"/>
            </a:srgbClr>
          </a:solidFill>
          <a:ln cmpd="sng" cap="flat">
            <a:solidFill>
              <a:srgbClr val="D2BD8F">
                <a:alpha val="80000"/>
              </a:srgbClr>
            </a:solidFill>
            <a:prstDash val="solid"/>
            <a:round/>
          </a:ln>
        </p:spPr>
        <p:txBody>
          <a:bodyPr anchor="ctr" rtlCol="false" anchorCtr="false" vert="horz" wrap="square" lIns="0" rIns="0" tIns="0" bIns="0"/>
          <a:lstStyle/>
          <a:p>
            <a:pPr algn="ctr">
              <a:defRPr/>
            </a:pPr>
            <a:endParaRPr/>
          </a:p>
        </p:txBody>
      </p:sp>
      <p:sp>
        <p:nvSpPr>
          <p:cNvPr name="AutoShape 36" id="36"/>
          <p:cNvSpPr/>
          <p:nvPr/>
        </p:nvSpPr>
        <p:spPr>
          <a:xfrm rot="0" flipH="false" flipV="false">
            <a:off x="6451600" y="5549900"/>
            <a:ext cx="8636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false" i="false" strike="noStrike" u="none" sz="1200">
                <a:solidFill>
                  <a:srgbClr val="3C2D1E"/>
                </a:solidFill>
                <a:latin typeface="Noto Sans SC"/>
                <a:ea typeface="Noto Sans SC"/>
                <a:cs typeface="Noto Sans SC"/>
                <a:sym typeface="Noto Sans SC"/>
              </a:rPr>
              <a:t>餐饮</a:t>
            </a:r>
            <a:endParaRPr lang="en-US" sz="1100"/>
          </a:p>
        </p:txBody>
      </p:sp>
      <p:sp>
        <p:nvSpPr>
          <p:cNvPr name="AutoShape 37" id="37"/>
          <p:cNvSpPr/>
          <p:nvPr/>
        </p:nvSpPr>
        <p:spPr>
          <a:xfrm rot="0" flipH="false" flipV="false">
            <a:off x="7416800" y="5549900"/>
            <a:ext cx="863600" cy="381000"/>
          </a:xfrm>
          <a:prstGeom prst="roundRect">
            <a:avLst>
              <a:gd name="adj" fmla="val 0"/>
            </a:avLst>
          </a:prstGeom>
          <a:solidFill>
            <a:srgbClr val="EBDBB8">
              <a:alpha val="80000"/>
            </a:srgbClr>
          </a:solidFill>
          <a:ln cmpd="sng" cap="flat">
            <a:solidFill>
              <a:srgbClr val="D2BD8F">
                <a:alpha val="80000"/>
              </a:srgbClr>
            </a:solidFill>
            <a:prstDash val="solid"/>
            <a:round/>
          </a:ln>
        </p:spPr>
        <p:txBody>
          <a:bodyPr anchor="ctr" rtlCol="false" anchorCtr="false" vert="horz" wrap="square" lIns="0" rIns="0" tIns="0" bIns="0"/>
          <a:lstStyle/>
          <a:p>
            <a:pPr algn="ctr">
              <a:defRPr/>
            </a:pPr>
            <a:endParaRPr/>
          </a:p>
        </p:txBody>
      </p:sp>
      <p:sp>
        <p:nvSpPr>
          <p:cNvPr name="AutoShape 38" id="38"/>
          <p:cNvSpPr/>
          <p:nvPr/>
        </p:nvSpPr>
        <p:spPr>
          <a:xfrm rot="0" flipH="false" flipV="false">
            <a:off x="7416800" y="5549900"/>
            <a:ext cx="8636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false" i="false" strike="noStrike" u="none" sz="1200">
                <a:solidFill>
                  <a:srgbClr val="3C2D1E"/>
                </a:solidFill>
                <a:latin typeface="Noto Sans SC"/>
                <a:ea typeface="Noto Sans SC"/>
                <a:cs typeface="Noto Sans SC"/>
                <a:sym typeface="Noto Sans SC"/>
              </a:rPr>
              <a:t>交通</a:t>
            </a:r>
            <a:endParaRPr lang="en-US" sz="1100"/>
          </a:p>
        </p:txBody>
      </p:sp>
      <p:sp>
        <p:nvSpPr>
          <p:cNvPr name="AutoShape 39" id="39"/>
          <p:cNvSpPr/>
          <p:nvPr/>
        </p:nvSpPr>
        <p:spPr>
          <a:xfrm rot="0" flipH="false" flipV="false">
            <a:off x="8382000" y="5549900"/>
            <a:ext cx="863600" cy="381000"/>
          </a:xfrm>
          <a:prstGeom prst="roundRect">
            <a:avLst>
              <a:gd name="adj" fmla="val 0"/>
            </a:avLst>
          </a:prstGeom>
          <a:solidFill>
            <a:srgbClr val="EBDBB8">
              <a:alpha val="80000"/>
            </a:srgbClr>
          </a:solidFill>
          <a:ln cmpd="sng" cap="flat">
            <a:solidFill>
              <a:srgbClr val="D2BD8F">
                <a:alpha val="80000"/>
              </a:srgbClr>
            </a:solidFill>
            <a:prstDash val="solid"/>
            <a:round/>
          </a:ln>
        </p:spPr>
        <p:txBody>
          <a:bodyPr anchor="ctr" rtlCol="false" anchorCtr="false" vert="horz" wrap="square" lIns="0" rIns="0" tIns="0" bIns="0"/>
          <a:lstStyle/>
          <a:p>
            <a:pPr algn="ctr">
              <a:defRPr/>
            </a:pPr>
            <a:endParaRPr/>
          </a:p>
        </p:txBody>
      </p:sp>
      <p:sp>
        <p:nvSpPr>
          <p:cNvPr name="AutoShape 40" id="40"/>
          <p:cNvSpPr/>
          <p:nvPr/>
        </p:nvSpPr>
        <p:spPr>
          <a:xfrm rot="0" flipH="false" flipV="false">
            <a:off x="8382000" y="5549900"/>
            <a:ext cx="8636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false" i="false" strike="noStrike" u="none" sz="1200">
                <a:solidFill>
                  <a:srgbClr val="3C2D1E"/>
                </a:solidFill>
                <a:latin typeface="Noto Sans SC"/>
                <a:ea typeface="Noto Sans SC"/>
                <a:cs typeface="Noto Sans SC"/>
                <a:sym typeface="Noto Sans SC"/>
              </a:rPr>
              <a:t>购物</a:t>
            </a:r>
            <a:endParaRPr lang="en-US" sz="1100"/>
          </a:p>
        </p:txBody>
      </p:sp>
      <p:sp>
        <p:nvSpPr>
          <p:cNvPr name="AutoShape 41" id="41"/>
          <p:cNvSpPr/>
          <p:nvPr/>
        </p:nvSpPr>
        <p:spPr>
          <a:xfrm rot="0" flipH="false" flipV="false">
            <a:off x="9296400" y="5549900"/>
            <a:ext cx="863600" cy="381000"/>
          </a:xfrm>
          <a:prstGeom prst="roundRect">
            <a:avLst>
              <a:gd name="adj" fmla="val 0"/>
            </a:avLst>
          </a:prstGeom>
          <a:solidFill>
            <a:srgbClr val="EBDBB8">
              <a:alpha val="80000"/>
            </a:srgbClr>
          </a:solidFill>
          <a:ln cmpd="sng" cap="flat">
            <a:solidFill>
              <a:srgbClr val="D2BD8F">
                <a:alpha val="80000"/>
              </a:srgbClr>
            </a:solidFill>
            <a:prstDash val="solid"/>
            <a:round/>
          </a:ln>
        </p:spPr>
        <p:txBody>
          <a:bodyPr anchor="ctr" rtlCol="false" anchorCtr="false" vert="horz" wrap="square" lIns="0" rIns="0" tIns="0" bIns="0"/>
          <a:lstStyle/>
          <a:p>
            <a:pPr algn="ctr">
              <a:defRPr/>
            </a:pPr>
            <a:endParaRPr/>
          </a:p>
        </p:txBody>
      </p:sp>
      <p:sp>
        <p:nvSpPr>
          <p:cNvPr name="AutoShape 42" id="42"/>
          <p:cNvSpPr/>
          <p:nvPr/>
        </p:nvSpPr>
        <p:spPr>
          <a:xfrm rot="0" flipH="false" flipV="false">
            <a:off x="9296400" y="5549900"/>
            <a:ext cx="8636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false" i="false" strike="noStrike" u="none" sz="1200">
                <a:solidFill>
                  <a:srgbClr val="3C2D1E"/>
                </a:solidFill>
                <a:latin typeface="Noto Sans SC"/>
                <a:ea typeface="Noto Sans SC"/>
                <a:cs typeface="Noto Sans SC"/>
                <a:sym typeface="Noto Sans SC"/>
              </a:rPr>
              <a:t>住宿</a:t>
            </a:r>
            <a:endParaRPr lang="en-US" sz="1100"/>
          </a:p>
        </p:txBody>
      </p:sp>
      <p:sp>
        <p:nvSpPr>
          <p:cNvPr name="AutoShape 43" id="43"/>
          <p:cNvSpPr/>
          <p:nvPr/>
        </p:nvSpPr>
        <p:spPr>
          <a:xfrm rot="0" flipH="false" flipV="false">
            <a:off x="10210800" y="5549900"/>
            <a:ext cx="863600" cy="381000"/>
          </a:xfrm>
          <a:prstGeom prst="roundRect">
            <a:avLst>
              <a:gd name="adj" fmla="val 0"/>
            </a:avLst>
          </a:prstGeom>
          <a:solidFill>
            <a:srgbClr val="EBDBB8">
              <a:alpha val="80000"/>
            </a:srgbClr>
          </a:solidFill>
          <a:ln cmpd="sng" cap="flat">
            <a:solidFill>
              <a:srgbClr val="D2BD8F">
                <a:alpha val="80000"/>
              </a:srgbClr>
            </a:solidFill>
            <a:prstDash val="solid"/>
            <a:round/>
          </a:ln>
        </p:spPr>
        <p:txBody>
          <a:bodyPr anchor="ctr" rtlCol="false" anchorCtr="false" vert="horz" wrap="square" lIns="0" rIns="0" tIns="0" bIns="0"/>
          <a:lstStyle/>
          <a:p>
            <a:pPr algn="ctr">
              <a:defRPr/>
            </a:pPr>
            <a:endParaRPr/>
          </a:p>
        </p:txBody>
      </p:sp>
      <p:sp>
        <p:nvSpPr>
          <p:cNvPr name="AutoShape 44" id="44"/>
          <p:cNvSpPr/>
          <p:nvPr/>
        </p:nvSpPr>
        <p:spPr>
          <a:xfrm rot="0" flipH="false" flipV="false">
            <a:off x="10210800" y="5549900"/>
            <a:ext cx="8636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false" i="false" strike="noStrike" u="none" sz="1200">
                <a:solidFill>
                  <a:srgbClr val="3C2D1E"/>
                </a:solidFill>
                <a:latin typeface="Noto Sans SC"/>
                <a:ea typeface="Noto Sans SC"/>
                <a:cs typeface="Noto Sans SC"/>
                <a:sym typeface="Noto Sans SC"/>
              </a:rPr>
              <a:t>娱乐</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BEB">
              <a:alpha val="95000"/>
            </a:srgbClr>
          </a:solidFill>
          <a:ln cmpd="sng" cap="flat">
            <a:solidFill>
              <a:srgbClr val="E6DDBD">
                <a:alpha val="95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8890000" cy="5842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4E342E"/>
                </a:solidFill>
                <a:latin typeface="Noto Sans SC"/>
                <a:ea typeface="Noto Sans SC"/>
                <a:cs typeface="Noto Sans SC"/>
                <a:sym typeface="Noto Sans SC"/>
              </a:rPr>
              <a:t>03 系统基础需求</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10287000" y="660400"/>
            <a:ext cx="1778000" cy="533400"/>
          </a:xfrm>
          <a:prstGeom prst="rect">
            <a:avLst/>
          </a:prstGeom>
          <a:noFill/>
          <a:ln w="25400" cmpd="sng" cap="flat">
            <a:noFill/>
            <a:prstDash val="solid"/>
            <a:round/>
          </a:ln>
        </p:spPr>
      </p:pic>
      <p:sp>
        <p:nvSpPr>
          <p:cNvPr name="AutoShape 5" id="5"/>
          <p:cNvSpPr/>
          <p:nvPr/>
        </p:nvSpPr>
        <p:spPr>
          <a:xfrm rot="0" flipH="false" flipV="false">
            <a:off x="762000" y="1397000"/>
            <a:ext cx="7366000" cy="406400"/>
          </a:xfrm>
          <a:prstGeom prst="rect">
            <a:avLst/>
          </a:prstGeom>
          <a:noFill/>
          <a:ln w="12700" cmpd="sng" cap="flat">
            <a:noFill/>
            <a:prstDash val="solid"/>
            <a:round/>
          </a:ln>
        </p:spPr>
        <p:txBody>
          <a:bodyPr anchor="t" rtlCol="false" anchorCtr="false" vert="horz" wrap="square" lIns="0" rIns="0" tIns="0" bIns="0"/>
          <a:lstStyle/>
          <a:p>
            <a:pPr algn="l" marL="0" indent="0">
              <a:lnSpc>
                <a:spcPct val="100000"/>
              </a:lnSpc>
              <a:defRPr/>
            </a:pPr>
            <a:r>
              <a:rPr lang="en-US" b="true" i="false" strike="noStrike" u="none" sz="2000">
                <a:solidFill>
                  <a:srgbClr val="4E342E"/>
                </a:solidFill>
                <a:latin typeface="Noto Sans SC"/>
                <a:ea typeface="Noto Sans SC"/>
                <a:cs typeface="Noto Sans SC"/>
                <a:sym typeface="Noto Sans SC"/>
              </a:rPr>
              <a:t>模块二:财务收支账务管理模块</a:t>
            </a:r>
            <a:r>
              <a:rPr lang="en-US" b="false" i="false" strike="noStrike" u="none" sz="1600">
                <a:solidFill>
                  <a:srgbClr val="8D6E63"/>
                </a:solidFill>
                <a:latin typeface="Noto Sans SC"/>
                <a:ea typeface="Noto Sans SC"/>
                <a:cs typeface="Noto Sans SC"/>
                <a:sym typeface="Noto Sans SC"/>
              </a:rPr>
              <a:t>(40分)</a:t>
            </a:r>
            <a:endParaRPr lang="en-US" sz="1100"/>
          </a:p>
        </p:txBody>
      </p:sp>
      <p:sp>
        <p:nvSpPr>
          <p:cNvPr name="AutoShape 6" id="6"/>
          <p:cNvSpPr/>
          <p:nvPr/>
        </p:nvSpPr>
        <p:spPr>
          <a:xfrm rot="0" flipH="false" flipV="false">
            <a:off x="762000" y="1968500"/>
            <a:ext cx="7366000" cy="1905000"/>
          </a:xfrm>
          <a:prstGeom prst="roundRect">
            <a:avLst>
              <a:gd name="adj" fmla="val 0"/>
            </a:avLst>
          </a:prstGeom>
          <a:solidFill>
            <a:srgbClr val="FFFDF6">
              <a:alpha val="95000"/>
            </a:srgbClr>
          </a:solidFill>
          <a:ln cmpd="sng" cap="flat">
            <a:solidFill>
              <a:srgbClr val="E6DFC6">
                <a:alpha val="95000"/>
              </a:srgbClr>
            </a:solidFill>
            <a:prstDash val="solid"/>
            <a:round/>
          </a:ln>
        </p:spPr>
        <p:txBody>
          <a:bodyPr anchor="ctr" rtlCol="false" anchorCtr="false" vert="horz" wrap="square" lIns="0" rIns="0" tIns="0" bIns="0"/>
          <a:lstStyle/>
          <a:p>
            <a:pPr algn="ctr">
              <a:defRPr/>
            </a:pPr>
            <a:endParaRPr/>
          </a:p>
        </p:txBody>
      </p:sp>
      <p:sp>
        <p:nvSpPr>
          <p:cNvPr name="AutoShape 7" id="7"/>
          <p:cNvSpPr/>
          <p:nvPr/>
        </p:nvSpPr>
        <p:spPr>
          <a:xfrm rot="0" flipH="false" flipV="false">
            <a:off x="762000" y="1968500"/>
            <a:ext cx="50800" cy="1905000"/>
          </a:xfrm>
          <a:prstGeom prst="roundRect">
            <a:avLst>
              <a:gd name="adj" fmla="val 0"/>
            </a:avLst>
          </a:prstGeom>
          <a:solidFill>
            <a:srgbClr val="4E342E">
              <a:alpha val="100000"/>
            </a:srgbClr>
          </a:solidFill>
          <a:ln cmpd="sng" cap="flat">
            <a:solidFill>
              <a:srgbClr val="351F1A">
                <a:alpha val="100000"/>
              </a:srgbClr>
            </a:solidFill>
            <a:prstDash val="solid"/>
            <a:round/>
          </a:ln>
        </p:spPr>
        <p:txBody>
          <a:bodyPr anchor="ctr" rtlCol="false" anchorCtr="false" vert="horz" wrap="square" lIns="0" rIns="0" tIns="0" bIns="0"/>
          <a:lstStyle/>
          <a:p>
            <a:pPr algn="ctr">
              <a:defRPr/>
            </a:pPr>
            <a:endParaRPr/>
          </a:p>
        </p:txBody>
      </p:sp>
      <p:sp>
        <p:nvSpPr>
          <p:cNvPr name="AutoShape 8" id="8"/>
          <p:cNvSpPr/>
          <p:nvPr/>
        </p:nvSpPr>
        <p:spPr>
          <a:xfrm rot="0" flipH="false" flipV="false">
            <a:off x="1016000" y="2070100"/>
            <a:ext cx="685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4E342E"/>
                </a:solidFill>
                <a:latin typeface="Noto Sans SC"/>
                <a:ea typeface="Noto Sans SC"/>
                <a:cs typeface="Noto Sans SC"/>
                <a:sym typeface="Noto Sans SC"/>
              </a:rPr>
              <a:t>3.3.2 收支记录管理</a:t>
            </a:r>
            <a:r>
              <a:rPr lang="en-US" b="false" i="false" strike="noStrike" u="none" sz="1300">
                <a:solidFill>
                  <a:srgbClr val="D4AF37"/>
                </a:solidFill>
                <a:latin typeface="Noto Sans SC"/>
                <a:ea typeface="Noto Sans SC"/>
                <a:cs typeface="Noto Sans SC"/>
                <a:sym typeface="Noto Sans SC"/>
              </a:rPr>
              <a:t>10分</a:t>
            </a:r>
            <a:endParaRPr lang="en-US" sz="1100"/>
          </a:p>
        </p:txBody>
      </p:sp>
      <p:sp>
        <p:nvSpPr>
          <p:cNvPr name="AutoShape 9" id="9"/>
          <p:cNvSpPr/>
          <p:nvPr/>
        </p:nvSpPr>
        <p:spPr>
          <a:xfrm rot="0" flipH="false" flipV="false">
            <a:off x="1016000" y="2540000"/>
            <a:ext cx="1270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4E342E"/>
                </a:solidFill>
                <a:latin typeface="Noto Sans SC"/>
                <a:ea typeface="Noto Sans SC"/>
                <a:cs typeface="Noto Sans SC"/>
                <a:sym typeface="Noto Sans SC"/>
              </a:rPr>
              <a:t>新增记录</a:t>
            </a:r>
            <a:endParaRPr lang="en-US" sz="1100"/>
          </a:p>
        </p:txBody>
      </p:sp>
      <p:sp>
        <p:nvSpPr>
          <p:cNvPr name="AutoShape 10" id="10"/>
          <p:cNvSpPr/>
          <p:nvPr/>
        </p:nvSpPr>
        <p:spPr>
          <a:xfrm rot="0" flipH="false" flipV="false">
            <a:off x="2286000" y="2540000"/>
            <a:ext cx="5651500" cy="5334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200">
                <a:solidFill>
                  <a:srgbClr val="5C4033"/>
                </a:solidFill>
                <a:latin typeface="Noto Sans SC"/>
                <a:ea typeface="Noto Sans SC"/>
                <a:cs typeface="Noto Sans SC"/>
                <a:sym typeface="Noto Sans SC"/>
              </a:rPr>
              <a:t>表单包含必填项:收支类型、所属分类、金额、收支日期、备注信息。记录自动关联当前登录的操作用户。</a:t>
            </a:r>
            <a:endParaRPr lang="en-US" sz="1100"/>
          </a:p>
        </p:txBody>
      </p:sp>
      <p:sp>
        <p:nvSpPr>
          <p:cNvPr name="AutoShape 11" id="11"/>
          <p:cNvSpPr/>
          <p:nvPr/>
        </p:nvSpPr>
        <p:spPr>
          <a:xfrm rot="0" flipH="false" flipV="false">
            <a:off x="1016000" y="3111500"/>
            <a:ext cx="1270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4E342E"/>
                </a:solidFill>
                <a:latin typeface="Noto Sans SC"/>
                <a:ea typeface="Noto Sans SC"/>
                <a:cs typeface="Noto Sans SC"/>
                <a:sym typeface="Noto Sans SC"/>
              </a:rPr>
              <a:t>记录操作</a:t>
            </a:r>
            <a:endParaRPr lang="en-US" sz="1100"/>
          </a:p>
        </p:txBody>
      </p:sp>
      <p:sp>
        <p:nvSpPr>
          <p:cNvPr name="AutoShape 12" id="12"/>
          <p:cNvSpPr/>
          <p:nvPr/>
        </p:nvSpPr>
        <p:spPr>
          <a:xfrm rot="0" flipH="false" flipV="false">
            <a:off x="2286000" y="3111500"/>
            <a:ext cx="5651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5C4033"/>
                </a:solidFill>
                <a:latin typeface="Noto Sans SC"/>
                <a:ea typeface="Noto Sans SC"/>
                <a:cs typeface="Noto Sans SC"/>
                <a:sym typeface="Noto Sans SC"/>
              </a:rPr>
              <a:t>支持对已有记录进行编辑和删除。</a:t>
            </a:r>
            <a:endParaRPr lang="en-US" sz="1100"/>
          </a:p>
        </p:txBody>
      </p:sp>
      <p:sp>
        <p:nvSpPr>
          <p:cNvPr name="AutoShape 13" id="13"/>
          <p:cNvSpPr/>
          <p:nvPr/>
        </p:nvSpPr>
        <p:spPr>
          <a:xfrm rot="0" flipH="false" flipV="false">
            <a:off x="1016000" y="3492500"/>
            <a:ext cx="1270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4E342E"/>
                </a:solidFill>
                <a:latin typeface="Noto Sans SC"/>
                <a:ea typeface="Noto Sans SC"/>
                <a:cs typeface="Noto Sans SC"/>
                <a:sym typeface="Noto Sans SC"/>
              </a:rPr>
              <a:t>记录列表</a:t>
            </a:r>
            <a:endParaRPr lang="en-US" sz="1100"/>
          </a:p>
        </p:txBody>
      </p:sp>
      <p:sp>
        <p:nvSpPr>
          <p:cNvPr name="AutoShape 14" id="14"/>
          <p:cNvSpPr/>
          <p:nvPr/>
        </p:nvSpPr>
        <p:spPr>
          <a:xfrm rot="0" flipH="false" flipV="false">
            <a:off x="2286000" y="3492500"/>
            <a:ext cx="5651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5C4033"/>
                </a:solidFill>
                <a:latin typeface="Noto Sans SC"/>
                <a:ea typeface="Noto Sans SC"/>
                <a:cs typeface="Noto Sans SC"/>
                <a:sym typeface="Noto Sans SC"/>
              </a:rPr>
              <a:t>以列表形式展示所有收支记录。</a:t>
            </a:r>
            <a:endParaRPr lang="en-US" sz="1100"/>
          </a:p>
        </p:txBody>
      </p:sp>
      <p:sp>
        <p:nvSpPr>
          <p:cNvPr name="AutoShape 15" id="15"/>
          <p:cNvSpPr/>
          <p:nvPr/>
        </p:nvSpPr>
        <p:spPr>
          <a:xfrm rot="0" flipH="false" flipV="false">
            <a:off x="762000" y="4064000"/>
            <a:ext cx="7366000" cy="2222500"/>
          </a:xfrm>
          <a:prstGeom prst="roundRect">
            <a:avLst>
              <a:gd name="adj" fmla="val 0"/>
            </a:avLst>
          </a:prstGeom>
          <a:solidFill>
            <a:srgbClr val="FFFDF6">
              <a:alpha val="95000"/>
            </a:srgbClr>
          </a:solidFill>
          <a:ln cmpd="sng" cap="flat">
            <a:solidFill>
              <a:srgbClr val="E6DFC6">
                <a:alpha val="95000"/>
              </a:srgbClr>
            </a:solidFill>
            <a:prstDash val="solid"/>
            <a:round/>
          </a:ln>
        </p:spPr>
        <p:txBody>
          <a:bodyPr anchor="ctr" rtlCol="false" anchorCtr="false" vert="horz" wrap="square" lIns="0" rIns="0" tIns="0" bIns="0"/>
          <a:lstStyle/>
          <a:p>
            <a:pPr algn="ctr">
              <a:defRPr/>
            </a:pPr>
            <a:endParaRPr/>
          </a:p>
        </p:txBody>
      </p:sp>
      <p:sp>
        <p:nvSpPr>
          <p:cNvPr name="AutoShape 16" id="16"/>
          <p:cNvSpPr/>
          <p:nvPr/>
        </p:nvSpPr>
        <p:spPr>
          <a:xfrm rot="0" flipH="false" flipV="false">
            <a:off x="762000" y="4064000"/>
            <a:ext cx="50800" cy="2222500"/>
          </a:xfrm>
          <a:prstGeom prst="roundRect">
            <a:avLst>
              <a:gd name="adj" fmla="val 0"/>
            </a:avLst>
          </a:prstGeom>
          <a:solidFill>
            <a:srgbClr val="4E342E">
              <a:alpha val="100000"/>
            </a:srgbClr>
          </a:solidFill>
          <a:ln cmpd="sng" cap="flat">
            <a:solidFill>
              <a:srgbClr val="351F1A">
                <a:alpha val="100000"/>
              </a:srgbClr>
            </a:solidFill>
            <a:prstDash val="solid"/>
            <a:round/>
          </a:ln>
        </p:spPr>
        <p:txBody>
          <a:bodyPr anchor="ctr" rtlCol="false" anchorCtr="false" vert="horz" wrap="square" lIns="0" rIns="0" tIns="0" bIns="0"/>
          <a:lstStyle/>
          <a:p>
            <a:pPr algn="ctr">
              <a:defRPr/>
            </a:pPr>
            <a:endParaRPr/>
          </a:p>
        </p:txBody>
      </p:sp>
      <p:sp>
        <p:nvSpPr>
          <p:cNvPr name="AutoShape 17" id="17"/>
          <p:cNvSpPr/>
          <p:nvPr/>
        </p:nvSpPr>
        <p:spPr>
          <a:xfrm rot="0" flipH="false" flipV="false">
            <a:off x="1016000" y="4165600"/>
            <a:ext cx="685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4E342E"/>
                </a:solidFill>
                <a:latin typeface="Noto Sans SC"/>
                <a:ea typeface="Noto Sans SC"/>
                <a:cs typeface="Noto Sans SC"/>
                <a:sym typeface="Noto Sans SC"/>
              </a:rPr>
              <a:t>3.3.3 多条件筛选查询</a:t>
            </a:r>
            <a:r>
              <a:rPr lang="en-US" b="false" i="false" strike="noStrike" u="none" sz="1300">
                <a:solidFill>
                  <a:srgbClr val="D4AF37"/>
                </a:solidFill>
                <a:latin typeface="Noto Sans SC"/>
                <a:ea typeface="Noto Sans SC"/>
                <a:cs typeface="Noto Sans SC"/>
                <a:sym typeface="Noto Sans SC"/>
              </a:rPr>
              <a:t>10分</a:t>
            </a:r>
            <a:endParaRPr lang="en-US" sz="1100"/>
          </a:p>
        </p:txBody>
      </p:sp>
      <p:sp>
        <p:nvSpPr>
          <p:cNvPr name="AutoShape 18" id="18"/>
          <p:cNvSpPr/>
          <p:nvPr/>
        </p:nvSpPr>
        <p:spPr>
          <a:xfrm rot="0" flipH="false" flipV="false">
            <a:off x="1016000" y="4597400"/>
            <a:ext cx="1524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4E342E"/>
                </a:solidFill>
                <a:latin typeface="Noto Sans SC"/>
                <a:ea typeface="Noto Sans SC"/>
                <a:cs typeface="Noto Sans SC"/>
                <a:sym typeface="Noto Sans SC"/>
              </a:rPr>
              <a:t>时间维度筛选</a:t>
            </a:r>
            <a:endParaRPr lang="en-US" sz="1100"/>
          </a:p>
        </p:txBody>
      </p:sp>
      <p:sp>
        <p:nvSpPr>
          <p:cNvPr name="AutoShape 19" id="19"/>
          <p:cNvSpPr/>
          <p:nvPr/>
        </p:nvSpPr>
        <p:spPr>
          <a:xfrm rot="0" flipH="false" flipV="false">
            <a:off x="2603500" y="4597400"/>
            <a:ext cx="5270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5C4033"/>
                </a:solidFill>
                <a:latin typeface="Noto Sans SC"/>
                <a:ea typeface="Noto Sans SC"/>
                <a:cs typeface="Noto Sans SC"/>
                <a:sym typeface="Noto Sans SC"/>
              </a:rPr>
              <a:t>支持按今日、本周、本月、自定义时间区间筛选。</a:t>
            </a:r>
            <a:endParaRPr lang="en-US" sz="1100"/>
          </a:p>
        </p:txBody>
      </p:sp>
      <p:sp>
        <p:nvSpPr>
          <p:cNvPr name="AutoShape 20" id="20"/>
          <p:cNvSpPr/>
          <p:nvPr/>
        </p:nvSpPr>
        <p:spPr>
          <a:xfrm rot="0" flipH="false" flipV="false">
            <a:off x="1016000" y="4978400"/>
            <a:ext cx="1524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4E342E"/>
                </a:solidFill>
                <a:latin typeface="Noto Sans SC"/>
                <a:ea typeface="Noto Sans SC"/>
                <a:cs typeface="Noto Sans SC"/>
                <a:sym typeface="Noto Sans SC"/>
              </a:rPr>
              <a:t>类型筛选</a:t>
            </a:r>
            <a:endParaRPr lang="en-US" sz="1100"/>
          </a:p>
        </p:txBody>
      </p:sp>
      <p:sp>
        <p:nvSpPr>
          <p:cNvPr name="AutoShape 21" id="21"/>
          <p:cNvSpPr/>
          <p:nvPr/>
        </p:nvSpPr>
        <p:spPr>
          <a:xfrm rot="0" flipH="false" flipV="false">
            <a:off x="2603500" y="4978400"/>
            <a:ext cx="5270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5C4033"/>
                </a:solidFill>
                <a:latin typeface="Noto Sans SC"/>
                <a:ea typeface="Noto Sans SC"/>
                <a:cs typeface="Noto Sans SC"/>
                <a:sym typeface="Noto Sans SC"/>
              </a:rPr>
              <a:t>支持按收支类型筛选。</a:t>
            </a:r>
            <a:endParaRPr lang="en-US" sz="1100"/>
          </a:p>
        </p:txBody>
      </p:sp>
      <p:sp>
        <p:nvSpPr>
          <p:cNvPr name="AutoShape 22" id="22"/>
          <p:cNvSpPr/>
          <p:nvPr/>
        </p:nvSpPr>
        <p:spPr>
          <a:xfrm rot="0" flipH="false" flipV="false">
            <a:off x="1016000" y="5359400"/>
            <a:ext cx="1524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4E342E"/>
                </a:solidFill>
                <a:latin typeface="Noto Sans SC"/>
                <a:ea typeface="Noto Sans SC"/>
                <a:cs typeface="Noto Sans SC"/>
                <a:sym typeface="Noto Sans SC"/>
              </a:rPr>
              <a:t>分类筛选</a:t>
            </a:r>
            <a:endParaRPr lang="en-US" sz="1100"/>
          </a:p>
        </p:txBody>
      </p:sp>
      <p:sp>
        <p:nvSpPr>
          <p:cNvPr name="AutoShape 23" id="23"/>
          <p:cNvSpPr/>
          <p:nvPr/>
        </p:nvSpPr>
        <p:spPr>
          <a:xfrm rot="0" flipH="false" flipV="false">
            <a:off x="2603500" y="5359400"/>
            <a:ext cx="5270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5C4033"/>
                </a:solidFill>
                <a:latin typeface="Noto Sans SC"/>
                <a:ea typeface="Noto Sans SC"/>
                <a:cs typeface="Noto Sans SC"/>
                <a:sym typeface="Noto Sans SC"/>
              </a:rPr>
              <a:t>支持按具体的收支分类筛选。</a:t>
            </a:r>
            <a:endParaRPr lang="en-US" sz="1100"/>
          </a:p>
        </p:txBody>
      </p:sp>
      <p:sp>
        <p:nvSpPr>
          <p:cNvPr name="AutoShape 24" id="24"/>
          <p:cNvSpPr/>
          <p:nvPr/>
        </p:nvSpPr>
        <p:spPr>
          <a:xfrm rot="0" flipH="false" flipV="false">
            <a:off x="1016000" y="5740400"/>
            <a:ext cx="1524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4E342E"/>
                </a:solidFill>
                <a:latin typeface="Noto Sans SC"/>
                <a:ea typeface="Noto Sans SC"/>
                <a:cs typeface="Noto Sans SC"/>
                <a:sym typeface="Noto Sans SC"/>
              </a:rPr>
              <a:t>关键词搜索</a:t>
            </a:r>
            <a:endParaRPr lang="en-US" sz="1100"/>
          </a:p>
        </p:txBody>
      </p:sp>
      <p:sp>
        <p:nvSpPr>
          <p:cNvPr name="AutoShape 25" id="25"/>
          <p:cNvSpPr/>
          <p:nvPr/>
        </p:nvSpPr>
        <p:spPr>
          <a:xfrm rot="0" flipH="false" flipV="false">
            <a:off x="2603500" y="5740400"/>
            <a:ext cx="5270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5C4033"/>
                </a:solidFill>
                <a:latin typeface="Noto Sans SC"/>
                <a:ea typeface="Noto Sans SC"/>
                <a:cs typeface="Noto Sans SC"/>
                <a:sym typeface="Noto Sans SC"/>
              </a:rPr>
              <a:t>支持按备注信息进行模糊搜索。</a:t>
            </a:r>
            <a:endParaRPr lang="en-US" sz="1100"/>
          </a:p>
        </p:txBody>
      </p:sp>
      <p:sp>
        <p:nvSpPr>
          <p:cNvPr name="AutoShape 26" id="26"/>
          <p:cNvSpPr/>
          <p:nvPr/>
        </p:nvSpPr>
        <p:spPr>
          <a:xfrm rot="0" flipH="false" flipV="false">
            <a:off x="1016000" y="6121400"/>
            <a:ext cx="1524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4E342E"/>
                </a:solidFill>
                <a:latin typeface="Noto Sans SC"/>
                <a:ea typeface="Noto Sans SC"/>
                <a:cs typeface="Noto Sans SC"/>
                <a:sym typeface="Noto Sans SC"/>
              </a:rPr>
              <a:t>分页展示</a:t>
            </a:r>
            <a:endParaRPr lang="en-US" sz="1100"/>
          </a:p>
        </p:txBody>
      </p:sp>
      <p:sp>
        <p:nvSpPr>
          <p:cNvPr name="AutoShape 27" id="27"/>
          <p:cNvSpPr/>
          <p:nvPr/>
        </p:nvSpPr>
        <p:spPr>
          <a:xfrm rot="0" flipH="false" flipV="false">
            <a:off x="2603500" y="6121400"/>
            <a:ext cx="5270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5C4033"/>
                </a:solidFill>
                <a:latin typeface="Noto Sans SC"/>
                <a:ea typeface="Noto Sans SC"/>
                <a:cs typeface="Noto Sans SC"/>
                <a:sym typeface="Noto Sans SC"/>
              </a:rPr>
              <a:t>筛选结果支持分页展示。</a:t>
            </a:r>
            <a:endParaRPr lang="en-US" sz="1100"/>
          </a:p>
        </p:txBody>
      </p:sp>
      <p:pic>
        <p:nvPicPr>
          <p:cNvPr name="Picture 28" id="28"/>
          <p:cNvPicPr>
            <a:picLocks noChangeAspect="true"/>
          </p:cNvPicPr>
          <p:nvPr/>
        </p:nvPicPr>
        <p:blipFill>
          <a:blip r:embed="rId4"/>
          <a:srcRect l="31883" r="31883" t="0" b="0"/>
          <a:stretch>
            <a:fillRect/>
          </a:stretch>
        </p:blipFill>
        <p:spPr>
          <a:xfrm rot="0" flipH="false" flipV="false">
            <a:off x="8382000" y="0"/>
            <a:ext cx="3810000" cy="6858000"/>
          </a:xfrm>
          <a:prstGeom prst="rect">
            <a:avLst/>
          </a:prstGeom>
          <a:noFill/>
          <a:ln w="25400" cmpd="sng" cap="flat">
            <a:noFill/>
            <a:prstDash val="solid"/>
            <a:round/>
          </a:ln>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9E6">
              <a:alpha val="90000"/>
            </a:srgbClr>
          </a:solidFill>
          <a:ln cmpd="sng" cap="flat">
            <a:solidFill>
              <a:srgbClr val="E6DBB8">
                <a:alpha val="90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7620000" cy="5842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4D3621"/>
                </a:solidFill>
                <a:latin typeface="Noto Sans SC"/>
                <a:ea typeface="Noto Sans SC"/>
                <a:cs typeface="Noto Sans SC"/>
                <a:sym typeface="Noto Sans SC"/>
              </a:rPr>
              <a:t>03 系统基础需求</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10287000" y="635000"/>
            <a:ext cx="1651000" cy="495300"/>
          </a:xfrm>
          <a:prstGeom prst="rect">
            <a:avLst/>
          </a:prstGeom>
          <a:noFill/>
          <a:ln w="25400" cmpd="sng" cap="flat">
            <a:noFill/>
            <a:prstDash val="solid"/>
            <a:round/>
          </a:ln>
        </p:spPr>
      </p:pic>
      <p:sp>
        <p:nvSpPr>
          <p:cNvPr name="AutoShape 5" id="5"/>
          <p:cNvSpPr/>
          <p:nvPr/>
        </p:nvSpPr>
        <p:spPr>
          <a:xfrm rot="0" flipH="false" flipV="false">
            <a:off x="762000" y="1397000"/>
            <a:ext cx="1041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000">
                <a:solidFill>
                  <a:srgbClr val="4D3621"/>
                </a:solidFill>
                <a:latin typeface="Noto Sans SC"/>
                <a:ea typeface="Noto Sans SC"/>
                <a:cs typeface="Noto Sans SC"/>
                <a:sym typeface="Noto Sans SC"/>
              </a:rPr>
              <a:t>模块二:财务收支账务管理模块</a:t>
            </a:r>
            <a:r>
              <a:rPr lang="en-US" b="false" i="false" strike="noStrike" u="none" sz="1800">
                <a:solidFill>
                  <a:srgbClr val="4D3621">
                    <a:alpha val="74902"/>
                  </a:srgbClr>
                </a:solidFill>
                <a:latin typeface="Noto Sans SC"/>
                <a:ea typeface="Noto Sans SC"/>
                <a:cs typeface="Noto Sans SC"/>
                <a:sym typeface="Noto Sans SC"/>
              </a:rPr>
              <a:t>(40分)</a:t>
            </a:r>
            <a:endParaRPr lang="en-US" sz="1100"/>
          </a:p>
        </p:txBody>
      </p:sp>
      <p:sp>
        <p:nvSpPr>
          <p:cNvPr name="AutoShape 6" id="6"/>
          <p:cNvSpPr/>
          <p:nvPr/>
        </p:nvSpPr>
        <p:spPr>
          <a:xfrm rot="0" flipH="false" flipV="false">
            <a:off x="762000" y="1930400"/>
            <a:ext cx="10414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200">
                <a:solidFill>
                  <a:srgbClr val="4D3621"/>
                </a:solidFill>
                <a:latin typeface="Noto Sans SC"/>
                <a:ea typeface="Noto Sans SC"/>
                <a:cs typeface="Noto Sans SC"/>
                <a:sym typeface="Noto Sans SC"/>
              </a:rPr>
              <a:t>3.3.4 基础金额统计</a:t>
            </a:r>
            <a:r>
              <a:rPr lang="en-US" b="false" i="false" strike="noStrike" u="none" sz="1800">
                <a:solidFill>
                  <a:srgbClr val="4D3621">
                    <a:alpha val="70196"/>
                  </a:srgbClr>
                </a:solidFill>
                <a:latin typeface="Noto Sans SC"/>
                <a:ea typeface="Noto Sans SC"/>
                <a:cs typeface="Noto Sans SC"/>
                <a:sym typeface="Noto Sans SC"/>
              </a:rPr>
              <a:t>(10分)</a:t>
            </a:r>
            <a:endParaRPr lang="en-US" sz="1100"/>
          </a:p>
        </p:txBody>
      </p:sp>
      <p:sp>
        <p:nvSpPr>
          <p:cNvPr name="AutoShape 7" id="7"/>
          <p:cNvSpPr/>
          <p:nvPr/>
        </p:nvSpPr>
        <p:spPr>
          <a:xfrm rot="0" flipH="false" flipV="false">
            <a:off x="762000" y="2540000"/>
            <a:ext cx="3429000" cy="1778000"/>
          </a:xfrm>
          <a:prstGeom prst="roundRect">
            <a:avLst>
              <a:gd name="adj" fmla="val 0"/>
            </a:avLst>
          </a:prstGeom>
          <a:solidFill>
            <a:srgbClr val="FFFCF0">
              <a:alpha val="95000"/>
            </a:srgbClr>
          </a:solidFill>
          <a:ln cmpd="sng" cap="flat">
            <a:solidFill>
              <a:srgbClr val="E6DEC1">
                <a:alpha val="95000"/>
              </a:srgbClr>
            </a:solidFill>
            <a:prstDash val="solid"/>
            <a:round/>
          </a:ln>
        </p:spPr>
        <p:txBody>
          <a:bodyPr anchor="ctr" rtlCol="false" anchorCtr="false" vert="horz" wrap="square" lIns="0" rIns="0" tIns="0" bIns="0"/>
          <a:lstStyle/>
          <a:p>
            <a:pPr algn="ctr">
              <a:defRPr/>
            </a:pPr>
            <a:endParaRPr/>
          </a:p>
        </p:txBody>
      </p:sp>
      <p:sp>
        <p:nvSpPr>
          <p:cNvPr name="AutoShape 8" id="8"/>
          <p:cNvSpPr/>
          <p:nvPr/>
        </p:nvSpPr>
        <p:spPr>
          <a:xfrm rot="0" flipH="false" flipV="false">
            <a:off x="762000" y="2540000"/>
            <a:ext cx="50800" cy="1778000"/>
          </a:xfrm>
          <a:prstGeom prst="roundRect">
            <a:avLst>
              <a:gd name="adj" fmla="val 0"/>
            </a:avLst>
          </a:prstGeom>
          <a:solidFill>
            <a:srgbClr val="D4AF37">
              <a:alpha val="100000"/>
            </a:srgbClr>
          </a:solidFill>
          <a:ln cmpd="sng" cap="flat">
            <a:solidFill>
              <a:srgbClr val="BB961E">
                <a:alpha val="100000"/>
              </a:srgbClr>
            </a:solidFill>
            <a:prstDash val="solid"/>
            <a:round/>
          </a:ln>
        </p:spPr>
        <p:txBody>
          <a:bodyPr anchor="ctr" rtlCol="false" anchorCtr="false" vert="horz" wrap="square" lIns="0" rIns="0" tIns="0" bIns="0"/>
          <a:lstStyle/>
          <a:p>
            <a:pPr algn="ctr">
              <a:defRPr/>
            </a:pPr>
            <a:endParaRPr/>
          </a:p>
        </p:txBody>
      </p:sp>
      <p:sp>
        <p:nvSpPr>
          <p:cNvPr name="AutoShape 9" id="9"/>
          <p:cNvSpPr/>
          <p:nvPr/>
        </p:nvSpPr>
        <p:spPr>
          <a:xfrm rot="0" flipH="false" flipV="false">
            <a:off x="1016000" y="2692400"/>
            <a:ext cx="2921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400">
                <a:solidFill>
                  <a:srgbClr val="4D3621">
                    <a:alpha val="80000"/>
                  </a:srgbClr>
                </a:solidFill>
                <a:latin typeface="Noto Sans SC"/>
                <a:ea typeface="Noto Sans SC"/>
                <a:cs typeface="Noto Sans SC"/>
                <a:sym typeface="Noto Sans SC"/>
              </a:rPr>
              <a:t>总收入金额</a:t>
            </a:r>
            <a:endParaRPr lang="en-US" sz="1100"/>
          </a:p>
        </p:txBody>
      </p:sp>
      <p:sp>
        <p:nvSpPr>
          <p:cNvPr name="AutoShape 10" id="10"/>
          <p:cNvSpPr/>
          <p:nvPr/>
        </p:nvSpPr>
        <p:spPr>
          <a:xfrm rot="0" flipH="false" flipV="false">
            <a:off x="1016000" y="3073400"/>
            <a:ext cx="292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2800">
                <a:solidFill>
                  <a:srgbClr val="4D3621"/>
                </a:solidFill>
                <a:latin typeface="Noto Sans SC"/>
                <a:ea typeface="Noto Sans SC"/>
                <a:cs typeface="Noto Sans SC"/>
                <a:sym typeface="Noto Sans SC"/>
              </a:rPr>
              <a:t>总收入</a:t>
            </a:r>
            <a:endParaRPr lang="en-US" sz="1100"/>
          </a:p>
        </p:txBody>
      </p:sp>
      <p:sp>
        <p:nvSpPr>
          <p:cNvPr name="AutoShape 11" id="11"/>
          <p:cNvSpPr/>
          <p:nvPr/>
        </p:nvSpPr>
        <p:spPr>
          <a:xfrm rot="0" flipH="false" flipV="false">
            <a:off x="4508500" y="2540000"/>
            <a:ext cx="3429000" cy="1778000"/>
          </a:xfrm>
          <a:prstGeom prst="roundRect">
            <a:avLst>
              <a:gd name="adj" fmla="val 0"/>
            </a:avLst>
          </a:prstGeom>
          <a:solidFill>
            <a:srgbClr val="FFFCF0">
              <a:alpha val="95000"/>
            </a:srgbClr>
          </a:solidFill>
          <a:ln cmpd="sng" cap="flat">
            <a:solidFill>
              <a:srgbClr val="E6DEC1">
                <a:alpha val="95000"/>
              </a:srgbClr>
            </a:solidFill>
            <a:prstDash val="solid"/>
            <a:round/>
          </a:ln>
        </p:spPr>
        <p:txBody>
          <a:bodyPr anchor="ctr" rtlCol="false" anchorCtr="false" vert="horz" wrap="square" lIns="0" rIns="0" tIns="0" bIns="0"/>
          <a:lstStyle/>
          <a:p>
            <a:pPr algn="ctr">
              <a:defRPr/>
            </a:pPr>
            <a:endParaRPr/>
          </a:p>
        </p:txBody>
      </p:sp>
      <p:sp>
        <p:nvSpPr>
          <p:cNvPr name="AutoShape 12" id="12"/>
          <p:cNvSpPr/>
          <p:nvPr/>
        </p:nvSpPr>
        <p:spPr>
          <a:xfrm rot="0" flipH="false" flipV="false">
            <a:off x="4508500" y="2540000"/>
            <a:ext cx="50800" cy="1778000"/>
          </a:xfrm>
          <a:prstGeom prst="roundRect">
            <a:avLst>
              <a:gd name="adj" fmla="val 0"/>
            </a:avLst>
          </a:prstGeom>
          <a:solidFill>
            <a:srgbClr val="D4AF37">
              <a:alpha val="100000"/>
            </a:srgbClr>
          </a:solidFill>
          <a:ln cmpd="sng" cap="flat">
            <a:solidFill>
              <a:srgbClr val="BB961E">
                <a:alpha val="100000"/>
              </a:srgbClr>
            </a:solid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4762500" y="2692400"/>
            <a:ext cx="2921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400">
                <a:solidFill>
                  <a:srgbClr val="4D3621">
                    <a:alpha val="80000"/>
                  </a:srgbClr>
                </a:solidFill>
                <a:latin typeface="Noto Sans SC"/>
                <a:ea typeface="Noto Sans SC"/>
                <a:cs typeface="Noto Sans SC"/>
                <a:sym typeface="Noto Sans SC"/>
              </a:rPr>
              <a:t>总支出金额</a:t>
            </a:r>
            <a:endParaRPr lang="en-US" sz="1100"/>
          </a:p>
        </p:txBody>
      </p:sp>
      <p:sp>
        <p:nvSpPr>
          <p:cNvPr name="AutoShape 14" id="14"/>
          <p:cNvSpPr/>
          <p:nvPr/>
        </p:nvSpPr>
        <p:spPr>
          <a:xfrm rot="0" flipH="false" flipV="false">
            <a:off x="4762500" y="3073400"/>
            <a:ext cx="292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2800">
                <a:solidFill>
                  <a:srgbClr val="4D3621"/>
                </a:solidFill>
                <a:latin typeface="Noto Sans SC"/>
                <a:ea typeface="Noto Sans SC"/>
                <a:cs typeface="Noto Sans SC"/>
                <a:sym typeface="Noto Sans SC"/>
              </a:rPr>
              <a:t>总支出</a:t>
            </a:r>
            <a:endParaRPr lang="en-US" sz="1100"/>
          </a:p>
        </p:txBody>
      </p:sp>
      <p:sp>
        <p:nvSpPr>
          <p:cNvPr name="AutoShape 15" id="15"/>
          <p:cNvSpPr/>
          <p:nvPr/>
        </p:nvSpPr>
        <p:spPr>
          <a:xfrm rot="0" flipH="false" flipV="false">
            <a:off x="8255000" y="2540000"/>
            <a:ext cx="3429000" cy="1778000"/>
          </a:xfrm>
          <a:prstGeom prst="roundRect">
            <a:avLst>
              <a:gd name="adj" fmla="val 0"/>
            </a:avLst>
          </a:prstGeom>
          <a:solidFill>
            <a:srgbClr val="FFFCF0">
              <a:alpha val="95000"/>
            </a:srgbClr>
          </a:solidFill>
          <a:ln cmpd="sng" cap="flat">
            <a:solidFill>
              <a:srgbClr val="E6DEC1">
                <a:alpha val="95000"/>
              </a:srgbClr>
            </a:solidFill>
            <a:prstDash val="solid"/>
            <a:round/>
          </a:ln>
        </p:spPr>
        <p:txBody>
          <a:bodyPr anchor="ctr" rtlCol="false" anchorCtr="false" vert="horz" wrap="square" lIns="0" rIns="0" tIns="0" bIns="0"/>
          <a:lstStyle/>
          <a:p>
            <a:pPr algn="ctr">
              <a:defRPr/>
            </a:pPr>
            <a:endParaRPr/>
          </a:p>
        </p:txBody>
      </p:sp>
      <p:sp>
        <p:nvSpPr>
          <p:cNvPr name="AutoShape 16" id="16"/>
          <p:cNvSpPr/>
          <p:nvPr/>
        </p:nvSpPr>
        <p:spPr>
          <a:xfrm rot="0" flipH="false" flipV="false">
            <a:off x="8255000" y="2540000"/>
            <a:ext cx="50800" cy="1778000"/>
          </a:xfrm>
          <a:prstGeom prst="roundRect">
            <a:avLst>
              <a:gd name="adj" fmla="val 0"/>
            </a:avLst>
          </a:prstGeom>
          <a:solidFill>
            <a:srgbClr val="D4AF37">
              <a:alpha val="100000"/>
            </a:srgbClr>
          </a:solidFill>
          <a:ln cmpd="sng" cap="flat">
            <a:solidFill>
              <a:srgbClr val="BB961E">
                <a:alpha val="100000"/>
              </a:srgbClr>
            </a:solidFill>
            <a:prstDash val="solid"/>
            <a:round/>
          </a:ln>
        </p:spPr>
        <p:txBody>
          <a:bodyPr anchor="ctr" rtlCol="false" anchorCtr="false" vert="horz" wrap="square" lIns="0" rIns="0" tIns="0" bIns="0"/>
          <a:lstStyle/>
          <a:p>
            <a:pPr algn="ctr">
              <a:defRPr/>
            </a:pPr>
            <a:endParaRPr/>
          </a:p>
        </p:txBody>
      </p:sp>
      <p:sp>
        <p:nvSpPr>
          <p:cNvPr name="AutoShape 17" id="17"/>
          <p:cNvSpPr/>
          <p:nvPr/>
        </p:nvSpPr>
        <p:spPr>
          <a:xfrm rot="0" flipH="false" flipV="false">
            <a:off x="8509000" y="2692400"/>
            <a:ext cx="304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400">
                <a:solidFill>
                  <a:srgbClr val="4D3621">
                    <a:alpha val="80000"/>
                  </a:srgbClr>
                </a:solidFill>
                <a:latin typeface="Noto Sans SC"/>
                <a:ea typeface="Noto Sans SC"/>
                <a:cs typeface="Noto Sans SC"/>
                <a:sym typeface="Noto Sans SC"/>
              </a:rPr>
              <a:t>当期结余金额(总收入-总支出)</a:t>
            </a:r>
            <a:endParaRPr lang="en-US" sz="1100"/>
          </a:p>
        </p:txBody>
      </p:sp>
      <p:sp>
        <p:nvSpPr>
          <p:cNvPr name="AutoShape 18" id="18"/>
          <p:cNvSpPr/>
          <p:nvPr/>
        </p:nvSpPr>
        <p:spPr>
          <a:xfrm rot="0" flipH="false" flipV="false">
            <a:off x="8509000" y="3073400"/>
            <a:ext cx="304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2800">
                <a:solidFill>
                  <a:srgbClr val="4D3621"/>
                </a:solidFill>
                <a:latin typeface="Noto Sans SC"/>
                <a:ea typeface="Noto Sans SC"/>
                <a:cs typeface="Noto Sans SC"/>
                <a:sym typeface="Noto Sans SC"/>
              </a:rPr>
              <a:t>当期结余</a:t>
            </a:r>
            <a:endParaRPr lang="en-US" sz="1100"/>
          </a:p>
        </p:txBody>
      </p:sp>
      <p:sp>
        <p:nvSpPr>
          <p:cNvPr name="AutoShape 19" id="19"/>
          <p:cNvSpPr/>
          <p:nvPr/>
        </p:nvSpPr>
        <p:spPr>
          <a:xfrm rot="0" flipH="false" flipV="false">
            <a:off x="762000" y="4572000"/>
            <a:ext cx="5207000" cy="1460500"/>
          </a:xfrm>
          <a:prstGeom prst="roundRect">
            <a:avLst>
              <a:gd name="adj" fmla="val 0"/>
            </a:avLst>
          </a:prstGeom>
          <a:solidFill>
            <a:srgbClr val="FFFCF0">
              <a:alpha val="90000"/>
            </a:srgbClr>
          </a:solidFill>
          <a:ln cmpd="sng" cap="flat">
            <a:solidFill>
              <a:srgbClr val="E6DEC1">
                <a:alpha val="90000"/>
              </a:srgbClr>
            </a:solidFill>
            <a:prstDash val="solid"/>
            <a:round/>
          </a:ln>
        </p:spPr>
        <p:txBody>
          <a:bodyPr anchor="ctr" rtlCol="false" anchorCtr="false" vert="horz" wrap="square" lIns="0" rIns="0" tIns="0" bIns="0"/>
          <a:lstStyle/>
          <a:p>
            <a:pPr algn="ctr">
              <a:defRPr/>
            </a:pPr>
            <a:endParaRPr/>
          </a:p>
        </p:txBody>
      </p:sp>
      <p:sp>
        <p:nvSpPr>
          <p:cNvPr name="AutoShape 20" id="20"/>
          <p:cNvSpPr/>
          <p:nvPr/>
        </p:nvSpPr>
        <p:spPr>
          <a:xfrm rot="0" flipH="false" flipV="false">
            <a:off x="762000" y="4572000"/>
            <a:ext cx="50800" cy="1460500"/>
          </a:xfrm>
          <a:prstGeom prst="roundRect">
            <a:avLst>
              <a:gd name="adj" fmla="val 0"/>
            </a:avLst>
          </a:prstGeom>
          <a:solidFill>
            <a:srgbClr val="D4AF37">
              <a:alpha val="100000"/>
            </a:srgbClr>
          </a:solidFill>
          <a:ln cmpd="sng" cap="flat">
            <a:solidFill>
              <a:srgbClr val="BB961E">
                <a:alpha val="100000"/>
              </a:srgbClr>
            </a:solidFill>
            <a:prstDash val="solid"/>
            <a:round/>
          </a:ln>
        </p:spPr>
        <p:txBody>
          <a:bodyPr anchor="ctr" rtlCol="false" anchorCtr="false" vert="horz" wrap="square" lIns="0" rIns="0" tIns="0" bIns="0"/>
          <a:lstStyle/>
          <a:p>
            <a:pPr algn="ctr">
              <a:defRPr/>
            </a:pPr>
            <a:endParaRPr/>
          </a:p>
        </p:txBody>
      </p:sp>
      <p:sp>
        <p:nvSpPr>
          <p:cNvPr name="AutoShape 21" id="21"/>
          <p:cNvSpPr/>
          <p:nvPr/>
        </p:nvSpPr>
        <p:spPr>
          <a:xfrm rot="0" flipH="false" flipV="false">
            <a:off x="1041400" y="4699000"/>
            <a:ext cx="4699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D3621"/>
                </a:solidFill>
                <a:latin typeface="Noto Sans SC"/>
                <a:ea typeface="Noto Sans SC"/>
                <a:cs typeface="Noto Sans SC"/>
                <a:sym typeface="Noto Sans SC"/>
              </a:rPr>
              <a:t>动态更新</a:t>
            </a:r>
            <a:endParaRPr lang="en-US" sz="1100"/>
          </a:p>
        </p:txBody>
      </p:sp>
      <p:sp>
        <p:nvSpPr>
          <p:cNvPr name="AutoShape 22" id="22"/>
          <p:cNvSpPr/>
          <p:nvPr/>
        </p:nvSpPr>
        <p:spPr>
          <a:xfrm rot="0" flipH="false" flipV="false">
            <a:off x="1041400" y="5080000"/>
            <a:ext cx="4800600" cy="8255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300">
                <a:solidFill>
                  <a:srgbClr val="4D3621">
                    <a:alpha val="85098"/>
                  </a:srgbClr>
                </a:solidFill>
                <a:latin typeface="Noto Sans SC"/>
                <a:ea typeface="Noto Sans SC"/>
                <a:cs typeface="Noto Sans SC"/>
                <a:sym typeface="Noto Sans SC"/>
              </a:rPr>
              <a:t>统计数据需根据当前的筛选条件实时更新。</a:t>
            </a:r>
            <a:endParaRPr lang="en-US" sz="1100"/>
          </a:p>
        </p:txBody>
      </p:sp>
      <p:sp>
        <p:nvSpPr>
          <p:cNvPr name="AutoShape 23" id="23"/>
          <p:cNvSpPr/>
          <p:nvPr/>
        </p:nvSpPr>
        <p:spPr>
          <a:xfrm rot="0" flipH="false" flipV="false">
            <a:off x="6350000" y="4572000"/>
            <a:ext cx="5207000" cy="1460500"/>
          </a:xfrm>
          <a:prstGeom prst="roundRect">
            <a:avLst>
              <a:gd name="adj" fmla="val 0"/>
            </a:avLst>
          </a:prstGeom>
          <a:solidFill>
            <a:srgbClr val="FFFCF0">
              <a:alpha val="90000"/>
            </a:srgbClr>
          </a:solidFill>
          <a:ln cmpd="sng" cap="flat">
            <a:solidFill>
              <a:srgbClr val="E6DEC1">
                <a:alpha val="90000"/>
              </a:srgbClr>
            </a:solidFill>
            <a:prstDash val="solid"/>
            <a:round/>
          </a:ln>
        </p:spPr>
        <p:txBody>
          <a:bodyPr anchor="ctr" rtlCol="false" anchorCtr="false" vert="horz" wrap="square" lIns="0" rIns="0" tIns="0" bIns="0"/>
          <a:lstStyle/>
          <a:p>
            <a:pPr algn="ctr">
              <a:defRPr/>
            </a:pPr>
            <a:endParaRPr/>
          </a:p>
        </p:txBody>
      </p:sp>
      <p:sp>
        <p:nvSpPr>
          <p:cNvPr name="AutoShape 24" id="24"/>
          <p:cNvSpPr/>
          <p:nvPr/>
        </p:nvSpPr>
        <p:spPr>
          <a:xfrm rot="0" flipH="false" flipV="false">
            <a:off x="6350000" y="4572000"/>
            <a:ext cx="50800" cy="1460500"/>
          </a:xfrm>
          <a:prstGeom prst="roundRect">
            <a:avLst>
              <a:gd name="adj" fmla="val 0"/>
            </a:avLst>
          </a:prstGeom>
          <a:solidFill>
            <a:srgbClr val="D4AF37">
              <a:alpha val="100000"/>
            </a:srgbClr>
          </a:solidFill>
          <a:ln cmpd="sng" cap="flat">
            <a:solidFill>
              <a:srgbClr val="BB961E">
                <a:alpha val="100000"/>
              </a:srgbClr>
            </a:solidFill>
            <a:prstDash val="solid"/>
            <a:round/>
          </a:ln>
        </p:spPr>
        <p:txBody>
          <a:bodyPr anchor="ctr" rtlCol="false" anchorCtr="false" vert="horz" wrap="square" lIns="0" rIns="0" tIns="0" bIns="0"/>
          <a:lstStyle/>
          <a:p>
            <a:pPr algn="ctr">
              <a:defRPr/>
            </a:pPr>
            <a:endParaRPr/>
          </a:p>
        </p:txBody>
      </p:sp>
      <p:sp>
        <p:nvSpPr>
          <p:cNvPr name="AutoShape 25" id="25"/>
          <p:cNvSpPr/>
          <p:nvPr/>
        </p:nvSpPr>
        <p:spPr>
          <a:xfrm rot="0" flipH="false" flipV="false">
            <a:off x="6629400" y="4699000"/>
            <a:ext cx="4699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D3621"/>
                </a:solidFill>
                <a:latin typeface="Noto Sans SC"/>
                <a:ea typeface="Noto Sans SC"/>
                <a:cs typeface="Noto Sans SC"/>
                <a:sym typeface="Noto Sans SC"/>
              </a:rPr>
              <a:t>精度保证</a:t>
            </a:r>
            <a:endParaRPr lang="en-US" sz="1100"/>
          </a:p>
        </p:txBody>
      </p:sp>
      <p:sp>
        <p:nvSpPr>
          <p:cNvPr name="AutoShape 26" id="26"/>
          <p:cNvSpPr/>
          <p:nvPr/>
        </p:nvSpPr>
        <p:spPr>
          <a:xfrm rot="0" flipH="false" flipV="false">
            <a:off x="6629400" y="5080000"/>
            <a:ext cx="4800600" cy="8255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300">
                <a:solidFill>
                  <a:srgbClr val="4D3621">
                    <a:alpha val="85098"/>
                  </a:srgbClr>
                </a:solidFill>
                <a:latin typeface="Noto Sans SC"/>
                <a:ea typeface="Noto Sans SC"/>
                <a:cs typeface="Noto Sans SC"/>
                <a:sym typeface="Noto Sans SC"/>
              </a:rPr>
              <a:t>确保金额计算精准无误差,特别是小数精度的处理。</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BEB">
              <a:alpha val="90000"/>
            </a:srgbClr>
          </a:solidFill>
          <a:ln cmpd="sng" cap="flat">
            <a:solidFill>
              <a:srgbClr val="E6DDBD">
                <a:alpha val="90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8509000" y="0"/>
            <a:ext cx="3683000" cy="6858000"/>
          </a:xfrm>
          <a:prstGeom prst="roundRect">
            <a:avLst>
              <a:gd name="adj" fmla="val 0"/>
            </a:avLst>
          </a:prstGeom>
          <a:gradFill rotWithShape="true">
            <a:gsLst>
              <a:gs pos="0">
                <a:srgbClr val="000000">
                  <a:alpha val="0"/>
                </a:srgbClr>
              </a:gs>
              <a:gs pos="100000">
                <a:srgbClr val="6D5238">
                  <a:alpha val="15000"/>
                </a:srgbClr>
              </a:gs>
            </a:gsLst>
            <a:lin ang="0"/>
          </a:gradFill>
          <a:ln cmpd="sng" cap="flat">
            <a:gradFill rotWithShape="true">
              <a:gsLst>
                <a:gs pos="0">
                  <a:srgbClr val="000000">
                    <a:alpha val="0"/>
                  </a:srgbClr>
                </a:gs>
                <a:gs pos="100000">
                  <a:srgbClr val="533B23">
                    <a:alpha val="15000"/>
                  </a:srgbClr>
                </a:gs>
              </a:gsLst>
              <a:lin ang="0"/>
            </a:gradFill>
            <a:prstDash val="solid"/>
            <a:round/>
          </a:ln>
        </p:spPr>
        <p:txBody>
          <a:bodyPr anchor="ctr" rtlCol="false" anchorCtr="false" vert="horz" wrap="square" lIns="0" rIns="0" tIns="0" bIns="0"/>
          <a:lstStyle/>
          <a:p>
            <a:pPr algn="ctr">
              <a:defRPr/>
            </a:pPr>
            <a:endParaRPr/>
          </a:p>
        </p:txBody>
      </p:sp>
      <p:sp>
        <p:nvSpPr>
          <p:cNvPr name="AutoShape 4" id="4"/>
          <p:cNvSpPr/>
          <p:nvPr/>
        </p:nvSpPr>
        <p:spPr>
          <a:xfrm rot="0" flipH="false" flipV="false">
            <a:off x="762000" y="635000"/>
            <a:ext cx="10414000" cy="635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574029"/>
                </a:solidFill>
                <a:latin typeface="Noto Sans SC"/>
                <a:ea typeface="Noto Sans SC"/>
                <a:cs typeface="Noto Sans SC"/>
                <a:sym typeface="Noto Sans SC"/>
              </a:rPr>
              <a:t>04 进阶加分拓展需求(选做,满分20分)</a:t>
            </a:r>
            <a:endParaRPr lang="en-US" sz="1100"/>
          </a:p>
        </p:txBody>
      </p:sp>
      <p:sp>
        <p:nvSpPr>
          <p:cNvPr name="AutoShape 5" id="5"/>
          <p:cNvSpPr/>
          <p:nvPr/>
        </p:nvSpPr>
        <p:spPr>
          <a:xfrm rot="0" flipH="false" flipV="false">
            <a:off x="762000" y="1371600"/>
            <a:ext cx="104140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400">
                <a:solidFill>
                  <a:srgbClr val="6D5238"/>
                </a:solidFill>
                <a:latin typeface="Noto Sans SC"/>
                <a:ea typeface="Noto Sans SC"/>
                <a:cs typeface="Noto Sans SC"/>
                <a:sym typeface="Noto Sans SC"/>
              </a:rPr>
              <a:t>完成以下拓展功能可以获得额外加分,所有加分项可叠加,总分上限为100分。</a:t>
            </a:r>
            <a:endParaRPr lang="en-US" sz="1100"/>
          </a:p>
        </p:txBody>
      </p:sp>
      <p:sp>
        <p:nvSpPr>
          <p:cNvPr name="AutoShape 6" id="6"/>
          <p:cNvSpPr/>
          <p:nvPr/>
        </p:nvSpPr>
        <p:spPr>
          <a:xfrm rot="0" flipH="false" flipV="false">
            <a:off x="762000" y="1930400"/>
            <a:ext cx="6350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000">
                <a:solidFill>
                  <a:srgbClr val="574029"/>
                </a:solidFill>
                <a:latin typeface="Noto Sans SC"/>
                <a:ea typeface="Noto Sans SC"/>
                <a:cs typeface="Noto Sans SC"/>
                <a:sym typeface="Noto Sans SC"/>
              </a:rPr>
              <a:t>4.1 数据可视化统计图表</a:t>
            </a:r>
            <a:endParaRPr lang="en-US" sz="1100"/>
          </a:p>
        </p:txBody>
      </p:sp>
      <p:sp>
        <p:nvSpPr>
          <p:cNvPr name="AutoShape 7" id="7"/>
          <p:cNvSpPr/>
          <p:nvPr/>
        </p:nvSpPr>
        <p:spPr>
          <a:xfrm rot="0" flipH="false" flipV="false">
            <a:off x="6477000" y="1930400"/>
            <a:ext cx="762000" cy="431800"/>
          </a:xfrm>
          <a:prstGeom prst="roundRect">
            <a:avLst>
              <a:gd name="adj" fmla="val 0"/>
            </a:avLst>
          </a:prstGeom>
          <a:solidFill>
            <a:srgbClr val="D4AF37">
              <a:alpha val="100000"/>
            </a:srgbClr>
          </a:solidFill>
          <a:ln cmpd="sng" cap="flat">
            <a:solidFill>
              <a:srgbClr val="BB961E">
                <a:alpha val="100000"/>
              </a:srgbClr>
            </a:solidFill>
            <a:prstDash val="solid"/>
            <a:round/>
          </a:ln>
        </p:spPr>
        <p:txBody>
          <a:bodyPr anchor="ctr" rtlCol="false" anchorCtr="false" vert="horz" wrap="square" lIns="0" rIns="0" tIns="0" bIns="0"/>
          <a:lstStyle/>
          <a:p>
            <a:pPr algn="ctr">
              <a:defRPr/>
            </a:pPr>
            <a:endParaRPr/>
          </a:p>
        </p:txBody>
      </p:sp>
      <p:sp>
        <p:nvSpPr>
          <p:cNvPr name="AutoShape 8" id="8"/>
          <p:cNvSpPr/>
          <p:nvPr/>
        </p:nvSpPr>
        <p:spPr>
          <a:xfrm rot="0" flipH="false" flipV="false">
            <a:off x="6477000" y="1930400"/>
            <a:ext cx="762000" cy="431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true" i="false" strike="noStrike" u="none" sz="1600">
                <a:solidFill>
                  <a:srgbClr val="FFFFFF"/>
                </a:solidFill>
                <a:latin typeface="Noto Sans SC"/>
                <a:ea typeface="Noto Sans SC"/>
                <a:cs typeface="Noto Sans SC"/>
                <a:sym typeface="Noto Sans SC"/>
              </a:rPr>
              <a:t>6分</a:t>
            </a:r>
            <a:endParaRPr lang="en-US" sz="1100"/>
          </a:p>
        </p:txBody>
      </p:sp>
      <p:sp>
        <p:nvSpPr>
          <p:cNvPr name="AutoShape 9" id="9"/>
          <p:cNvSpPr/>
          <p:nvPr/>
        </p:nvSpPr>
        <p:spPr>
          <a:xfrm rot="0" flipH="false" flipV="false">
            <a:off x="762000" y="2489200"/>
            <a:ext cx="77470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9166"/>
              </a:lnSpc>
              <a:defRPr/>
            </a:pPr>
            <a:r>
              <a:rPr lang="en-US" b="false" i="false" strike="noStrike" u="none" sz="1400">
                <a:solidFill>
                  <a:srgbClr val="6D5238"/>
                </a:solidFill>
                <a:latin typeface="Noto Sans SC"/>
                <a:ea typeface="Noto Sans SC"/>
                <a:cs typeface="Noto Sans SC"/>
                <a:sym typeface="Noto Sans SC"/>
              </a:rPr>
              <a:t>需求:基于ECharts或其他图表库,实现一个首页数据看板(Dashboard)。</a:t>
            </a:r>
            <a:endParaRPr lang="en-US" sz="1100"/>
          </a:p>
        </p:txBody>
      </p:sp>
      <p:sp>
        <p:nvSpPr>
          <p:cNvPr name="AutoShape 10" id="10"/>
          <p:cNvSpPr/>
          <p:nvPr/>
        </p:nvSpPr>
        <p:spPr>
          <a:xfrm rot="0" flipH="false" flipV="false">
            <a:off x="762000" y="3200400"/>
            <a:ext cx="774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600">
                <a:solidFill>
                  <a:srgbClr val="574029"/>
                </a:solidFill>
                <a:latin typeface="Noto Sans SC"/>
                <a:ea typeface="Noto Sans SC"/>
                <a:cs typeface="Noto Sans SC"/>
                <a:sym typeface="Noto Sans SC"/>
              </a:rPr>
              <a:t>图表要求</a:t>
            </a:r>
            <a:endParaRPr lang="en-US" sz="1100"/>
          </a:p>
        </p:txBody>
      </p:sp>
      <p:sp>
        <p:nvSpPr>
          <p:cNvPr name="AutoShape 11" id="11"/>
          <p:cNvSpPr/>
          <p:nvPr/>
        </p:nvSpPr>
        <p:spPr>
          <a:xfrm rot="0" flipH="false" flipV="false">
            <a:off x="762000" y="3606800"/>
            <a:ext cx="2489200" cy="1498600"/>
          </a:xfrm>
          <a:prstGeom prst="roundRect">
            <a:avLst>
              <a:gd name="adj" fmla="val 0"/>
            </a:avLst>
          </a:prstGeom>
          <a:solidFill>
            <a:srgbClr val="FFF8E1">
              <a:alpha val="90000"/>
            </a:srgbClr>
          </a:solidFill>
          <a:ln cmpd="sng" cap="flat">
            <a:solidFill>
              <a:srgbClr val="E6DAB4">
                <a:alpha val="90000"/>
              </a:srgbClr>
            </a:solidFill>
            <a:prstDash val="solid"/>
            <a:round/>
          </a:ln>
        </p:spPr>
        <p:txBody>
          <a:bodyPr anchor="ctr" rtlCol="false" anchorCtr="false" vert="horz" wrap="square" lIns="0" rIns="0" tIns="0" bIns="0"/>
          <a:lstStyle/>
          <a:p>
            <a:pPr algn="ctr">
              <a:defRPr/>
            </a:pPr>
            <a:endParaRPr/>
          </a:p>
        </p:txBody>
      </p:sp>
      <p:sp>
        <p:nvSpPr>
          <p:cNvPr name="AutoShape 12" id="12"/>
          <p:cNvSpPr/>
          <p:nvPr/>
        </p:nvSpPr>
        <p:spPr>
          <a:xfrm rot="0" flipH="false" flipV="false">
            <a:off x="762000" y="3606800"/>
            <a:ext cx="50800" cy="1498600"/>
          </a:xfrm>
          <a:prstGeom prst="roundRect">
            <a:avLst>
              <a:gd name="adj" fmla="val 0"/>
            </a:avLst>
          </a:prstGeom>
          <a:solidFill>
            <a:srgbClr val="574029">
              <a:alpha val="100000"/>
            </a:srgbClr>
          </a:solidFill>
          <a:ln cmpd="sng" cap="flat">
            <a:solidFill>
              <a:srgbClr val="3E2A17">
                <a:alpha val="100000"/>
              </a:srgbClr>
            </a:solid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914400" y="3683000"/>
            <a:ext cx="22352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500">
                <a:solidFill>
                  <a:srgbClr val="574029"/>
                </a:solidFill>
                <a:latin typeface="Noto Sans SC"/>
                <a:ea typeface="Noto Sans SC"/>
                <a:cs typeface="Noto Sans SC"/>
                <a:sym typeface="Noto Sans SC"/>
              </a:rPr>
              <a:t>月度收支趋势折线图</a:t>
            </a:r>
            <a:endParaRPr lang="en-US" sz="1100"/>
          </a:p>
        </p:txBody>
      </p:sp>
      <p:sp>
        <p:nvSpPr>
          <p:cNvPr name="AutoShape 14" id="14"/>
          <p:cNvSpPr/>
          <p:nvPr/>
        </p:nvSpPr>
        <p:spPr>
          <a:xfrm rot="0" flipH="false" flipV="false">
            <a:off x="914400" y="4064000"/>
            <a:ext cx="2235200" cy="8890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200">
                <a:solidFill>
                  <a:srgbClr val="6D5238"/>
                </a:solidFill>
                <a:latin typeface="Noto Sans SC"/>
                <a:ea typeface="Noto Sans SC"/>
                <a:cs typeface="Noto Sans SC"/>
                <a:sym typeface="Noto Sans SC"/>
              </a:rPr>
              <a:t>展示近12个月的收入和支出变化趋势。</a:t>
            </a:r>
            <a:endParaRPr lang="en-US" sz="1100"/>
          </a:p>
        </p:txBody>
      </p:sp>
      <p:sp>
        <p:nvSpPr>
          <p:cNvPr name="AutoShape 15" id="15"/>
          <p:cNvSpPr/>
          <p:nvPr/>
        </p:nvSpPr>
        <p:spPr>
          <a:xfrm rot="0" flipH="false" flipV="false">
            <a:off x="3390900" y="3606800"/>
            <a:ext cx="2489200" cy="1498600"/>
          </a:xfrm>
          <a:prstGeom prst="roundRect">
            <a:avLst>
              <a:gd name="adj" fmla="val 0"/>
            </a:avLst>
          </a:prstGeom>
          <a:solidFill>
            <a:srgbClr val="FFF8E1">
              <a:alpha val="90000"/>
            </a:srgbClr>
          </a:solidFill>
          <a:ln cmpd="sng" cap="flat">
            <a:solidFill>
              <a:srgbClr val="E6DAB4">
                <a:alpha val="90000"/>
              </a:srgbClr>
            </a:solidFill>
            <a:prstDash val="solid"/>
            <a:round/>
          </a:ln>
        </p:spPr>
        <p:txBody>
          <a:bodyPr anchor="ctr" rtlCol="false" anchorCtr="false" vert="horz" wrap="square" lIns="0" rIns="0" tIns="0" bIns="0"/>
          <a:lstStyle/>
          <a:p>
            <a:pPr algn="ctr">
              <a:defRPr/>
            </a:pPr>
            <a:endParaRPr/>
          </a:p>
        </p:txBody>
      </p:sp>
      <p:sp>
        <p:nvSpPr>
          <p:cNvPr name="AutoShape 16" id="16"/>
          <p:cNvSpPr/>
          <p:nvPr/>
        </p:nvSpPr>
        <p:spPr>
          <a:xfrm rot="0" flipH="false" flipV="false">
            <a:off x="3390900" y="3606800"/>
            <a:ext cx="50800" cy="1498600"/>
          </a:xfrm>
          <a:prstGeom prst="roundRect">
            <a:avLst>
              <a:gd name="adj" fmla="val 0"/>
            </a:avLst>
          </a:prstGeom>
          <a:solidFill>
            <a:srgbClr val="574029">
              <a:alpha val="100000"/>
            </a:srgbClr>
          </a:solidFill>
          <a:ln cmpd="sng" cap="flat">
            <a:solidFill>
              <a:srgbClr val="3E2A17">
                <a:alpha val="100000"/>
              </a:srgbClr>
            </a:solidFill>
            <a:prstDash val="solid"/>
            <a:round/>
          </a:ln>
        </p:spPr>
        <p:txBody>
          <a:bodyPr anchor="ctr" rtlCol="false" anchorCtr="false" vert="horz" wrap="square" lIns="0" rIns="0" tIns="0" bIns="0"/>
          <a:lstStyle/>
          <a:p>
            <a:pPr algn="ctr">
              <a:defRPr/>
            </a:pPr>
            <a:endParaRPr/>
          </a:p>
        </p:txBody>
      </p:sp>
      <p:sp>
        <p:nvSpPr>
          <p:cNvPr name="AutoShape 17" id="17"/>
          <p:cNvSpPr/>
          <p:nvPr/>
        </p:nvSpPr>
        <p:spPr>
          <a:xfrm rot="0" flipH="false" flipV="false">
            <a:off x="3543300" y="3683000"/>
            <a:ext cx="22352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500">
                <a:solidFill>
                  <a:srgbClr val="574029"/>
                </a:solidFill>
                <a:latin typeface="Noto Sans SC"/>
                <a:ea typeface="Noto Sans SC"/>
                <a:cs typeface="Noto Sans SC"/>
                <a:sym typeface="Noto Sans SC"/>
              </a:rPr>
              <a:t>收支分类占比饼图</a:t>
            </a:r>
            <a:endParaRPr lang="en-US" sz="1100"/>
          </a:p>
        </p:txBody>
      </p:sp>
      <p:sp>
        <p:nvSpPr>
          <p:cNvPr name="AutoShape 18" id="18"/>
          <p:cNvSpPr/>
          <p:nvPr/>
        </p:nvSpPr>
        <p:spPr>
          <a:xfrm rot="0" flipH="false" flipV="false">
            <a:off x="3543300" y="4064000"/>
            <a:ext cx="2235200" cy="8890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200">
                <a:solidFill>
                  <a:srgbClr val="6D5238"/>
                </a:solidFill>
                <a:latin typeface="Noto Sans SC"/>
                <a:ea typeface="Noto Sans SC"/>
                <a:cs typeface="Noto Sans SC"/>
                <a:sym typeface="Noto Sans SC"/>
              </a:rPr>
              <a:t>展示当前筛选条件下,各收支分类的金额占比。</a:t>
            </a:r>
            <a:endParaRPr lang="en-US" sz="1100"/>
          </a:p>
        </p:txBody>
      </p:sp>
      <p:sp>
        <p:nvSpPr>
          <p:cNvPr name="AutoShape 19" id="19"/>
          <p:cNvSpPr/>
          <p:nvPr/>
        </p:nvSpPr>
        <p:spPr>
          <a:xfrm rot="0" flipH="false" flipV="false">
            <a:off x="6019800" y="3606800"/>
            <a:ext cx="2489200" cy="1498600"/>
          </a:xfrm>
          <a:prstGeom prst="roundRect">
            <a:avLst>
              <a:gd name="adj" fmla="val 0"/>
            </a:avLst>
          </a:prstGeom>
          <a:solidFill>
            <a:srgbClr val="FFF8E1">
              <a:alpha val="90000"/>
            </a:srgbClr>
          </a:solidFill>
          <a:ln cmpd="sng" cap="flat">
            <a:solidFill>
              <a:srgbClr val="E6DAB4">
                <a:alpha val="90000"/>
              </a:srgbClr>
            </a:solidFill>
            <a:prstDash val="solid"/>
            <a:round/>
          </a:ln>
        </p:spPr>
        <p:txBody>
          <a:bodyPr anchor="ctr" rtlCol="false" anchorCtr="false" vert="horz" wrap="square" lIns="0" rIns="0" tIns="0" bIns="0"/>
          <a:lstStyle/>
          <a:p>
            <a:pPr algn="ctr">
              <a:defRPr/>
            </a:pPr>
            <a:endParaRPr/>
          </a:p>
        </p:txBody>
      </p:sp>
      <p:sp>
        <p:nvSpPr>
          <p:cNvPr name="AutoShape 20" id="20"/>
          <p:cNvSpPr/>
          <p:nvPr/>
        </p:nvSpPr>
        <p:spPr>
          <a:xfrm rot="0" flipH="false" flipV="false">
            <a:off x="6019800" y="3606800"/>
            <a:ext cx="50800" cy="1498600"/>
          </a:xfrm>
          <a:prstGeom prst="roundRect">
            <a:avLst>
              <a:gd name="adj" fmla="val 0"/>
            </a:avLst>
          </a:prstGeom>
          <a:solidFill>
            <a:srgbClr val="574029">
              <a:alpha val="100000"/>
            </a:srgbClr>
          </a:solidFill>
          <a:ln cmpd="sng" cap="flat">
            <a:solidFill>
              <a:srgbClr val="3E2A17">
                <a:alpha val="100000"/>
              </a:srgbClr>
            </a:solidFill>
            <a:prstDash val="solid"/>
            <a:round/>
          </a:ln>
        </p:spPr>
        <p:txBody>
          <a:bodyPr anchor="ctr" rtlCol="false" anchorCtr="false" vert="horz" wrap="square" lIns="0" rIns="0" tIns="0" bIns="0"/>
          <a:lstStyle/>
          <a:p>
            <a:pPr algn="ctr">
              <a:defRPr/>
            </a:pPr>
            <a:endParaRPr/>
          </a:p>
        </p:txBody>
      </p:sp>
      <p:sp>
        <p:nvSpPr>
          <p:cNvPr name="AutoShape 21" id="21"/>
          <p:cNvSpPr/>
          <p:nvPr/>
        </p:nvSpPr>
        <p:spPr>
          <a:xfrm rot="0" flipH="false" flipV="false">
            <a:off x="6172200" y="3683000"/>
            <a:ext cx="22352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500">
                <a:solidFill>
                  <a:srgbClr val="574029"/>
                </a:solidFill>
                <a:latin typeface="Noto Sans SC"/>
                <a:ea typeface="Noto Sans SC"/>
                <a:cs typeface="Noto Sans SC"/>
                <a:sym typeface="Noto Sans SC"/>
              </a:rPr>
              <a:t>近7日收支柱状图</a:t>
            </a:r>
            <a:endParaRPr lang="en-US" sz="1100"/>
          </a:p>
        </p:txBody>
      </p:sp>
      <p:sp>
        <p:nvSpPr>
          <p:cNvPr name="AutoShape 22" id="22"/>
          <p:cNvSpPr/>
          <p:nvPr/>
        </p:nvSpPr>
        <p:spPr>
          <a:xfrm rot="0" flipH="false" flipV="false">
            <a:off x="6172200" y="4064000"/>
            <a:ext cx="2235200" cy="8890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200">
                <a:solidFill>
                  <a:srgbClr val="6D5238"/>
                </a:solidFill>
                <a:latin typeface="Noto Sans SC"/>
                <a:ea typeface="Noto Sans SC"/>
                <a:cs typeface="Noto Sans SC"/>
                <a:sym typeface="Noto Sans SC"/>
              </a:rPr>
              <a:t>对比展示近7天的每日收入和支出情况。</a:t>
            </a:r>
            <a:endParaRPr lang="en-US" sz="1100"/>
          </a:p>
        </p:txBody>
      </p:sp>
      <p:sp>
        <p:nvSpPr>
          <p:cNvPr name="AutoShape 23" id="23"/>
          <p:cNvSpPr/>
          <p:nvPr/>
        </p:nvSpPr>
        <p:spPr>
          <a:xfrm rot="0" flipH="false" flipV="false">
            <a:off x="762000" y="5308600"/>
            <a:ext cx="7747000" cy="889000"/>
          </a:xfrm>
          <a:prstGeom prst="roundRect">
            <a:avLst>
              <a:gd name="adj" fmla="val 0"/>
            </a:avLst>
          </a:prstGeom>
          <a:solidFill>
            <a:srgbClr val="F5EBD7">
              <a:alpha val="90000"/>
            </a:srgbClr>
          </a:solidFill>
          <a:ln cmpd="sng" cap="flat">
            <a:solidFill>
              <a:srgbClr val="DCCBAB">
                <a:alpha val="90000"/>
              </a:srgbClr>
            </a:solidFill>
            <a:prstDash val="solid"/>
            <a:round/>
          </a:ln>
        </p:spPr>
        <p:txBody>
          <a:bodyPr anchor="ctr" rtlCol="false" anchorCtr="false" vert="horz" wrap="square" lIns="0" rIns="0" tIns="0" bIns="0"/>
          <a:lstStyle/>
          <a:p>
            <a:pPr algn="ctr">
              <a:defRPr/>
            </a:pPr>
            <a:endParaRPr/>
          </a:p>
        </p:txBody>
      </p:sp>
      <p:sp>
        <p:nvSpPr>
          <p:cNvPr name="AutoShape 24" id="24"/>
          <p:cNvSpPr/>
          <p:nvPr/>
        </p:nvSpPr>
        <p:spPr>
          <a:xfrm rot="0" flipH="false" flipV="false">
            <a:off x="762000" y="5308600"/>
            <a:ext cx="50800" cy="889000"/>
          </a:xfrm>
          <a:prstGeom prst="roundRect">
            <a:avLst>
              <a:gd name="adj" fmla="val 0"/>
            </a:avLst>
          </a:prstGeom>
          <a:solidFill>
            <a:srgbClr val="574029">
              <a:alpha val="100000"/>
            </a:srgbClr>
          </a:solidFill>
          <a:ln cmpd="sng" cap="flat">
            <a:solidFill>
              <a:srgbClr val="3E2A17">
                <a:alpha val="100000"/>
              </a:srgbClr>
            </a:solidFill>
            <a:prstDash val="solid"/>
            <a:round/>
          </a:ln>
        </p:spPr>
        <p:txBody>
          <a:bodyPr anchor="ctr" rtlCol="false" anchorCtr="false" vert="horz" wrap="square" lIns="0" rIns="0" tIns="0" bIns="0"/>
          <a:lstStyle/>
          <a:p>
            <a:pPr algn="ctr">
              <a:defRPr/>
            </a:pPr>
            <a:endParaRPr/>
          </a:p>
        </p:txBody>
      </p:sp>
      <p:sp>
        <p:nvSpPr>
          <p:cNvPr name="AutoShape 25" id="25"/>
          <p:cNvSpPr/>
          <p:nvPr/>
        </p:nvSpPr>
        <p:spPr>
          <a:xfrm rot="0" flipH="false" flipV="false">
            <a:off x="990600" y="5384800"/>
            <a:ext cx="139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500">
                <a:solidFill>
                  <a:srgbClr val="574029"/>
                </a:solidFill>
                <a:latin typeface="Noto Sans SC"/>
                <a:ea typeface="Noto Sans SC"/>
                <a:cs typeface="Noto Sans SC"/>
                <a:sym typeface="Noto Sans SC"/>
              </a:rPr>
              <a:t>核心要求</a:t>
            </a:r>
            <a:endParaRPr lang="en-US" sz="1100"/>
          </a:p>
        </p:txBody>
      </p:sp>
      <p:sp>
        <p:nvSpPr>
          <p:cNvPr name="AutoShape 26" id="26"/>
          <p:cNvSpPr/>
          <p:nvPr/>
        </p:nvSpPr>
        <p:spPr>
          <a:xfrm rot="0" flipH="false" flipV="false">
            <a:off x="990600" y="5715000"/>
            <a:ext cx="7442200" cy="4318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400">
                <a:solidFill>
                  <a:srgbClr val="6D5238"/>
                </a:solidFill>
                <a:latin typeface="Noto Sans SC"/>
                <a:ea typeface="Noto Sans SC"/>
                <a:cs typeface="Noto Sans SC"/>
                <a:sym typeface="Noto Sans SC"/>
              </a:rPr>
              <a:t>图表数据必须与后台真实数据实时联动。</a:t>
            </a:r>
            <a:endParaRPr lang="en-US" sz="1100"/>
          </a:p>
        </p:txBody>
      </p:sp>
      <p:pic>
        <p:nvPicPr>
          <p:cNvPr name="Picture 27" id="27"/>
          <p:cNvPicPr>
            <a:picLocks noChangeAspect="true"/>
          </p:cNvPicPr>
          <p:nvPr/>
        </p:nvPicPr>
        <p:blipFill>
          <a:blip r:embed="rId3"/>
          <a:srcRect l="50" r="50" t="0" b="0"/>
          <a:stretch>
            <a:fillRect/>
          </a:stretch>
        </p:blipFill>
        <p:spPr>
          <a:xfrm rot="0" flipH="false" flipV="false">
            <a:off x="10414000" y="635000"/>
            <a:ext cx="1524000" cy="457200"/>
          </a:xfrm>
          <a:prstGeom prst="rect">
            <a:avLst/>
          </a:prstGeom>
          <a:noFill/>
          <a:ln w="25400" cmpd="sng" cap="flat">
            <a:noFill/>
            <a:prstDash val="solid"/>
            <a:round/>
          </a:ln>
        </p:spPr>
      </p:pic>
      <p:pic>
        <p:nvPicPr>
          <p:cNvPr name="Picture 28" id="28"/>
          <p:cNvPicPr>
            <a:picLocks noChangeAspect="true"/>
          </p:cNvPicPr>
          <p:nvPr/>
        </p:nvPicPr>
        <p:blipFill>
          <a:blip r:embed="rId4"/>
          <a:srcRect l="179" r="179" t="0" b="0"/>
          <a:stretch>
            <a:fillRect/>
          </a:stretch>
        </p:blipFill>
        <p:spPr>
          <a:xfrm rot="0" flipH="false" flipV="false">
            <a:off x="8699500" y="3048000"/>
            <a:ext cx="2794000" cy="1600200"/>
          </a:xfrm>
          <a:prstGeom prst="rect">
            <a:avLst/>
          </a:prstGeom>
          <a:noFill/>
          <a:ln w="25400" cmpd="sng" cap="flat">
            <a:noFill/>
            <a:prstDash val="solid"/>
            <a:round/>
          </a:ln>
        </p:spPr>
      </p:pic>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BEB">
              <a:alpha val="90000"/>
            </a:srgbClr>
          </a:solidFill>
          <a:ln cmpd="sng" cap="flat">
            <a:solidFill>
              <a:srgbClr val="E6DDBD">
                <a:alpha val="90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8890000" cy="635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573F2C"/>
                </a:solidFill>
                <a:latin typeface="Noto Sans SC"/>
                <a:ea typeface="Noto Sans SC"/>
                <a:cs typeface="Noto Sans SC"/>
                <a:sym typeface="Noto Sans SC"/>
              </a:rPr>
              <a:t>04 进阶加分拓展需求</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10287000" y="698500"/>
            <a:ext cx="1524000" cy="457200"/>
          </a:xfrm>
          <a:prstGeom prst="rect">
            <a:avLst/>
          </a:prstGeom>
          <a:noFill/>
          <a:ln w="25400" cmpd="sng" cap="flat">
            <a:noFill/>
            <a:prstDash val="solid"/>
            <a:round/>
          </a:ln>
        </p:spPr>
      </p:pic>
      <p:sp>
        <p:nvSpPr>
          <p:cNvPr name="AutoShape 5" id="5"/>
          <p:cNvSpPr/>
          <p:nvPr/>
        </p:nvSpPr>
        <p:spPr>
          <a:xfrm rot="0" flipH="false" flipV="false">
            <a:off x="762000" y="1524000"/>
            <a:ext cx="5207000" cy="4699000"/>
          </a:xfrm>
          <a:prstGeom prst="roundRect">
            <a:avLst>
              <a:gd name="adj" fmla="val 0"/>
            </a:avLst>
          </a:prstGeom>
          <a:solidFill>
            <a:srgbClr val="FFFBEB">
              <a:alpha val="85000"/>
            </a:srgbClr>
          </a:solidFill>
          <a:ln cmpd="sng" cap="flat">
            <a:solidFill>
              <a:srgbClr val="E6DDBD">
                <a:alpha val="85000"/>
              </a:srgbClr>
            </a:solidFill>
            <a:prstDash val="solid"/>
            <a:round/>
          </a:ln>
        </p:spPr>
        <p:txBody>
          <a:bodyPr anchor="ctr" rtlCol="false" anchorCtr="false" vert="horz" wrap="square" lIns="0" rIns="0" tIns="0" bIns="0"/>
          <a:lstStyle/>
          <a:p>
            <a:pPr algn="ctr">
              <a:defRPr/>
            </a:pPr>
            <a:endParaRPr/>
          </a:p>
        </p:txBody>
      </p:sp>
      <p:sp>
        <p:nvSpPr>
          <p:cNvPr name="AutoShape 6" id="6"/>
          <p:cNvSpPr/>
          <p:nvPr/>
        </p:nvSpPr>
        <p:spPr>
          <a:xfrm rot="0" flipH="false" flipV="false">
            <a:off x="762000" y="1524000"/>
            <a:ext cx="50800" cy="46990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7" id="7"/>
          <p:cNvSpPr/>
          <p:nvPr/>
        </p:nvSpPr>
        <p:spPr>
          <a:xfrm rot="0" flipH="false" flipV="false">
            <a:off x="1016000" y="1752600"/>
            <a:ext cx="1016000" cy="660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3600">
                <a:solidFill>
                  <a:srgbClr val="573F2C"/>
                </a:solidFill>
                <a:latin typeface="Noto Sans SC"/>
                <a:ea typeface="Noto Sans SC"/>
                <a:cs typeface="Noto Sans SC"/>
                <a:sym typeface="Noto Sans SC"/>
              </a:rPr>
              <a:t>4.2</a:t>
            </a:r>
            <a:endParaRPr lang="en-US" sz="1100"/>
          </a:p>
        </p:txBody>
      </p:sp>
      <p:sp>
        <p:nvSpPr>
          <p:cNvPr name="AutoShape 8" id="8"/>
          <p:cNvSpPr/>
          <p:nvPr/>
        </p:nvSpPr>
        <p:spPr>
          <a:xfrm rot="0" flipH="false" flipV="false">
            <a:off x="2032000" y="1778000"/>
            <a:ext cx="304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800">
                <a:solidFill>
                  <a:srgbClr val="573F2C"/>
                </a:solidFill>
                <a:latin typeface="Noto Sans SC"/>
                <a:ea typeface="Noto Sans SC"/>
                <a:cs typeface="Noto Sans SC"/>
                <a:sym typeface="Noto Sans SC"/>
              </a:rPr>
              <a:t>Excel数据导出功能</a:t>
            </a:r>
            <a:endParaRPr lang="en-US" sz="1100"/>
          </a:p>
        </p:txBody>
      </p:sp>
      <p:sp>
        <p:nvSpPr>
          <p:cNvPr name="AutoShape 9" id="9"/>
          <p:cNvSpPr/>
          <p:nvPr/>
        </p:nvSpPr>
        <p:spPr>
          <a:xfrm rot="0" flipH="false" flipV="false">
            <a:off x="2032000" y="2184400"/>
            <a:ext cx="787400" cy="279400"/>
          </a:xfrm>
          <a:prstGeom prst="roundRect">
            <a:avLst>
              <a:gd name="adj" fmla="val 0"/>
            </a:avLst>
          </a:prstGeom>
          <a:solidFill>
            <a:srgbClr val="FBBF24">
              <a:alpha val="30000"/>
            </a:srgbClr>
          </a:solidFill>
          <a:ln cmpd="sng" cap="flat">
            <a:solidFill>
              <a:srgbClr val="E2A50A">
                <a:alpha val="30000"/>
              </a:srgbClr>
            </a:solidFill>
            <a:prstDash val="solid"/>
            <a:round/>
          </a:ln>
        </p:spPr>
        <p:txBody>
          <a:bodyPr anchor="ctr" rtlCol="false" anchorCtr="false" vert="horz" wrap="square" lIns="0" rIns="0" tIns="0" bIns="0"/>
          <a:lstStyle/>
          <a:p>
            <a:pPr algn="ctr">
              <a:defRPr/>
            </a:pPr>
            <a:endParaRPr/>
          </a:p>
        </p:txBody>
      </p:sp>
      <p:sp>
        <p:nvSpPr>
          <p:cNvPr name="AutoShape 10" id="10"/>
          <p:cNvSpPr/>
          <p:nvPr/>
        </p:nvSpPr>
        <p:spPr>
          <a:xfrm rot="0" flipH="false" flipV="false">
            <a:off x="2032000" y="2184400"/>
            <a:ext cx="787400" cy="279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true" i="false" strike="noStrike" u="none" sz="1200">
                <a:solidFill>
                  <a:srgbClr val="573F2C"/>
                </a:solidFill>
                <a:latin typeface="Noto Sans SC"/>
                <a:ea typeface="Noto Sans SC"/>
                <a:cs typeface="Noto Sans SC"/>
                <a:sym typeface="Noto Sans SC"/>
              </a:rPr>
              <a:t>4分</a:t>
            </a:r>
            <a:endParaRPr lang="en-US" sz="1100"/>
          </a:p>
        </p:txBody>
      </p:sp>
      <p:cxnSp>
        <p:nvCxnSpPr>
          <p:cNvPr name="Connector 11" id="11"/>
          <p:cNvCxnSpPr/>
          <p:nvPr/>
        </p:nvCxnSpPr>
        <p:spPr>
          <a:xfrm rot="-9291" flipH="false" flipV="false">
            <a:off x="1016009" y="2660650"/>
            <a:ext cx="4699017" cy="12700"/>
          </a:xfrm>
          <a:prstGeom prst="straightConnector1">
            <a:avLst/>
          </a:prstGeom>
          <a:solidFill>
            <a:srgbClr val="DEE0E3">
              <a:alpha val="100000"/>
            </a:srgbClr>
          </a:solidFill>
          <a:ln w="12700" cmpd="sng" cap="flat">
            <a:solidFill>
              <a:srgbClr val="CA8A04">
                <a:alpha val="30000"/>
              </a:srgbClr>
            </a:solidFill>
            <a:prstDash val="solid"/>
            <a:round/>
            <a:headEnd type="none" w="med" len="med"/>
            <a:tailEnd type="none" w="med" len="med"/>
          </a:ln>
        </p:spPr>
      </p:cxnSp>
      <p:sp>
        <p:nvSpPr>
          <p:cNvPr name="AutoShape 12" id="12"/>
          <p:cNvSpPr/>
          <p:nvPr/>
        </p:nvSpPr>
        <p:spPr>
          <a:xfrm rot="0" flipH="false" flipV="false">
            <a:off x="1016000" y="2794000"/>
            <a:ext cx="1016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300">
                <a:solidFill>
                  <a:srgbClr val="573F2C"/>
                </a:solidFill>
                <a:latin typeface="Noto Sans SC"/>
                <a:ea typeface="Noto Sans SC"/>
                <a:cs typeface="Noto Sans SC"/>
                <a:sym typeface="Noto Sans SC"/>
              </a:rPr>
              <a:t>需求</a:t>
            </a:r>
            <a:endParaRPr lang="en-US" sz="1100"/>
          </a:p>
        </p:txBody>
      </p:sp>
      <p:sp>
        <p:nvSpPr>
          <p:cNvPr name="AutoShape 13" id="13"/>
          <p:cNvSpPr/>
          <p:nvPr/>
        </p:nvSpPr>
        <p:spPr>
          <a:xfrm rot="0" flipH="false" flipV="false">
            <a:off x="1016000" y="3098800"/>
            <a:ext cx="46990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300">
                <a:solidFill>
                  <a:srgbClr val="785941"/>
                </a:solidFill>
                <a:latin typeface="Noto Sans SC"/>
                <a:ea typeface="Noto Sans SC"/>
                <a:cs typeface="Noto Sans SC"/>
                <a:sym typeface="Noto Sans SC"/>
              </a:rPr>
              <a:t>支持将收支记录数据导出为标准的Excel文件(.xlsx)。</a:t>
            </a:r>
            <a:endParaRPr lang="en-US" sz="1100"/>
          </a:p>
        </p:txBody>
      </p:sp>
      <p:sp>
        <p:nvSpPr>
          <p:cNvPr name="AutoShape 14" id="14"/>
          <p:cNvSpPr/>
          <p:nvPr/>
        </p:nvSpPr>
        <p:spPr>
          <a:xfrm rot="0" flipH="false" flipV="false">
            <a:off x="1016000" y="3733800"/>
            <a:ext cx="1016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300">
                <a:solidFill>
                  <a:srgbClr val="573F2C"/>
                </a:solidFill>
                <a:latin typeface="Noto Sans SC"/>
                <a:ea typeface="Noto Sans SC"/>
                <a:cs typeface="Noto Sans SC"/>
                <a:sym typeface="Noto Sans SC"/>
              </a:rPr>
              <a:t>功能点</a:t>
            </a:r>
            <a:endParaRPr lang="en-US" sz="1100"/>
          </a:p>
        </p:txBody>
      </p:sp>
      <p:sp>
        <p:nvSpPr>
          <p:cNvPr name="AutoShape 15" id="15"/>
          <p:cNvSpPr/>
          <p:nvPr/>
        </p:nvSpPr>
        <p:spPr>
          <a:xfrm rot="0" flipH="false" flipV="false">
            <a:off x="1016000" y="4089400"/>
            <a:ext cx="50800" cy="2794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16" id="16"/>
          <p:cNvSpPr/>
          <p:nvPr/>
        </p:nvSpPr>
        <p:spPr>
          <a:xfrm rot="0" flipH="false" flipV="false">
            <a:off x="1193800" y="4089400"/>
            <a:ext cx="45212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300">
                <a:solidFill>
                  <a:srgbClr val="573F2C"/>
                </a:solidFill>
                <a:latin typeface="Noto Sans SC"/>
                <a:ea typeface="Noto Sans SC"/>
                <a:cs typeface="Noto Sans SC"/>
                <a:sym typeface="Noto Sans SC"/>
              </a:rPr>
              <a:t>筛选导出:</a:t>
            </a:r>
            <a:r>
              <a:rPr lang="en-US" b="false" i="false" strike="noStrike" u="none" sz="1300">
                <a:solidFill>
                  <a:srgbClr val="785941"/>
                </a:solidFill>
                <a:latin typeface="Noto Sans SC"/>
                <a:ea typeface="Noto Sans SC"/>
                <a:cs typeface="Noto Sans SC"/>
                <a:sym typeface="Noto Sans SC"/>
              </a:rPr>
              <a:t>支持导出当前筛选后的收支记录。</a:t>
            </a:r>
            <a:endParaRPr lang="en-US" sz="1100"/>
          </a:p>
        </p:txBody>
      </p:sp>
      <p:sp>
        <p:nvSpPr>
          <p:cNvPr name="AutoShape 17" id="17"/>
          <p:cNvSpPr/>
          <p:nvPr/>
        </p:nvSpPr>
        <p:spPr>
          <a:xfrm rot="0" flipH="false" flipV="false">
            <a:off x="1016000" y="4495800"/>
            <a:ext cx="50800" cy="2794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18" id="18"/>
          <p:cNvSpPr/>
          <p:nvPr/>
        </p:nvSpPr>
        <p:spPr>
          <a:xfrm rot="0" flipH="false" flipV="false">
            <a:off x="1193800" y="4495800"/>
            <a:ext cx="45212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300">
                <a:solidFill>
                  <a:srgbClr val="573F2C"/>
                </a:solidFill>
                <a:latin typeface="Noto Sans SC"/>
                <a:ea typeface="Noto Sans SC"/>
                <a:cs typeface="Noto Sans SC"/>
                <a:sym typeface="Noto Sans SC"/>
              </a:rPr>
              <a:t>全量导出:</a:t>
            </a:r>
            <a:r>
              <a:rPr lang="en-US" b="false" i="false" strike="noStrike" u="none" sz="1300">
                <a:solidFill>
                  <a:srgbClr val="785941"/>
                </a:solidFill>
                <a:latin typeface="Noto Sans SC"/>
                <a:ea typeface="Noto Sans SC"/>
                <a:cs typeface="Noto Sans SC"/>
                <a:sym typeface="Noto Sans SC"/>
              </a:rPr>
              <a:t>支持导出全部账务记录。</a:t>
            </a:r>
            <a:endParaRPr lang="en-US" sz="1100"/>
          </a:p>
        </p:txBody>
      </p:sp>
      <p:sp>
        <p:nvSpPr>
          <p:cNvPr name="AutoShape 19" id="19"/>
          <p:cNvSpPr/>
          <p:nvPr/>
        </p:nvSpPr>
        <p:spPr>
          <a:xfrm rot="0" flipH="false" flipV="false">
            <a:off x="1016000" y="4978400"/>
            <a:ext cx="4699000" cy="1041400"/>
          </a:xfrm>
          <a:prstGeom prst="roundRect">
            <a:avLst>
              <a:gd name="adj" fmla="val 0"/>
            </a:avLst>
          </a:prstGeom>
          <a:solidFill>
            <a:srgbClr val="FEF3C7">
              <a:alpha val="80000"/>
            </a:srgbClr>
          </a:solidFill>
          <a:ln cmpd="sng" cap="flat">
            <a:solidFill>
              <a:srgbClr val="E5D69C">
                <a:alpha val="80000"/>
              </a:srgbClr>
            </a:solidFill>
            <a:prstDash val="solid"/>
            <a:round/>
          </a:ln>
        </p:spPr>
        <p:txBody>
          <a:bodyPr anchor="ctr" rtlCol="false" anchorCtr="false" vert="horz" wrap="square" lIns="0" rIns="0" tIns="0" bIns="0"/>
          <a:lstStyle/>
          <a:p>
            <a:pPr algn="ctr">
              <a:defRPr/>
            </a:pPr>
            <a:endParaRPr/>
          </a:p>
        </p:txBody>
      </p:sp>
      <p:sp>
        <p:nvSpPr>
          <p:cNvPr name="AutoShape 20" id="20"/>
          <p:cNvSpPr/>
          <p:nvPr/>
        </p:nvSpPr>
        <p:spPr>
          <a:xfrm rot="0" flipH="false" flipV="false">
            <a:off x="1193800" y="5080000"/>
            <a:ext cx="1016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300">
                <a:solidFill>
                  <a:srgbClr val="573F2C"/>
                </a:solidFill>
                <a:latin typeface="Noto Sans SC"/>
                <a:ea typeface="Noto Sans SC"/>
                <a:cs typeface="Noto Sans SC"/>
                <a:sym typeface="Noto Sans SC"/>
              </a:rPr>
              <a:t>核心要求</a:t>
            </a:r>
            <a:endParaRPr lang="en-US" sz="1100"/>
          </a:p>
        </p:txBody>
      </p:sp>
      <p:sp>
        <p:nvSpPr>
          <p:cNvPr name="AutoShape 21" id="21"/>
          <p:cNvSpPr/>
          <p:nvPr/>
        </p:nvSpPr>
        <p:spPr>
          <a:xfrm rot="0" flipH="false" flipV="false">
            <a:off x="1193800" y="5384800"/>
            <a:ext cx="43434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300">
                <a:solidFill>
                  <a:srgbClr val="785941"/>
                </a:solidFill>
                <a:latin typeface="Noto Sans SC"/>
                <a:ea typeface="Noto Sans SC"/>
                <a:cs typeface="Noto Sans SC"/>
                <a:sym typeface="Noto Sans SC"/>
              </a:rPr>
              <a:t>导出的文件格式规整、无乱码、数据完整准确。</a:t>
            </a:r>
            <a:endParaRPr lang="en-US" sz="1100"/>
          </a:p>
        </p:txBody>
      </p:sp>
      <p:sp>
        <p:nvSpPr>
          <p:cNvPr name="AutoShape 22" id="22"/>
          <p:cNvSpPr/>
          <p:nvPr/>
        </p:nvSpPr>
        <p:spPr>
          <a:xfrm rot="0" flipH="false" flipV="false">
            <a:off x="6223000" y="1524000"/>
            <a:ext cx="4508500" cy="4699000"/>
          </a:xfrm>
          <a:prstGeom prst="roundRect">
            <a:avLst>
              <a:gd name="adj" fmla="val 0"/>
            </a:avLst>
          </a:prstGeom>
          <a:solidFill>
            <a:srgbClr val="FFFBEB">
              <a:alpha val="85000"/>
            </a:srgbClr>
          </a:solidFill>
          <a:ln cmpd="sng" cap="flat">
            <a:solidFill>
              <a:srgbClr val="E6DDBD">
                <a:alpha val="85000"/>
              </a:srgbClr>
            </a:solidFill>
            <a:prstDash val="solid"/>
            <a:round/>
          </a:ln>
        </p:spPr>
        <p:txBody>
          <a:bodyPr anchor="ctr" rtlCol="false" anchorCtr="false" vert="horz" wrap="square" lIns="0" rIns="0" tIns="0" bIns="0"/>
          <a:lstStyle/>
          <a:p>
            <a:pPr algn="ctr">
              <a:defRPr/>
            </a:pPr>
            <a:endParaRPr/>
          </a:p>
        </p:txBody>
      </p:sp>
      <p:sp>
        <p:nvSpPr>
          <p:cNvPr name="AutoShape 23" id="23"/>
          <p:cNvSpPr/>
          <p:nvPr/>
        </p:nvSpPr>
        <p:spPr>
          <a:xfrm rot="0" flipH="false" flipV="false">
            <a:off x="6223000" y="1524000"/>
            <a:ext cx="50800" cy="46990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24" id="24"/>
          <p:cNvSpPr/>
          <p:nvPr/>
        </p:nvSpPr>
        <p:spPr>
          <a:xfrm rot="0" flipH="false" flipV="false">
            <a:off x="6477000" y="1752600"/>
            <a:ext cx="1016000" cy="660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3600">
                <a:solidFill>
                  <a:srgbClr val="573F2C"/>
                </a:solidFill>
                <a:latin typeface="Noto Sans SC"/>
                <a:ea typeface="Noto Sans SC"/>
                <a:cs typeface="Noto Sans SC"/>
                <a:sym typeface="Noto Sans SC"/>
              </a:rPr>
              <a:t>4.3</a:t>
            </a:r>
            <a:endParaRPr lang="en-US" sz="1100"/>
          </a:p>
        </p:txBody>
      </p:sp>
      <p:sp>
        <p:nvSpPr>
          <p:cNvPr name="AutoShape 25" id="25"/>
          <p:cNvSpPr/>
          <p:nvPr/>
        </p:nvSpPr>
        <p:spPr>
          <a:xfrm rot="0" flipH="false" flipV="false">
            <a:off x="7493000" y="1778000"/>
            <a:ext cx="3111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800">
                <a:solidFill>
                  <a:srgbClr val="573F2C"/>
                </a:solidFill>
                <a:latin typeface="Noto Sans SC"/>
                <a:ea typeface="Noto Sans SC"/>
                <a:cs typeface="Noto Sans SC"/>
                <a:sym typeface="Noto Sans SC"/>
              </a:rPr>
              <a:t>批量数据操作功能</a:t>
            </a:r>
            <a:endParaRPr lang="en-US" sz="1100"/>
          </a:p>
        </p:txBody>
      </p:sp>
      <p:sp>
        <p:nvSpPr>
          <p:cNvPr name="AutoShape 26" id="26"/>
          <p:cNvSpPr/>
          <p:nvPr/>
        </p:nvSpPr>
        <p:spPr>
          <a:xfrm rot="0" flipH="false" flipV="false">
            <a:off x="7493000" y="2184400"/>
            <a:ext cx="787400" cy="279400"/>
          </a:xfrm>
          <a:prstGeom prst="roundRect">
            <a:avLst>
              <a:gd name="adj" fmla="val 0"/>
            </a:avLst>
          </a:prstGeom>
          <a:solidFill>
            <a:srgbClr val="FBBF24">
              <a:alpha val="30000"/>
            </a:srgbClr>
          </a:solidFill>
          <a:ln cmpd="sng" cap="flat">
            <a:solidFill>
              <a:srgbClr val="E2A50A">
                <a:alpha val="30000"/>
              </a:srgbClr>
            </a:solidFill>
            <a:prstDash val="solid"/>
            <a:round/>
          </a:ln>
        </p:spPr>
        <p:txBody>
          <a:bodyPr anchor="ctr" rtlCol="false" anchorCtr="false" vert="horz" wrap="square" lIns="0" rIns="0" tIns="0" bIns="0"/>
          <a:lstStyle/>
          <a:p>
            <a:pPr algn="ctr">
              <a:defRPr/>
            </a:pPr>
            <a:endParaRPr/>
          </a:p>
        </p:txBody>
      </p:sp>
      <p:sp>
        <p:nvSpPr>
          <p:cNvPr name="AutoShape 27" id="27"/>
          <p:cNvSpPr/>
          <p:nvPr/>
        </p:nvSpPr>
        <p:spPr>
          <a:xfrm rot="0" flipH="false" flipV="false">
            <a:off x="7493000" y="2184400"/>
            <a:ext cx="787400" cy="279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true" i="false" strike="noStrike" u="none" sz="1200">
                <a:solidFill>
                  <a:srgbClr val="573F2C"/>
                </a:solidFill>
                <a:latin typeface="Noto Sans SC"/>
                <a:ea typeface="Noto Sans SC"/>
                <a:cs typeface="Noto Sans SC"/>
                <a:sym typeface="Noto Sans SC"/>
              </a:rPr>
              <a:t>4分</a:t>
            </a:r>
            <a:endParaRPr lang="en-US" sz="1100"/>
          </a:p>
        </p:txBody>
      </p:sp>
      <p:cxnSp>
        <p:nvCxnSpPr>
          <p:cNvPr name="Connector 28" id="28"/>
          <p:cNvCxnSpPr/>
          <p:nvPr/>
        </p:nvCxnSpPr>
        <p:spPr>
          <a:xfrm rot="-10913" flipH="false" flipV="false">
            <a:off x="6477010" y="2660650"/>
            <a:ext cx="4000520" cy="12700"/>
          </a:xfrm>
          <a:prstGeom prst="straightConnector1">
            <a:avLst/>
          </a:prstGeom>
          <a:solidFill>
            <a:srgbClr val="DEE0E3">
              <a:alpha val="100000"/>
            </a:srgbClr>
          </a:solidFill>
          <a:ln w="12700" cmpd="sng" cap="flat">
            <a:solidFill>
              <a:srgbClr val="CA8A04">
                <a:alpha val="30000"/>
              </a:srgbClr>
            </a:solidFill>
            <a:prstDash val="solid"/>
            <a:round/>
            <a:headEnd type="none" w="med" len="med"/>
            <a:tailEnd type="none" w="med" len="med"/>
          </a:ln>
        </p:spPr>
      </p:cxnSp>
      <p:sp>
        <p:nvSpPr>
          <p:cNvPr name="AutoShape 29" id="29"/>
          <p:cNvSpPr/>
          <p:nvPr/>
        </p:nvSpPr>
        <p:spPr>
          <a:xfrm rot="0" flipH="false" flipV="false">
            <a:off x="6477000" y="2794000"/>
            <a:ext cx="1016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300">
                <a:solidFill>
                  <a:srgbClr val="573F2C"/>
                </a:solidFill>
                <a:latin typeface="Noto Sans SC"/>
                <a:ea typeface="Noto Sans SC"/>
                <a:cs typeface="Noto Sans SC"/>
                <a:sym typeface="Noto Sans SC"/>
              </a:rPr>
              <a:t>需求</a:t>
            </a:r>
            <a:endParaRPr lang="en-US" sz="1100"/>
          </a:p>
        </p:txBody>
      </p:sp>
      <p:sp>
        <p:nvSpPr>
          <p:cNvPr name="AutoShape 30" id="30"/>
          <p:cNvSpPr/>
          <p:nvPr/>
        </p:nvSpPr>
        <p:spPr>
          <a:xfrm rot="0" flipH="false" flipV="false">
            <a:off x="6477000" y="3098800"/>
            <a:ext cx="41275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300">
                <a:solidFill>
                  <a:srgbClr val="785941"/>
                </a:solidFill>
                <a:latin typeface="Noto Sans SC"/>
                <a:ea typeface="Noto Sans SC"/>
                <a:cs typeface="Noto Sans SC"/>
                <a:sym typeface="Noto Sans SC"/>
              </a:rPr>
              <a:t>提升数据管理效率,实现对收支记录的批量操作。</a:t>
            </a:r>
            <a:endParaRPr lang="en-US" sz="1100"/>
          </a:p>
        </p:txBody>
      </p:sp>
      <p:sp>
        <p:nvSpPr>
          <p:cNvPr name="AutoShape 31" id="31"/>
          <p:cNvSpPr/>
          <p:nvPr/>
        </p:nvSpPr>
        <p:spPr>
          <a:xfrm rot="0" flipH="false" flipV="false">
            <a:off x="6477000" y="3733800"/>
            <a:ext cx="1016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300">
                <a:solidFill>
                  <a:srgbClr val="573F2C"/>
                </a:solidFill>
                <a:latin typeface="Noto Sans SC"/>
                <a:ea typeface="Noto Sans SC"/>
                <a:cs typeface="Noto Sans SC"/>
                <a:sym typeface="Noto Sans SC"/>
              </a:rPr>
              <a:t>功能点</a:t>
            </a:r>
            <a:endParaRPr lang="en-US" sz="1100"/>
          </a:p>
        </p:txBody>
      </p:sp>
      <p:sp>
        <p:nvSpPr>
          <p:cNvPr name="AutoShape 32" id="32"/>
          <p:cNvSpPr/>
          <p:nvPr/>
        </p:nvSpPr>
        <p:spPr>
          <a:xfrm rot="0" flipH="false" flipV="false">
            <a:off x="6477000" y="4089400"/>
            <a:ext cx="50800" cy="2794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33" id="33"/>
          <p:cNvSpPr/>
          <p:nvPr/>
        </p:nvSpPr>
        <p:spPr>
          <a:xfrm rot="0" flipH="false" flipV="false">
            <a:off x="6654800" y="4089400"/>
            <a:ext cx="39497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300">
                <a:solidFill>
                  <a:srgbClr val="573F2C"/>
                </a:solidFill>
                <a:latin typeface="Noto Sans SC"/>
                <a:ea typeface="Noto Sans SC"/>
                <a:cs typeface="Noto Sans SC"/>
                <a:sym typeface="Noto Sans SC"/>
              </a:rPr>
              <a:t>批量选中:</a:t>
            </a:r>
            <a:r>
              <a:rPr lang="en-US" b="false" i="false" strike="noStrike" u="none" sz="1300">
                <a:solidFill>
                  <a:srgbClr val="785941"/>
                </a:solidFill>
                <a:latin typeface="Noto Sans SC"/>
                <a:ea typeface="Noto Sans SC"/>
                <a:cs typeface="Noto Sans SC"/>
                <a:sym typeface="Noto Sans SC"/>
              </a:rPr>
              <a:t>支持在列表中批量选中多条记录。</a:t>
            </a:r>
            <a:endParaRPr lang="en-US" sz="1100"/>
          </a:p>
        </p:txBody>
      </p:sp>
      <p:sp>
        <p:nvSpPr>
          <p:cNvPr name="AutoShape 34" id="34"/>
          <p:cNvSpPr/>
          <p:nvPr/>
        </p:nvSpPr>
        <p:spPr>
          <a:xfrm rot="0" flipH="false" flipV="false">
            <a:off x="6477000" y="4495800"/>
            <a:ext cx="50800" cy="2794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35" id="35"/>
          <p:cNvSpPr/>
          <p:nvPr/>
        </p:nvSpPr>
        <p:spPr>
          <a:xfrm rot="0" flipH="false" flipV="false">
            <a:off x="6654800" y="4495800"/>
            <a:ext cx="39497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300">
                <a:solidFill>
                  <a:srgbClr val="573F2C"/>
                </a:solidFill>
                <a:latin typeface="Noto Sans SC"/>
                <a:ea typeface="Noto Sans SC"/>
                <a:cs typeface="Noto Sans SC"/>
                <a:sym typeface="Noto Sans SC"/>
              </a:rPr>
              <a:t>批量删除:</a:t>
            </a:r>
            <a:r>
              <a:rPr lang="en-US" b="false" i="false" strike="noStrike" u="none" sz="1300">
                <a:solidFill>
                  <a:srgbClr val="785941"/>
                </a:solidFill>
                <a:latin typeface="Noto Sans SC"/>
                <a:ea typeface="Noto Sans SC"/>
                <a:cs typeface="Noto Sans SC"/>
                <a:sym typeface="Noto Sans SC"/>
              </a:rPr>
              <a:t>支持对选中的记录进行批量删除。</a:t>
            </a:r>
            <a:endParaRPr lang="en-US" sz="1100"/>
          </a:p>
        </p:txBody>
      </p:sp>
      <p:sp>
        <p:nvSpPr>
          <p:cNvPr name="AutoShape 36" id="36"/>
          <p:cNvSpPr/>
          <p:nvPr/>
        </p:nvSpPr>
        <p:spPr>
          <a:xfrm rot="0" flipH="false" flipV="false">
            <a:off x="6477000" y="4902200"/>
            <a:ext cx="50800" cy="2794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37" id="37"/>
          <p:cNvSpPr/>
          <p:nvPr/>
        </p:nvSpPr>
        <p:spPr>
          <a:xfrm rot="0" flipH="false" flipV="false">
            <a:off x="6654800" y="4902200"/>
            <a:ext cx="39497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300">
                <a:solidFill>
                  <a:srgbClr val="573F2C"/>
                </a:solidFill>
                <a:latin typeface="Noto Sans SC"/>
                <a:ea typeface="Noto Sans SC"/>
                <a:cs typeface="Noto Sans SC"/>
                <a:sym typeface="Noto Sans SC"/>
              </a:rPr>
              <a:t>批量导出:</a:t>
            </a:r>
            <a:r>
              <a:rPr lang="en-US" b="false" i="false" strike="noStrike" u="none" sz="1300">
                <a:solidFill>
                  <a:srgbClr val="785941"/>
                </a:solidFill>
                <a:latin typeface="Noto Sans SC"/>
                <a:ea typeface="Noto Sans SC"/>
                <a:cs typeface="Noto Sans SC"/>
                <a:sym typeface="Noto Sans SC"/>
              </a:rPr>
              <a:t>支持将选中的记录批量导出为Excel。</a:t>
            </a:r>
            <a:endParaRPr lang="en-US" sz="1100"/>
          </a:p>
        </p:txBody>
      </p:sp>
      <p:pic>
        <p:nvPicPr>
          <p:cNvPr name="Picture 38" id="38"/>
          <p:cNvPicPr>
            <a:picLocks noChangeAspect="true"/>
          </p:cNvPicPr>
          <p:nvPr/>
        </p:nvPicPr>
        <p:blipFill>
          <a:blip r:embed="rId4"/>
          <a:srcRect l="0" r="0" t="0" b="0"/>
          <a:stretch>
            <a:fillRect/>
          </a:stretch>
        </p:blipFill>
        <p:spPr>
          <a:xfrm rot="0" flipH="false" flipV="false">
            <a:off x="10896600" y="2794000"/>
            <a:ext cx="1295400" cy="1295400"/>
          </a:xfrm>
          <a:prstGeom prst="rect">
            <a:avLst/>
          </a:prstGeom>
          <a:noFill/>
          <a:ln w="25400" cmpd="sng" cap="flat">
            <a:noFill/>
            <a:prstDash val="solid"/>
            <a:round/>
          </a:ln>
        </p:spPr>
      </p:pic>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AEB">
              <a:alpha val="90000"/>
            </a:srgbClr>
          </a:solidFill>
          <a:ln cmpd="sng" cap="flat">
            <a:solidFill>
              <a:srgbClr val="E6DBBD">
                <a:alpha val="90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8890000" cy="635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4E342E"/>
                </a:solidFill>
                <a:latin typeface="Noto Sans SC"/>
                <a:ea typeface="Noto Sans SC"/>
                <a:cs typeface="Noto Sans SC"/>
                <a:sym typeface="Noto Sans SC"/>
              </a:rPr>
              <a:t>04 进阶加分拓展需求</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10287000" y="698500"/>
            <a:ext cx="1651000" cy="495300"/>
          </a:xfrm>
          <a:prstGeom prst="rect">
            <a:avLst/>
          </a:prstGeom>
          <a:noFill/>
          <a:ln w="25400" cmpd="sng" cap="flat">
            <a:noFill/>
            <a:prstDash val="solid"/>
            <a:round/>
          </a:ln>
        </p:spPr>
      </p:pic>
      <p:sp>
        <p:nvSpPr>
          <p:cNvPr name="AutoShape 5" id="5"/>
          <p:cNvSpPr/>
          <p:nvPr/>
        </p:nvSpPr>
        <p:spPr>
          <a:xfrm rot="0" flipH="false" flipV="false">
            <a:off x="762000" y="1524000"/>
            <a:ext cx="7239000" cy="2286000"/>
          </a:xfrm>
          <a:prstGeom prst="roundRect">
            <a:avLst>
              <a:gd name="adj" fmla="val 0"/>
            </a:avLst>
          </a:prstGeom>
          <a:solidFill>
            <a:srgbClr val="FFF8E1">
              <a:alpha val="95000"/>
            </a:srgbClr>
          </a:solidFill>
          <a:ln cmpd="sng" cap="flat">
            <a:solidFill>
              <a:srgbClr val="E6DAB4">
                <a:alpha val="95000"/>
              </a:srgbClr>
            </a:solidFill>
            <a:prstDash val="solid"/>
            <a:round/>
          </a:ln>
        </p:spPr>
        <p:txBody>
          <a:bodyPr anchor="ctr" rtlCol="false" anchorCtr="false" vert="horz" wrap="square" lIns="0" rIns="0" tIns="0" bIns="0"/>
          <a:lstStyle/>
          <a:p>
            <a:pPr algn="ctr">
              <a:defRPr/>
            </a:pPr>
            <a:endParaRPr/>
          </a:p>
        </p:txBody>
      </p:sp>
      <p:sp>
        <p:nvSpPr>
          <p:cNvPr name="AutoShape 6" id="6"/>
          <p:cNvSpPr/>
          <p:nvPr/>
        </p:nvSpPr>
        <p:spPr>
          <a:xfrm rot="0" flipH="false" flipV="false">
            <a:off x="762000" y="1524000"/>
            <a:ext cx="50800" cy="2286000"/>
          </a:xfrm>
          <a:prstGeom prst="roundRect">
            <a:avLst>
              <a:gd name="adj" fmla="val 0"/>
            </a:avLst>
          </a:prstGeom>
          <a:solidFill>
            <a:srgbClr val="DAA520">
              <a:alpha val="100000"/>
            </a:srgbClr>
          </a:solidFill>
          <a:ln cmpd="sng" cap="flat">
            <a:solidFill>
              <a:srgbClr val="C18C09">
                <a:alpha val="100000"/>
              </a:srgbClr>
            </a:solidFill>
            <a:prstDash val="solid"/>
            <a:round/>
          </a:ln>
        </p:spPr>
        <p:txBody>
          <a:bodyPr anchor="ctr" rtlCol="false" anchorCtr="false" vert="horz" wrap="square" lIns="0" rIns="0" tIns="0" bIns="0"/>
          <a:lstStyle/>
          <a:p>
            <a:pPr algn="ctr">
              <a:defRPr/>
            </a:pPr>
            <a:endParaRPr/>
          </a:p>
        </p:txBody>
      </p:sp>
      <p:sp>
        <p:nvSpPr>
          <p:cNvPr name="AutoShape 7" id="7"/>
          <p:cNvSpPr/>
          <p:nvPr/>
        </p:nvSpPr>
        <p:spPr>
          <a:xfrm rot="0" flipH="false" flipV="false">
            <a:off x="1016000" y="1651000"/>
            <a:ext cx="88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2800">
                <a:solidFill>
                  <a:srgbClr val="4E342E"/>
                </a:solidFill>
                <a:latin typeface="Noto Sans SC"/>
                <a:ea typeface="Noto Sans SC"/>
                <a:cs typeface="Noto Sans SC"/>
                <a:sym typeface="Noto Sans SC"/>
              </a:rPr>
              <a:t>4.4</a:t>
            </a:r>
            <a:endParaRPr lang="en-US" sz="1100"/>
          </a:p>
        </p:txBody>
      </p:sp>
      <p:sp>
        <p:nvSpPr>
          <p:cNvPr name="AutoShape 8" id="8"/>
          <p:cNvSpPr/>
          <p:nvPr/>
        </p:nvSpPr>
        <p:spPr>
          <a:xfrm rot="0" flipH="false" flipV="false">
            <a:off x="1905000" y="1651000"/>
            <a:ext cx="457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800">
                <a:solidFill>
                  <a:srgbClr val="4E342E"/>
                </a:solidFill>
                <a:latin typeface="Noto Sans SC"/>
                <a:ea typeface="Noto Sans SC"/>
                <a:cs typeface="Noto Sans SC"/>
                <a:sym typeface="Noto Sans SC"/>
              </a:rPr>
              <a:t>按钮级精细化权限控制</a:t>
            </a:r>
            <a:endParaRPr lang="en-US" sz="1100"/>
          </a:p>
        </p:txBody>
      </p:sp>
      <p:sp>
        <p:nvSpPr>
          <p:cNvPr name="AutoShape 9" id="9"/>
          <p:cNvSpPr/>
          <p:nvPr/>
        </p:nvSpPr>
        <p:spPr>
          <a:xfrm rot="0" flipH="false" flipV="false">
            <a:off x="6477000" y="1676400"/>
            <a:ext cx="736600" cy="330200"/>
          </a:xfrm>
          <a:prstGeom prst="roundRect">
            <a:avLst>
              <a:gd name="adj" fmla="val 0"/>
            </a:avLst>
          </a:prstGeom>
          <a:solidFill>
            <a:srgbClr val="DAA520">
              <a:alpha val="20000"/>
            </a:srgbClr>
          </a:solidFill>
          <a:ln cmpd="sng" cap="flat">
            <a:solidFill>
              <a:srgbClr val="C18C09">
                <a:alpha val="20000"/>
              </a:srgbClr>
            </a:solidFill>
            <a:prstDash val="solid"/>
            <a:round/>
          </a:ln>
        </p:spPr>
        <p:txBody>
          <a:bodyPr anchor="ctr" rtlCol="false" anchorCtr="false" vert="horz" wrap="square" lIns="0" rIns="0" tIns="0" bIns="0"/>
          <a:lstStyle/>
          <a:p>
            <a:pPr algn="ctr">
              <a:defRPr/>
            </a:pPr>
            <a:endParaRPr/>
          </a:p>
        </p:txBody>
      </p:sp>
      <p:sp>
        <p:nvSpPr>
          <p:cNvPr name="AutoShape 10" id="10"/>
          <p:cNvSpPr/>
          <p:nvPr/>
        </p:nvSpPr>
        <p:spPr>
          <a:xfrm rot="0" flipH="false" flipV="false">
            <a:off x="6477000" y="1676400"/>
            <a:ext cx="736600" cy="330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true" i="false" strike="noStrike" u="none" sz="1300">
                <a:solidFill>
                  <a:srgbClr val="4E342E"/>
                </a:solidFill>
                <a:latin typeface="Noto Sans SC"/>
                <a:ea typeface="Noto Sans SC"/>
                <a:cs typeface="Noto Sans SC"/>
                <a:sym typeface="Noto Sans SC"/>
              </a:rPr>
              <a:t>3分</a:t>
            </a:r>
            <a:endParaRPr lang="en-US" sz="1100"/>
          </a:p>
        </p:txBody>
      </p:sp>
      <p:sp>
        <p:nvSpPr>
          <p:cNvPr name="AutoShape 11" id="11"/>
          <p:cNvSpPr/>
          <p:nvPr/>
        </p:nvSpPr>
        <p:spPr>
          <a:xfrm rot="0" flipH="false" flipV="false">
            <a:off x="1016000" y="2159000"/>
            <a:ext cx="6477000" cy="4572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true" i="false" strike="noStrike" u="none" sz="1300">
                <a:solidFill>
                  <a:srgbClr val="4E342E"/>
                </a:solidFill>
                <a:latin typeface="Noto Sans SC"/>
                <a:ea typeface="Noto Sans SC"/>
                <a:cs typeface="Noto Sans SC"/>
                <a:sym typeface="Noto Sans SC"/>
              </a:rPr>
              <a:t>需求:</a:t>
            </a:r>
            <a:r>
              <a:rPr lang="en-US" b="false" i="false" strike="noStrike" u="none" sz="1300">
                <a:solidFill>
                  <a:srgbClr val="5D4037"/>
                </a:solidFill>
                <a:latin typeface="Noto Sans SC"/>
                <a:ea typeface="Noto Sans SC"/>
                <a:cs typeface="Noto Sans SC"/>
                <a:sym typeface="Noto Sans SC"/>
              </a:rPr>
              <a:t>实现更细粒度的按钮级别权限管控。</a:t>
            </a:r>
            <a:endParaRPr lang="en-US" sz="1100"/>
          </a:p>
        </p:txBody>
      </p:sp>
      <p:sp>
        <p:nvSpPr>
          <p:cNvPr name="AutoShape 12" id="12"/>
          <p:cNvSpPr/>
          <p:nvPr/>
        </p:nvSpPr>
        <p:spPr>
          <a:xfrm rot="0" flipH="false" flipV="false">
            <a:off x="1016000" y="2667000"/>
            <a:ext cx="1143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400">
                <a:solidFill>
                  <a:srgbClr val="4E342E"/>
                </a:solidFill>
                <a:latin typeface="Noto Sans SC"/>
                <a:ea typeface="Noto Sans SC"/>
                <a:cs typeface="Noto Sans SC"/>
                <a:sym typeface="Noto Sans SC"/>
              </a:rPr>
              <a:t>功能点</a:t>
            </a:r>
            <a:endParaRPr lang="en-US" sz="1100"/>
          </a:p>
        </p:txBody>
      </p:sp>
      <p:sp>
        <p:nvSpPr>
          <p:cNvPr name="AutoShape 13" id="13"/>
          <p:cNvSpPr/>
          <p:nvPr/>
        </p:nvSpPr>
        <p:spPr>
          <a:xfrm rot="0" flipH="false" flipV="false">
            <a:off x="2159000" y="2667000"/>
            <a:ext cx="5334000" cy="5842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300">
                <a:solidFill>
                  <a:srgbClr val="5D4037"/>
                </a:solidFill>
                <a:latin typeface="Noto Sans SC"/>
                <a:ea typeface="Noto Sans SC"/>
                <a:cs typeface="Noto Sans SC"/>
                <a:sym typeface="Noto Sans SC"/>
              </a:rPr>
              <a:t>· 对"新增"、"编辑"、"删除"等操作按钮进行权限控制。</a:t>
            </a:r>
            <a:r>
              <a:rPr lang="en-US" b="false" i="false" strike="noStrike" u="none" sz="1300">
                <a:solidFill>
                  <a:srgbClr val="5D4037"/>
                </a:solidFill>
                <a:latin typeface="Noto Sans SC"/>
                <a:ea typeface="Noto Sans SC"/>
                <a:cs typeface="Noto Sans SC"/>
                <a:sym typeface="Noto Sans SC"/>
              </a:rPr>
              <a:t/>
            </a:r>
            <a:endParaRPr lang="en-US" sz="1100"/>
          </a:p>
          <a:p>
            <a:pPr algn="l" marL="0" indent="0">
              <a:lnSpc>
                <a:spcPct val="125000"/>
              </a:lnSpc>
            </a:pPr>
            <a:r>
              <a:rPr lang="en-US" b="false" i="false" strike="noStrike" u="none" sz="1300">
                <a:solidFill>
                  <a:srgbClr val="5D4037"/>
                </a:solidFill>
                <a:latin typeface="Noto Sans SC"/>
                <a:ea typeface="Noto Sans SC"/>
                <a:cs typeface="Noto Sans SC"/>
                <a:sym typeface="Noto Sans SC"/>
              </a:rPr>
              <a:t>· 根据当前用户角色的权限,动态显示或隐藏相应的操作按钮。</a:t>
            </a:r>
          </a:p>
        </p:txBody>
      </p:sp>
      <p:sp>
        <p:nvSpPr>
          <p:cNvPr name="AutoShape 14" id="14"/>
          <p:cNvSpPr/>
          <p:nvPr/>
        </p:nvSpPr>
        <p:spPr>
          <a:xfrm rot="0" flipH="false" flipV="false">
            <a:off x="1016000" y="3302000"/>
            <a:ext cx="6477000" cy="431800"/>
          </a:xfrm>
          <a:prstGeom prst="roundRect">
            <a:avLst>
              <a:gd name="adj" fmla="val 0"/>
            </a:avLst>
          </a:prstGeom>
          <a:solidFill>
            <a:srgbClr val="DAA520">
              <a:alpha val="15000"/>
            </a:srgbClr>
          </a:solidFill>
          <a:ln cmpd="sng" cap="flat">
            <a:solidFill>
              <a:srgbClr val="C18C09">
                <a:alpha val="15000"/>
              </a:srgbClr>
            </a:solidFill>
            <a:prstDash val="solid"/>
            <a:round/>
          </a:ln>
        </p:spPr>
        <p:txBody>
          <a:bodyPr anchor="ctr" rtlCol="false" anchorCtr="false" vert="horz" wrap="square" lIns="0" rIns="0" tIns="0" bIns="0"/>
          <a:lstStyle/>
          <a:p>
            <a:pPr algn="ctr">
              <a:defRPr/>
            </a:pPr>
            <a:endParaRPr/>
          </a:p>
        </p:txBody>
      </p:sp>
      <p:sp>
        <p:nvSpPr>
          <p:cNvPr name="AutoShape 15" id="15"/>
          <p:cNvSpPr/>
          <p:nvPr/>
        </p:nvSpPr>
        <p:spPr>
          <a:xfrm rot="0" flipH="false" flipV="false">
            <a:off x="1016000" y="3302000"/>
            <a:ext cx="38100" cy="431800"/>
          </a:xfrm>
          <a:prstGeom prst="roundRect">
            <a:avLst>
              <a:gd name="adj" fmla="val 0"/>
            </a:avLst>
          </a:prstGeom>
          <a:solidFill>
            <a:srgbClr val="DAA520">
              <a:alpha val="100000"/>
            </a:srgbClr>
          </a:solidFill>
          <a:ln cmpd="sng" cap="flat">
            <a:solidFill>
              <a:srgbClr val="C18C09">
                <a:alpha val="100000"/>
              </a:srgbClr>
            </a:solidFill>
            <a:prstDash val="solid"/>
            <a:round/>
          </a:ln>
        </p:spPr>
        <p:txBody>
          <a:bodyPr anchor="ctr" rtlCol="false" anchorCtr="false" vert="horz" wrap="square" lIns="0" rIns="0" tIns="0" bIns="0"/>
          <a:lstStyle/>
          <a:p>
            <a:pPr algn="ctr">
              <a:defRPr/>
            </a:pPr>
            <a:endParaRPr/>
          </a:p>
        </p:txBody>
      </p:sp>
      <p:sp>
        <p:nvSpPr>
          <p:cNvPr name="AutoShape 16" id="16"/>
          <p:cNvSpPr/>
          <p:nvPr/>
        </p:nvSpPr>
        <p:spPr>
          <a:xfrm rot="0" flipH="false" flipV="false">
            <a:off x="1193800" y="3302000"/>
            <a:ext cx="1143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300">
                <a:solidFill>
                  <a:srgbClr val="4E342E"/>
                </a:solidFill>
                <a:latin typeface="Noto Sans SC"/>
                <a:ea typeface="Noto Sans SC"/>
                <a:cs typeface="Noto Sans SC"/>
                <a:sym typeface="Noto Sans SC"/>
              </a:rPr>
              <a:t>核心要求</a:t>
            </a:r>
            <a:endParaRPr lang="en-US" sz="1100"/>
          </a:p>
        </p:txBody>
      </p:sp>
      <p:sp>
        <p:nvSpPr>
          <p:cNvPr name="AutoShape 17" id="17"/>
          <p:cNvSpPr/>
          <p:nvPr/>
        </p:nvSpPr>
        <p:spPr>
          <a:xfrm rot="0" flipH="false" flipV="false">
            <a:off x="2336800" y="3302000"/>
            <a:ext cx="51562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5D4037"/>
                </a:solidFill>
                <a:latin typeface="Noto Sans SC"/>
                <a:ea typeface="Noto Sans SC"/>
                <a:cs typeface="Noto Sans SC"/>
                <a:sym typeface="Noto Sans SC"/>
              </a:rPr>
              <a:t>杜绝无权限操作的按钮在界面上展示。</a:t>
            </a:r>
            <a:endParaRPr lang="en-US" sz="1100"/>
          </a:p>
        </p:txBody>
      </p:sp>
      <p:sp>
        <p:nvSpPr>
          <p:cNvPr name="AutoShape 18" id="18"/>
          <p:cNvSpPr/>
          <p:nvPr/>
        </p:nvSpPr>
        <p:spPr>
          <a:xfrm rot="0" flipH="false" flipV="false">
            <a:off x="762000" y="4064000"/>
            <a:ext cx="7239000" cy="2286000"/>
          </a:xfrm>
          <a:prstGeom prst="roundRect">
            <a:avLst>
              <a:gd name="adj" fmla="val 0"/>
            </a:avLst>
          </a:prstGeom>
          <a:solidFill>
            <a:srgbClr val="FFF8E1">
              <a:alpha val="95000"/>
            </a:srgbClr>
          </a:solidFill>
          <a:ln cmpd="sng" cap="flat">
            <a:solidFill>
              <a:srgbClr val="E6DAB4">
                <a:alpha val="95000"/>
              </a:srgbClr>
            </a:solidFill>
            <a:prstDash val="solid"/>
            <a:round/>
          </a:ln>
        </p:spPr>
        <p:txBody>
          <a:bodyPr anchor="ctr" rtlCol="false" anchorCtr="false" vert="horz" wrap="square" lIns="0" rIns="0" tIns="0" bIns="0"/>
          <a:lstStyle/>
          <a:p>
            <a:pPr algn="ctr">
              <a:defRPr/>
            </a:pPr>
            <a:endParaRPr/>
          </a:p>
        </p:txBody>
      </p:sp>
      <p:sp>
        <p:nvSpPr>
          <p:cNvPr name="AutoShape 19" id="19"/>
          <p:cNvSpPr/>
          <p:nvPr/>
        </p:nvSpPr>
        <p:spPr>
          <a:xfrm rot="0" flipH="false" flipV="false">
            <a:off x="762000" y="4064000"/>
            <a:ext cx="50800" cy="2286000"/>
          </a:xfrm>
          <a:prstGeom prst="roundRect">
            <a:avLst>
              <a:gd name="adj" fmla="val 0"/>
            </a:avLst>
          </a:prstGeom>
          <a:solidFill>
            <a:srgbClr val="DAA520">
              <a:alpha val="100000"/>
            </a:srgbClr>
          </a:solidFill>
          <a:ln cmpd="sng" cap="flat">
            <a:solidFill>
              <a:srgbClr val="C18C09">
                <a:alpha val="100000"/>
              </a:srgbClr>
            </a:solidFill>
            <a:prstDash val="solid"/>
            <a:round/>
          </a:ln>
        </p:spPr>
        <p:txBody>
          <a:bodyPr anchor="ctr" rtlCol="false" anchorCtr="false" vert="horz" wrap="square" lIns="0" rIns="0" tIns="0" bIns="0"/>
          <a:lstStyle/>
          <a:p>
            <a:pPr algn="ctr">
              <a:defRPr/>
            </a:pPr>
            <a:endParaRPr/>
          </a:p>
        </p:txBody>
      </p:sp>
      <p:sp>
        <p:nvSpPr>
          <p:cNvPr name="AutoShape 20" id="20"/>
          <p:cNvSpPr/>
          <p:nvPr/>
        </p:nvSpPr>
        <p:spPr>
          <a:xfrm rot="0" flipH="false" flipV="false">
            <a:off x="1016000" y="4191000"/>
            <a:ext cx="88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2800">
                <a:solidFill>
                  <a:srgbClr val="4E342E"/>
                </a:solidFill>
                <a:latin typeface="Noto Sans SC"/>
                <a:ea typeface="Noto Sans SC"/>
                <a:cs typeface="Noto Sans SC"/>
                <a:sym typeface="Noto Sans SC"/>
              </a:rPr>
              <a:t>4.5</a:t>
            </a:r>
            <a:endParaRPr lang="en-US" sz="1100"/>
          </a:p>
        </p:txBody>
      </p:sp>
      <p:sp>
        <p:nvSpPr>
          <p:cNvPr name="AutoShape 21" id="21"/>
          <p:cNvSpPr/>
          <p:nvPr/>
        </p:nvSpPr>
        <p:spPr>
          <a:xfrm rot="0" flipH="false" flipV="false">
            <a:off x="1905000" y="4191000"/>
            <a:ext cx="457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800">
                <a:solidFill>
                  <a:srgbClr val="4E342E"/>
                </a:solidFill>
                <a:latin typeface="Noto Sans SC"/>
                <a:ea typeface="Noto Sans SC"/>
                <a:cs typeface="Noto Sans SC"/>
                <a:sym typeface="Noto Sans SC"/>
              </a:rPr>
              <a:t>数据软删除 + 操作日志记录</a:t>
            </a:r>
            <a:endParaRPr lang="en-US" sz="1100"/>
          </a:p>
        </p:txBody>
      </p:sp>
      <p:sp>
        <p:nvSpPr>
          <p:cNvPr name="AutoShape 22" id="22"/>
          <p:cNvSpPr/>
          <p:nvPr/>
        </p:nvSpPr>
        <p:spPr>
          <a:xfrm rot="0" flipH="false" flipV="false">
            <a:off x="6477000" y="4216400"/>
            <a:ext cx="736600" cy="330200"/>
          </a:xfrm>
          <a:prstGeom prst="roundRect">
            <a:avLst>
              <a:gd name="adj" fmla="val 0"/>
            </a:avLst>
          </a:prstGeom>
          <a:solidFill>
            <a:srgbClr val="DAA520">
              <a:alpha val="20000"/>
            </a:srgbClr>
          </a:solidFill>
          <a:ln cmpd="sng" cap="flat">
            <a:solidFill>
              <a:srgbClr val="C18C09">
                <a:alpha val="20000"/>
              </a:srgbClr>
            </a:solidFill>
            <a:prstDash val="solid"/>
            <a:round/>
          </a:ln>
        </p:spPr>
        <p:txBody>
          <a:bodyPr anchor="ctr" rtlCol="false" anchorCtr="false" vert="horz" wrap="square" lIns="0" rIns="0" tIns="0" bIns="0"/>
          <a:lstStyle/>
          <a:p>
            <a:pPr algn="ctr">
              <a:defRPr/>
            </a:pPr>
            <a:endParaRPr/>
          </a:p>
        </p:txBody>
      </p:sp>
      <p:sp>
        <p:nvSpPr>
          <p:cNvPr name="AutoShape 23" id="23"/>
          <p:cNvSpPr/>
          <p:nvPr/>
        </p:nvSpPr>
        <p:spPr>
          <a:xfrm rot="0" flipH="false" flipV="false">
            <a:off x="6477000" y="4216400"/>
            <a:ext cx="736600" cy="330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true" i="false" strike="noStrike" u="none" sz="1300">
                <a:solidFill>
                  <a:srgbClr val="4E342E"/>
                </a:solidFill>
                <a:latin typeface="Noto Sans SC"/>
                <a:ea typeface="Noto Sans SC"/>
                <a:cs typeface="Noto Sans SC"/>
                <a:sym typeface="Noto Sans SC"/>
              </a:rPr>
              <a:t>3分</a:t>
            </a:r>
            <a:endParaRPr lang="en-US" sz="1100"/>
          </a:p>
        </p:txBody>
      </p:sp>
      <p:sp>
        <p:nvSpPr>
          <p:cNvPr name="AutoShape 24" id="24"/>
          <p:cNvSpPr/>
          <p:nvPr/>
        </p:nvSpPr>
        <p:spPr>
          <a:xfrm rot="0" flipH="false" flipV="false">
            <a:off x="1016000" y="4699000"/>
            <a:ext cx="64770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true" i="false" strike="noStrike" u="none" sz="1300">
                <a:solidFill>
                  <a:srgbClr val="4E342E"/>
                </a:solidFill>
                <a:latin typeface="Noto Sans SC"/>
                <a:ea typeface="Noto Sans SC"/>
                <a:cs typeface="Noto Sans SC"/>
                <a:sym typeface="Noto Sans SC"/>
              </a:rPr>
              <a:t>需求:</a:t>
            </a:r>
            <a:r>
              <a:rPr lang="en-US" b="false" i="false" strike="noStrike" u="none" sz="1300">
                <a:solidFill>
                  <a:srgbClr val="5D4037"/>
                </a:solidFill>
                <a:latin typeface="Noto Sans SC"/>
                <a:ea typeface="Noto Sans SC"/>
                <a:cs typeface="Noto Sans SC"/>
                <a:sym typeface="Noto Sans SC"/>
              </a:rPr>
              <a:t>增强系统的数据安全性和可追溯性。</a:t>
            </a:r>
            <a:endParaRPr lang="en-US" sz="1100"/>
          </a:p>
        </p:txBody>
      </p:sp>
      <p:sp>
        <p:nvSpPr>
          <p:cNvPr name="AutoShape 25" id="25"/>
          <p:cNvSpPr/>
          <p:nvPr/>
        </p:nvSpPr>
        <p:spPr>
          <a:xfrm rot="0" flipH="false" flipV="false">
            <a:off x="1016000" y="5130800"/>
            <a:ext cx="1143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1400">
                <a:solidFill>
                  <a:srgbClr val="4E342E"/>
                </a:solidFill>
                <a:latin typeface="Noto Sans SC"/>
                <a:ea typeface="Noto Sans SC"/>
                <a:cs typeface="Noto Sans SC"/>
                <a:sym typeface="Noto Sans SC"/>
              </a:rPr>
              <a:t>功能点</a:t>
            </a:r>
            <a:endParaRPr lang="en-US" sz="1100"/>
          </a:p>
        </p:txBody>
      </p:sp>
      <p:sp>
        <p:nvSpPr>
          <p:cNvPr name="AutoShape 26" id="26"/>
          <p:cNvSpPr/>
          <p:nvPr/>
        </p:nvSpPr>
        <p:spPr>
          <a:xfrm rot="0" flipH="false" flipV="false">
            <a:off x="2159000" y="5130800"/>
            <a:ext cx="53340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true" i="false" strike="noStrike" u="none" sz="1300">
                <a:solidFill>
                  <a:srgbClr val="4E342E"/>
                </a:solidFill>
                <a:latin typeface="Noto Sans SC"/>
                <a:ea typeface="Noto Sans SC"/>
                <a:cs typeface="Noto Sans SC"/>
                <a:sym typeface="Noto Sans SC"/>
              </a:rPr>
              <a:t>数据软删除:</a:t>
            </a:r>
            <a:r>
              <a:rPr lang="en-US" b="false" i="false" strike="noStrike" u="none" sz="1300">
                <a:solidFill>
                  <a:srgbClr val="5D4037"/>
                </a:solidFill>
                <a:latin typeface="Noto Sans SC"/>
                <a:ea typeface="Noto Sans SC"/>
                <a:cs typeface="Noto Sans SC"/>
                <a:sym typeface="Noto Sans SC"/>
              </a:rPr>
              <a:t>所有业务数据的删除操作,仅做标记(如</a:t>
            </a:r>
            <a:r>
              <a:rPr lang="en-US" b="true" i="false" strike="noStrike" u="none" sz="1300">
                <a:solidFill>
                  <a:srgbClr val="4E342E"/>
                </a:solidFill>
                <a:latin typeface="Noto Sans SC"/>
                <a:ea typeface="Noto Sans SC"/>
                <a:cs typeface="Noto Sans SC"/>
                <a:sym typeface="Noto Sans SC"/>
              </a:rPr>
              <a:t>is_deleted</a:t>
            </a:r>
            <a:r>
              <a:rPr lang="en-US" b="false" i="false" strike="noStrike" u="none" sz="1300">
                <a:solidFill>
                  <a:srgbClr val="5D4037"/>
                </a:solidFill>
                <a:latin typeface="Noto Sans SC"/>
                <a:ea typeface="Noto Sans SC"/>
                <a:cs typeface="Noto Sans SC"/>
                <a:sym typeface="Noto Sans SC"/>
              </a:rPr>
              <a:t>字段),不进行物理删除。</a:t>
            </a:r>
            <a:r>
              <a:rPr lang="en-US" b="false" i="false" strike="noStrike" u="none" sz="1300">
                <a:solidFill>
                  <a:srgbClr val="5D4037"/>
                </a:solidFill>
                <a:latin typeface="Noto Sans SC"/>
                <a:ea typeface="Noto Sans SC"/>
                <a:cs typeface="Noto Sans SC"/>
                <a:sym typeface="Noto Sans SC"/>
              </a:rPr>
              <a:t/>
            </a:r>
            <a:endParaRPr lang="en-US" sz="1100"/>
          </a:p>
          <a:p>
            <a:pPr algn="l" marL="0" indent="0">
              <a:lnSpc>
                <a:spcPct val="125000"/>
              </a:lnSpc>
            </a:pPr>
            <a:r>
              <a:rPr lang="en-US" b="true" i="false" strike="noStrike" u="none" sz="1300">
                <a:solidFill>
                  <a:srgbClr val="4E342E"/>
                </a:solidFill>
                <a:latin typeface="Noto Sans SC"/>
                <a:ea typeface="Noto Sans SC"/>
                <a:cs typeface="Noto Sans SC"/>
                <a:sym typeface="Noto Sans SC"/>
              </a:rPr>
              <a:t>操作日志记录:</a:t>
            </a:r>
            <a:r>
              <a:rPr lang="en-US" b="false" i="false" strike="noStrike" u="none" sz="1300">
                <a:solidFill>
                  <a:srgbClr val="5D4037"/>
                </a:solidFill>
                <a:latin typeface="Noto Sans SC"/>
                <a:ea typeface="Noto Sans SC"/>
                <a:cs typeface="Noto Sans SC"/>
                <a:sym typeface="Noto Sans SC"/>
              </a:rPr>
              <a:t>自动记录用户的关键操作,包括操作人、时间、类型和数据内容。</a:t>
            </a:r>
          </a:p>
        </p:txBody>
      </p:sp>
      <p:pic>
        <p:nvPicPr>
          <p:cNvPr name="Picture 27" id="27"/>
          <p:cNvPicPr>
            <a:picLocks noChangeAspect="true"/>
          </p:cNvPicPr>
          <p:nvPr/>
        </p:nvPicPr>
        <p:blipFill>
          <a:blip r:embed="rId4"/>
          <a:srcRect l="15029" r="15029" t="0" b="0"/>
          <a:stretch>
            <a:fillRect/>
          </a:stretch>
        </p:blipFill>
        <p:spPr>
          <a:xfrm rot="0" flipH="false" flipV="false">
            <a:off x="8318500" y="1524000"/>
            <a:ext cx="3683000" cy="3048000"/>
          </a:xfrm>
          <a:prstGeom prst="rect">
            <a:avLst/>
          </a:prstGeom>
          <a:noFill/>
          <a:ln w="25400" cmpd="sng" cap="flat">
            <a:noFill/>
            <a:prstDash val="solid"/>
            <a:round/>
          </a:ln>
        </p:spPr>
      </p:pic>
      <p:sp>
        <p:nvSpPr>
          <p:cNvPr name="AutoShape 28" id="28"/>
          <p:cNvSpPr/>
          <p:nvPr/>
        </p:nvSpPr>
        <p:spPr>
          <a:xfrm rot="0" flipH="false" flipV="false">
            <a:off x="8318500" y="4699000"/>
            <a:ext cx="3683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true" i="false" strike="noStrike" u="none" sz="1400">
                <a:solidFill>
                  <a:srgbClr val="4E342E"/>
                </a:solidFill>
                <a:latin typeface="Noto Sans SC"/>
                <a:ea typeface="Noto Sans SC"/>
                <a:cs typeface="Noto Sans SC"/>
                <a:sym typeface="Noto Sans SC"/>
              </a:rPr>
              <a:t>系统操作日志示例</a:t>
            </a:r>
            <a:endParaRPr lang="en-US" sz="1100"/>
          </a:p>
        </p:txBody>
      </p:sp>
      <p:sp>
        <p:nvSpPr>
          <p:cNvPr name="AutoShape 29" id="29"/>
          <p:cNvSpPr/>
          <p:nvPr/>
        </p:nvSpPr>
        <p:spPr>
          <a:xfrm rot="0" flipH="false" flipV="false">
            <a:off x="8318500" y="5105400"/>
            <a:ext cx="3683000" cy="762000"/>
          </a:xfrm>
          <a:prstGeom prst="rect">
            <a:avLst/>
          </a:prstGeom>
          <a:noFill/>
          <a:ln w="12700" cmpd="sng" cap="flat">
            <a:noFill/>
            <a:prstDash val="solid"/>
            <a:round/>
          </a:ln>
        </p:spPr>
        <p:txBody>
          <a:bodyPr anchor="t" rtlCol="false" anchorCtr="false" vert="horz" wrap="square" lIns="0" rIns="0" tIns="0" bIns="0"/>
          <a:lstStyle/>
          <a:p>
            <a:pPr algn="ctr" marL="0" indent="0">
              <a:lnSpc>
                <a:spcPct val="125000"/>
              </a:lnSpc>
              <a:defRPr/>
            </a:pPr>
            <a:r>
              <a:rPr lang="en-US" b="false" i="false" strike="noStrike" u="none" sz="1200">
                <a:solidFill>
                  <a:srgbClr val="5D4037"/>
                </a:solidFill>
                <a:latin typeface="Noto Sans SC"/>
                <a:ea typeface="Noto Sans SC"/>
                <a:cs typeface="Noto Sans SC"/>
                <a:sym typeface="Noto Sans SC"/>
              </a:rPr>
              <a:t>记录操作人、时间、类型等关键信息,可追溯、可审计。</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AEB">
              <a:alpha val="90000"/>
            </a:srgbClr>
          </a:solidFill>
          <a:ln cmpd="sng" cap="flat">
            <a:solidFill>
              <a:srgbClr val="E6DBBD">
                <a:alpha val="90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7620000" cy="635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4E342E"/>
                </a:solidFill>
                <a:latin typeface="Noto Sans SC"/>
                <a:ea typeface="Noto Sans SC"/>
                <a:cs typeface="Noto Sans SC"/>
                <a:sym typeface="Noto Sans SC"/>
              </a:rPr>
              <a:t>05 验收要求</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10287000" y="635000"/>
            <a:ext cx="1651000" cy="495300"/>
          </a:xfrm>
          <a:prstGeom prst="rect">
            <a:avLst/>
          </a:prstGeom>
          <a:noFill/>
          <a:ln w="25400" cmpd="sng" cap="flat">
            <a:noFill/>
            <a:prstDash val="solid"/>
            <a:round/>
          </a:ln>
        </p:spPr>
      </p:pic>
      <p:sp>
        <p:nvSpPr>
          <p:cNvPr name="AutoShape 5" id="5"/>
          <p:cNvSpPr/>
          <p:nvPr/>
        </p:nvSpPr>
        <p:spPr>
          <a:xfrm rot="0" flipH="false" flipV="false">
            <a:off x="762000" y="1778000"/>
            <a:ext cx="3302000" cy="4826000"/>
          </a:xfrm>
          <a:prstGeom prst="roundRect">
            <a:avLst>
              <a:gd name="adj" fmla="val 0"/>
            </a:avLst>
          </a:prstGeom>
          <a:solidFill>
            <a:srgbClr val="FFFFFF">
              <a:alpha val="90000"/>
            </a:srgbClr>
          </a:solidFill>
          <a:ln w="12700" cmpd="sng" cap="flat">
            <a:solidFill>
              <a:srgbClr val="D4AF37">
                <a:alpha val="80000"/>
              </a:srgbClr>
            </a:solidFill>
            <a:prstDash val="solid"/>
            <a:round/>
          </a:ln>
        </p:spPr>
        <p:txBody>
          <a:bodyPr anchor="t" rtlCol="false" anchorCtr="false" vert="horz" wrap="square" lIns="190500" rIns="190500" tIns="190500" bIns="190500"/>
          <a:lstStyle/>
          <a:p>
            <a:pPr algn="ctr" marL="0" indent="0">
              <a:lnSpc>
                <a:spcPct val="108333"/>
              </a:lnSpc>
              <a:defRPr/>
            </a:pPr>
            <a:r>
              <a:rPr lang="en-US" b="true" i="false" strike="noStrike" u="none" sz="1600">
                <a:solidFill>
                  <a:srgbClr val="4E342E"/>
                </a:solidFill>
                <a:latin typeface="Noto Sans SC"/>
                <a:ea typeface="Noto Sans SC"/>
                <a:cs typeface="Noto Sans SC"/>
                <a:sym typeface="Noto Sans SC"/>
              </a:rPr>
              <a:t>基础必做部分（80分）</a:t>
            </a:r>
            <a:r>
              <a:rPr lang="en-US" b="false" i="false" strike="noStrike" u="none" sz="1300">
                <a:solidFill>
                  <a:srgbClr val="5D4037"/>
                </a:solidFill>
                <a:latin typeface="Noto Sans SC"/>
                <a:ea typeface="Noto Sans SC"/>
                <a:cs typeface="Noto Sans SC"/>
                <a:sym typeface="Noto Sans SC"/>
              </a:rPr>
              <a:t/>
            </a:r>
            <a:endParaRPr lang="en-US" sz="1100"/>
          </a:p>
          <a:p>
            <a:pPr algn="ctr" marL="0" indent="0">
              <a:lnSpc>
                <a:spcPct val="116666"/>
              </a:lnSpc>
              <a:spcBef>
                <a:spcPts val="1000"/>
              </a:spcBef>
            </a:pPr>
            <a:r>
              <a:rPr lang="en-US" b="true" i="false" strike="noStrike" u="none" sz="1400">
                <a:solidFill>
                  <a:srgbClr val="4E342E"/>
                </a:solidFill>
                <a:latin typeface="Noto Sans SC"/>
                <a:ea typeface="Noto Sans SC"/>
                <a:cs typeface="Noto Sans SC"/>
                <a:sym typeface="Noto Sans SC"/>
              </a:rPr>
              <a:t>基础管理模块</a:t>
            </a:r>
            <a:r>
              <a:rPr lang="en-US" b="false" i="false" strike="noStrike" u="none" sz="1300">
                <a:solidFill>
                  <a:srgbClr val="5D4037"/>
                </a:solidFill>
                <a:latin typeface="Noto Sans SC"/>
                <a:ea typeface="Noto Sans SC"/>
                <a:cs typeface="Noto Sans SC"/>
                <a:sym typeface="Noto Sans SC"/>
              </a:rPr>
              <a:t/>
            </a:r>
          </a:p>
          <a:p>
            <a:pPr algn="ctr" marL="0" indent="0">
              <a:lnSpc>
                <a:spcPct val="116666"/>
              </a:lnSpc>
            </a:pPr>
            <a:r>
              <a:rPr lang="en-US" b="false" i="false" strike="noStrike" u="none" sz="1300">
                <a:solidFill>
                  <a:srgbClr val="5D4037"/>
                </a:solidFill>
                <a:latin typeface="Noto Sans SC"/>
                <a:ea typeface="Noto Sans SC"/>
                <a:cs typeface="Noto Sans SC"/>
                <a:sym typeface="Noto Sans SC"/>
              </a:rPr>
              <a:t>• 登录认证功能 (7分)</a:t>
            </a:r>
            <a:r>
              <a:rPr lang="en-US" b="false" i="false" strike="noStrike" u="none" sz="1300">
                <a:solidFill>
                  <a:srgbClr val="5D4037"/>
                </a:solidFill>
                <a:latin typeface="Noto Sans SC"/>
                <a:ea typeface="Noto Sans SC"/>
                <a:cs typeface="Noto Sans SC"/>
                <a:sym typeface="Noto Sans SC"/>
              </a:rPr>
              <a:t/>
            </a:r>
          </a:p>
          <a:p>
            <a:pPr algn="ctr" marL="0" indent="0">
              <a:lnSpc>
                <a:spcPct val="116666"/>
              </a:lnSpc>
            </a:pPr>
            <a:r>
              <a:rPr lang="en-US" b="false" i="false" strike="noStrike" u="none" sz="1300">
                <a:solidFill>
                  <a:srgbClr val="5D4037"/>
                </a:solidFill>
                <a:latin typeface="Noto Sans SC"/>
                <a:ea typeface="Noto Sans SC"/>
                <a:cs typeface="Noto Sans SC"/>
                <a:sym typeface="Noto Sans SC"/>
              </a:rPr>
              <a:t>• 用户管理 (6分)</a:t>
            </a:r>
            <a:r>
              <a:rPr lang="en-US" b="false" i="false" strike="noStrike" u="none" sz="1300">
                <a:solidFill>
                  <a:srgbClr val="5D4037"/>
                </a:solidFill>
                <a:latin typeface="Noto Sans SC"/>
                <a:ea typeface="Noto Sans SC"/>
                <a:cs typeface="Noto Sans SC"/>
                <a:sym typeface="Noto Sans SC"/>
              </a:rPr>
              <a:t/>
            </a:r>
          </a:p>
          <a:p>
            <a:pPr algn="ctr" marL="0" indent="0">
              <a:lnSpc>
                <a:spcPct val="116666"/>
              </a:lnSpc>
            </a:pPr>
            <a:r>
              <a:rPr lang="en-US" b="false" i="false" strike="noStrike" u="none" sz="1300">
                <a:solidFill>
                  <a:srgbClr val="5D4037"/>
                </a:solidFill>
                <a:latin typeface="Noto Sans SC"/>
                <a:ea typeface="Noto Sans SC"/>
                <a:cs typeface="Noto Sans SC"/>
                <a:sym typeface="Noto Sans SC"/>
              </a:rPr>
              <a:t>• 角色管理 (6分)</a:t>
            </a:r>
            <a:r>
              <a:rPr lang="en-US" b="false" i="false" strike="noStrike" u="none" sz="1300">
                <a:solidFill>
                  <a:srgbClr val="5D4037"/>
                </a:solidFill>
                <a:latin typeface="Noto Sans SC"/>
                <a:ea typeface="Noto Sans SC"/>
                <a:cs typeface="Noto Sans SC"/>
                <a:sym typeface="Noto Sans SC"/>
              </a:rPr>
              <a:t/>
            </a:r>
          </a:p>
          <a:p>
            <a:pPr algn="ctr" marL="0" indent="0">
              <a:lnSpc>
                <a:spcPct val="116666"/>
              </a:lnSpc>
            </a:pPr>
            <a:r>
              <a:rPr lang="en-US" b="false" i="false" strike="noStrike" u="none" sz="1300">
                <a:solidFill>
                  <a:srgbClr val="5D4037"/>
                </a:solidFill>
                <a:latin typeface="Noto Sans SC"/>
                <a:ea typeface="Noto Sans SC"/>
                <a:cs typeface="Noto Sans SC"/>
                <a:sym typeface="Noto Sans SC"/>
              </a:rPr>
              <a:t>• 菜单管理 (6分)</a:t>
            </a:r>
            <a:r>
              <a:rPr lang="en-US" b="false" i="false" strike="noStrike" u="none" sz="1300">
                <a:solidFill>
                  <a:srgbClr val="5D4037"/>
                </a:solidFill>
                <a:latin typeface="Noto Sans SC"/>
                <a:ea typeface="Noto Sans SC"/>
                <a:cs typeface="Noto Sans SC"/>
                <a:sym typeface="Noto Sans SC"/>
              </a:rPr>
              <a:t/>
            </a:r>
          </a:p>
          <a:p>
            <a:pPr algn="ctr" marL="0" indent="0">
              <a:lnSpc>
                <a:spcPct val="116666"/>
              </a:lnSpc>
              <a:spcBef>
                <a:spcPts val="800"/>
              </a:spcBef>
            </a:pPr>
            <a:r>
              <a:rPr lang="en-US" b="true" i="false" strike="noStrike" u="none" sz="1400">
                <a:solidFill>
                  <a:srgbClr val="4E342E"/>
                </a:solidFill>
                <a:latin typeface="Noto Sans SC"/>
                <a:ea typeface="Noto Sans SC"/>
                <a:cs typeface="Noto Sans SC"/>
                <a:sym typeface="Noto Sans SC"/>
              </a:rPr>
              <a:t>财务收支管理模块</a:t>
            </a:r>
            <a:r>
              <a:rPr lang="en-US" b="false" i="false" strike="noStrike" u="none" sz="1300">
                <a:solidFill>
                  <a:srgbClr val="5D4037"/>
                </a:solidFill>
                <a:latin typeface="Noto Sans SC"/>
                <a:ea typeface="Noto Sans SC"/>
                <a:cs typeface="Noto Sans SC"/>
                <a:sym typeface="Noto Sans SC"/>
              </a:rPr>
              <a:t/>
            </a:r>
          </a:p>
          <a:p>
            <a:pPr algn="ctr" marL="0" indent="0">
              <a:lnSpc>
                <a:spcPct val="116666"/>
              </a:lnSpc>
            </a:pPr>
            <a:r>
              <a:rPr lang="en-US" b="false" i="false" strike="noStrike" u="none" sz="1300">
                <a:solidFill>
                  <a:srgbClr val="5D4037"/>
                </a:solidFill>
                <a:latin typeface="Noto Sans SC"/>
                <a:ea typeface="Noto Sans SC"/>
                <a:cs typeface="Noto Sans SC"/>
                <a:sym typeface="Noto Sans SC"/>
              </a:rPr>
              <a:t>• 收支分类管理 (6分)</a:t>
            </a:r>
            <a:r>
              <a:rPr lang="en-US" b="false" i="false" strike="noStrike" u="none" sz="1300">
                <a:solidFill>
                  <a:srgbClr val="5D4037"/>
                </a:solidFill>
                <a:latin typeface="Noto Sans SC"/>
                <a:ea typeface="Noto Sans SC"/>
                <a:cs typeface="Noto Sans SC"/>
                <a:sym typeface="Noto Sans SC"/>
              </a:rPr>
              <a:t/>
            </a:r>
          </a:p>
          <a:p>
            <a:pPr algn="ctr" marL="0" indent="0">
              <a:lnSpc>
                <a:spcPct val="116666"/>
              </a:lnSpc>
            </a:pPr>
            <a:r>
              <a:rPr lang="en-US" b="false" i="false" strike="noStrike" u="none" sz="1300">
                <a:solidFill>
                  <a:srgbClr val="5D4037"/>
                </a:solidFill>
                <a:latin typeface="Noto Sans SC"/>
                <a:ea typeface="Noto Sans SC"/>
                <a:cs typeface="Noto Sans SC"/>
                <a:sym typeface="Noto Sans SC"/>
              </a:rPr>
              <a:t>• 收支记录管理 (7分)</a:t>
            </a:r>
            <a:r>
              <a:rPr lang="en-US" b="false" i="false" strike="noStrike" u="none" sz="1300">
                <a:solidFill>
                  <a:srgbClr val="5D4037"/>
                </a:solidFill>
                <a:latin typeface="Noto Sans SC"/>
                <a:ea typeface="Noto Sans SC"/>
                <a:cs typeface="Noto Sans SC"/>
                <a:sym typeface="Noto Sans SC"/>
              </a:rPr>
              <a:t/>
            </a:r>
          </a:p>
          <a:p>
            <a:pPr algn="ctr" marL="0" indent="0">
              <a:lnSpc>
                <a:spcPct val="116666"/>
              </a:lnSpc>
            </a:pPr>
            <a:r>
              <a:rPr lang="en-US" b="false" i="false" strike="noStrike" u="none" sz="1300">
                <a:solidFill>
                  <a:srgbClr val="5D4037"/>
                </a:solidFill>
                <a:latin typeface="Noto Sans SC"/>
                <a:ea typeface="Noto Sans SC"/>
                <a:cs typeface="Noto Sans SC"/>
                <a:sym typeface="Noto Sans SC"/>
              </a:rPr>
              <a:t>• 多条件筛选查询 (6分)</a:t>
            </a:r>
            <a:r>
              <a:rPr lang="en-US" b="false" i="false" strike="noStrike" u="none" sz="1300">
                <a:solidFill>
                  <a:srgbClr val="5D4037"/>
                </a:solidFill>
                <a:latin typeface="Noto Sans SC"/>
                <a:ea typeface="Noto Sans SC"/>
                <a:cs typeface="Noto Sans SC"/>
                <a:sym typeface="Noto Sans SC"/>
              </a:rPr>
              <a:t/>
            </a:r>
          </a:p>
          <a:p>
            <a:pPr algn="ctr" marL="0" indent="0">
              <a:lnSpc>
                <a:spcPct val="116666"/>
              </a:lnSpc>
            </a:pPr>
            <a:r>
              <a:rPr lang="en-US" b="false" i="false" strike="noStrike" u="none" sz="1300">
                <a:solidFill>
                  <a:srgbClr val="5D4037"/>
                </a:solidFill>
                <a:latin typeface="Noto Sans SC"/>
                <a:ea typeface="Noto Sans SC"/>
                <a:cs typeface="Noto Sans SC"/>
                <a:sym typeface="Noto Sans SC"/>
              </a:rPr>
              <a:t>• 基础金额统计 (6分)</a:t>
            </a:r>
          </a:p>
        </p:txBody>
      </p:sp>
      <p:sp>
        <p:nvSpPr>
          <p:cNvPr name="AutoShape 6" id="6"/>
          <p:cNvSpPr/>
          <p:nvPr/>
        </p:nvSpPr>
        <p:spPr>
          <a:xfrm rot="0" flipH="false" flipV="false">
            <a:off x="4445000" y="1778000"/>
            <a:ext cx="3302000" cy="4826000"/>
          </a:xfrm>
          <a:prstGeom prst="roundRect">
            <a:avLst>
              <a:gd name="adj" fmla="val 0"/>
            </a:avLst>
          </a:prstGeom>
          <a:solidFill>
            <a:srgbClr val="FFFFFF">
              <a:alpha val="90000"/>
            </a:srgbClr>
          </a:solidFill>
          <a:ln w="12700" cmpd="sng" cap="flat">
            <a:solidFill>
              <a:srgbClr val="D4AF37">
                <a:alpha val="80000"/>
              </a:srgbClr>
            </a:solidFill>
            <a:prstDash val="solid"/>
            <a:round/>
          </a:ln>
        </p:spPr>
        <p:txBody>
          <a:bodyPr anchor="t" rtlCol="false" anchorCtr="false" vert="horz" wrap="square" lIns="190500" rIns="190500" tIns="190500" bIns="190500"/>
          <a:lstStyle/>
          <a:p>
            <a:pPr algn="ctr" marL="0" indent="0">
              <a:lnSpc>
                <a:spcPct val="108333"/>
              </a:lnSpc>
              <a:defRPr/>
            </a:pPr>
            <a:r>
              <a:rPr lang="en-US" b="true" i="false" strike="noStrike" u="none" sz="1600">
                <a:solidFill>
                  <a:srgbClr val="4E342E"/>
                </a:solidFill>
                <a:latin typeface="Noto Sans SC"/>
                <a:ea typeface="Noto Sans SC"/>
                <a:cs typeface="Noto Sans SC"/>
                <a:sym typeface="Noto Sans SC"/>
              </a:rPr>
              <a:t>进阶加分拓展项（20分）</a:t>
            </a:r>
            <a:r>
              <a:rPr lang="en-US" b="false" i="false" strike="noStrike" u="none" sz="1300">
                <a:solidFill>
                  <a:srgbClr val="5D4037"/>
                </a:solidFill>
                <a:latin typeface="Noto Sans SC"/>
                <a:ea typeface="Noto Sans SC"/>
                <a:cs typeface="Noto Sans SC"/>
                <a:sym typeface="Noto Sans SC"/>
              </a:rPr>
              <a:t/>
            </a:r>
            <a:endParaRPr lang="en-US" sz="1100"/>
          </a:p>
          <a:p>
            <a:pPr algn="ctr" marL="0" indent="0">
              <a:lnSpc>
                <a:spcPct val="133333"/>
              </a:lnSpc>
              <a:spcBef>
                <a:spcPts val="1500"/>
              </a:spcBef>
            </a:pPr>
            <a:r>
              <a:rPr lang="en-US" b="false" i="false" strike="noStrike" u="none" sz="1300">
                <a:solidFill>
                  <a:srgbClr val="5D4037"/>
                </a:solidFill>
                <a:latin typeface="Noto Sans SC"/>
                <a:ea typeface="Noto Sans SC"/>
                <a:cs typeface="Noto Sans SC"/>
                <a:sym typeface="Noto Sans SC"/>
              </a:rPr>
              <a:t>• 数据可视化统计图表 (6分)</a:t>
            </a:r>
            <a:r>
              <a:rPr lang="en-US" b="false" i="false" strike="noStrike" u="none" sz="1300">
                <a:solidFill>
                  <a:srgbClr val="5D4037"/>
                </a:solidFill>
                <a:latin typeface="Noto Sans SC"/>
                <a:ea typeface="Noto Sans SC"/>
                <a:cs typeface="Noto Sans SC"/>
                <a:sym typeface="Noto Sans SC"/>
              </a:rPr>
              <a:t/>
            </a:r>
          </a:p>
          <a:p>
            <a:pPr algn="ctr" marL="0" indent="0">
              <a:lnSpc>
                <a:spcPct val="133333"/>
              </a:lnSpc>
            </a:pPr>
            <a:r>
              <a:rPr lang="en-US" b="false" i="false" strike="noStrike" u="none" sz="1300">
                <a:solidFill>
                  <a:srgbClr val="5D4037"/>
                </a:solidFill>
                <a:latin typeface="Noto Sans SC"/>
                <a:ea typeface="Noto Sans SC"/>
                <a:cs typeface="Noto Sans SC"/>
                <a:sym typeface="Noto Sans SC"/>
              </a:rPr>
              <a:t>• Excel数据导出功能 (4分)</a:t>
            </a:r>
            <a:r>
              <a:rPr lang="en-US" b="false" i="false" strike="noStrike" u="none" sz="1300">
                <a:solidFill>
                  <a:srgbClr val="5D4037"/>
                </a:solidFill>
                <a:latin typeface="Noto Sans SC"/>
                <a:ea typeface="Noto Sans SC"/>
                <a:cs typeface="Noto Sans SC"/>
                <a:sym typeface="Noto Sans SC"/>
              </a:rPr>
              <a:t/>
            </a:r>
          </a:p>
          <a:p>
            <a:pPr algn="ctr" marL="0" indent="0">
              <a:lnSpc>
                <a:spcPct val="133333"/>
              </a:lnSpc>
            </a:pPr>
            <a:r>
              <a:rPr lang="en-US" b="false" i="false" strike="noStrike" u="none" sz="1300">
                <a:solidFill>
                  <a:srgbClr val="5D4037"/>
                </a:solidFill>
                <a:latin typeface="Noto Sans SC"/>
                <a:ea typeface="Noto Sans SC"/>
                <a:cs typeface="Noto Sans SC"/>
                <a:sym typeface="Noto Sans SC"/>
              </a:rPr>
              <a:t>• 批量数据操作功能 (4分)</a:t>
            </a:r>
            <a:r>
              <a:rPr lang="en-US" b="false" i="false" strike="noStrike" u="none" sz="1300">
                <a:solidFill>
                  <a:srgbClr val="5D4037"/>
                </a:solidFill>
                <a:latin typeface="Noto Sans SC"/>
                <a:ea typeface="Noto Sans SC"/>
                <a:cs typeface="Noto Sans SC"/>
                <a:sym typeface="Noto Sans SC"/>
              </a:rPr>
              <a:t/>
            </a:r>
          </a:p>
          <a:p>
            <a:pPr algn="ctr" marL="0" indent="0">
              <a:lnSpc>
                <a:spcPct val="133333"/>
              </a:lnSpc>
            </a:pPr>
            <a:r>
              <a:rPr lang="en-US" b="false" i="false" strike="noStrike" u="none" sz="1300">
                <a:solidFill>
                  <a:srgbClr val="5D4037"/>
                </a:solidFill>
                <a:latin typeface="Noto Sans SC"/>
                <a:ea typeface="Noto Sans SC"/>
                <a:cs typeface="Noto Sans SC"/>
                <a:sym typeface="Noto Sans SC"/>
              </a:rPr>
              <a:t>• 按钮级精细化权限控制 (3分)</a:t>
            </a:r>
            <a:r>
              <a:rPr lang="en-US" b="false" i="false" strike="noStrike" u="none" sz="1300">
                <a:solidFill>
                  <a:srgbClr val="5D4037"/>
                </a:solidFill>
                <a:latin typeface="Noto Sans SC"/>
                <a:ea typeface="Noto Sans SC"/>
                <a:cs typeface="Noto Sans SC"/>
                <a:sym typeface="Noto Sans SC"/>
              </a:rPr>
              <a:t/>
            </a:r>
          </a:p>
          <a:p>
            <a:pPr algn="ctr" marL="0" indent="0">
              <a:lnSpc>
                <a:spcPct val="133333"/>
              </a:lnSpc>
            </a:pPr>
            <a:r>
              <a:rPr lang="en-US" b="false" i="false" strike="noStrike" u="none" sz="1300">
                <a:solidFill>
                  <a:srgbClr val="5D4037"/>
                </a:solidFill>
                <a:latin typeface="Noto Sans SC"/>
                <a:ea typeface="Noto Sans SC"/>
                <a:cs typeface="Noto Sans SC"/>
                <a:sym typeface="Noto Sans SC"/>
              </a:rPr>
              <a:t>• 数据软删除+操作日志记录 (3分)</a:t>
            </a:r>
          </a:p>
        </p:txBody>
      </p:sp>
      <p:sp>
        <p:nvSpPr>
          <p:cNvPr name="AutoShape 7" id="7"/>
          <p:cNvSpPr/>
          <p:nvPr/>
        </p:nvSpPr>
        <p:spPr>
          <a:xfrm rot="0" flipH="false" flipV="false">
            <a:off x="8128000" y="1778000"/>
            <a:ext cx="3302000" cy="4826000"/>
          </a:xfrm>
          <a:prstGeom prst="roundRect">
            <a:avLst>
              <a:gd name="adj" fmla="val 0"/>
            </a:avLst>
          </a:prstGeom>
          <a:solidFill>
            <a:srgbClr val="FFFFFF">
              <a:alpha val="90000"/>
            </a:srgbClr>
          </a:solidFill>
          <a:ln w="12700" cmpd="sng" cap="flat">
            <a:solidFill>
              <a:srgbClr val="D4AF37">
                <a:alpha val="80000"/>
              </a:srgbClr>
            </a:solidFill>
            <a:prstDash val="solid"/>
            <a:round/>
          </a:ln>
        </p:spPr>
        <p:txBody>
          <a:bodyPr anchor="t" rtlCol="false" anchorCtr="false" vert="horz" wrap="square" lIns="190500" rIns="190500" tIns="190500" bIns="190500"/>
          <a:lstStyle/>
          <a:p>
            <a:pPr algn="ctr" marL="0" indent="0">
              <a:lnSpc>
                <a:spcPct val="108333"/>
              </a:lnSpc>
              <a:defRPr/>
            </a:pPr>
            <a:r>
              <a:rPr lang="en-US" b="true" i="false" strike="noStrike" u="none" sz="1600">
                <a:solidFill>
                  <a:srgbClr val="4E342E"/>
                </a:solidFill>
                <a:latin typeface="Noto Sans SC"/>
                <a:ea typeface="Noto Sans SC"/>
                <a:cs typeface="Noto Sans SC"/>
                <a:sym typeface="Noto Sans SC"/>
              </a:rPr>
              <a:t>额外补充维度（50分）</a:t>
            </a:r>
            <a:r>
              <a:rPr lang="en-US" b="false" i="false" strike="noStrike" u="none" sz="1300">
                <a:solidFill>
                  <a:srgbClr val="5D4037"/>
                </a:solidFill>
                <a:latin typeface="Noto Sans SC"/>
                <a:ea typeface="Noto Sans SC"/>
                <a:cs typeface="Noto Sans SC"/>
                <a:sym typeface="Noto Sans SC"/>
              </a:rPr>
              <a:t/>
            </a:r>
            <a:endParaRPr lang="en-US" sz="1100"/>
          </a:p>
          <a:p>
            <a:pPr algn="ctr" marL="0" indent="0">
              <a:lnSpc>
                <a:spcPct val="125000"/>
              </a:lnSpc>
              <a:spcBef>
                <a:spcPts val="4000"/>
              </a:spcBef>
            </a:pPr>
            <a:r>
              <a:rPr lang="en-US" b="false" i="false" strike="noStrike" u="none" sz="1300">
                <a:solidFill>
                  <a:srgbClr val="5D4037"/>
                </a:solidFill>
                <a:latin typeface="Noto Sans SC"/>
                <a:ea typeface="Noto Sans SC"/>
                <a:cs typeface="Noto Sans SC"/>
                <a:sym typeface="Noto Sans SC"/>
              </a:rPr>
              <a:t>• 工程结构与代码质量 (10分)</a:t>
            </a:r>
            <a:r>
              <a:rPr lang="en-US" b="false" i="false" strike="noStrike" u="none" sz="1300">
                <a:solidFill>
                  <a:srgbClr val="5D4037"/>
                </a:solidFill>
                <a:latin typeface="Noto Sans SC"/>
                <a:ea typeface="Noto Sans SC"/>
                <a:cs typeface="Noto Sans SC"/>
                <a:sym typeface="Noto Sans SC"/>
              </a:rPr>
              <a:t/>
            </a:r>
          </a:p>
          <a:p>
            <a:pPr algn="ctr" marL="0" indent="0">
              <a:lnSpc>
                <a:spcPct val="125000"/>
              </a:lnSpc>
            </a:pPr>
            <a:r>
              <a:rPr lang="en-US" b="false" i="false" strike="noStrike" u="none" sz="1300">
                <a:solidFill>
                  <a:srgbClr val="5D4037"/>
                </a:solidFill>
                <a:latin typeface="Noto Sans SC"/>
                <a:ea typeface="Noto Sans SC"/>
                <a:cs typeface="Noto Sans SC"/>
                <a:sym typeface="Noto Sans SC"/>
              </a:rPr>
              <a:t>• 整体页面与用户体验 (10分)</a:t>
            </a:r>
            <a:r>
              <a:rPr lang="en-US" b="false" i="false" strike="noStrike" u="none" sz="1300">
                <a:solidFill>
                  <a:srgbClr val="5D4037"/>
                </a:solidFill>
                <a:latin typeface="Noto Sans SC"/>
                <a:ea typeface="Noto Sans SC"/>
                <a:cs typeface="Noto Sans SC"/>
                <a:sym typeface="Noto Sans SC"/>
              </a:rPr>
              <a:t/>
            </a:r>
          </a:p>
          <a:p>
            <a:pPr algn="ctr" marL="0" indent="0">
              <a:lnSpc>
                <a:spcPct val="125000"/>
              </a:lnSpc>
            </a:pPr>
            <a:r>
              <a:rPr lang="en-US" b="false" i="false" strike="noStrike" u="none" sz="1300">
                <a:solidFill>
                  <a:srgbClr val="5D4037"/>
                </a:solidFill>
                <a:latin typeface="Noto Sans SC"/>
                <a:ea typeface="Noto Sans SC"/>
                <a:cs typeface="Noto Sans SC"/>
                <a:sym typeface="Noto Sans SC"/>
              </a:rPr>
              <a:t>• openspec了解程度 (10分)：由评委针对openspec相关文档，进行打分。</a:t>
            </a:r>
            <a:r>
              <a:rPr lang="en-US" b="false" i="false" strike="noStrike" u="none" sz="1300">
                <a:solidFill>
                  <a:srgbClr val="5D4037"/>
                </a:solidFill>
                <a:latin typeface="Noto Sans SC"/>
                <a:ea typeface="Noto Sans SC"/>
                <a:cs typeface="Noto Sans SC"/>
                <a:sym typeface="Noto Sans SC"/>
              </a:rPr>
              <a:t/>
            </a:r>
          </a:p>
          <a:p>
            <a:pPr algn="ctr" marL="0" indent="0">
              <a:lnSpc>
                <a:spcPct val="125000"/>
              </a:lnSpc>
            </a:pPr>
            <a:r>
              <a:rPr lang="en-US" b="false" i="false" strike="noStrike" u="none" sz="1300">
                <a:solidFill>
                  <a:srgbClr val="5D4037"/>
                </a:solidFill>
                <a:latin typeface="Noto Sans SC"/>
                <a:ea typeface="Noto Sans SC"/>
                <a:cs typeface="Noto Sans SC"/>
                <a:sym typeface="Noto Sans SC"/>
              </a:rPr>
              <a:t>• AI应用能力 (10分)：由评委针对AI对话的记录，进行打分，回答结构是否清晰、有层次,描述是否清晰。</a:t>
            </a:r>
            <a:r>
              <a:rPr lang="en-US" b="false" i="false" strike="noStrike" u="none" sz="1300">
                <a:solidFill>
                  <a:srgbClr val="5D4037"/>
                </a:solidFill>
                <a:latin typeface="Noto Sans SC"/>
                <a:ea typeface="Noto Sans SC"/>
                <a:cs typeface="Noto Sans SC"/>
                <a:sym typeface="Noto Sans SC"/>
              </a:rPr>
              <a:t/>
            </a:r>
          </a:p>
          <a:p>
            <a:pPr algn="ctr" marL="0" indent="0">
              <a:lnSpc>
                <a:spcPct val="125000"/>
              </a:lnSpc>
              <a:spcBef>
                <a:spcPts val="1000"/>
              </a:spcBef>
            </a:pPr>
            <a:r>
              <a:rPr lang="en-US" b="false" i="false" strike="noStrike" u="none" sz="1200">
                <a:solidFill>
                  <a:srgbClr val="5D4037"/>
                </a:solidFill>
                <a:latin typeface="Noto Sans SC"/>
                <a:ea typeface="Noto Sans SC"/>
                <a:cs typeface="Noto Sans SC"/>
                <a:sym typeface="Noto Sans SC"/>
              </a:rPr>
              <a:t>• 代码理解能力 (10分)：评审时会随机抽问一个按钮或事件的实现代码进行解读。</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BEB">
              <a:alpha val="92000"/>
            </a:srgbClr>
          </a:solidFill>
          <a:ln cmpd="sng" cap="flat">
            <a:solidFill>
              <a:srgbClr val="E6DDBD">
                <a:alpha val="92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7620000" cy="635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573A23"/>
                </a:solidFill>
                <a:latin typeface="Noto Sans SC"/>
                <a:ea typeface="Noto Sans SC"/>
                <a:cs typeface="Noto Sans SC"/>
                <a:sym typeface="Noto Sans SC"/>
              </a:rPr>
              <a:t>05 验收要求</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10033000" y="635000"/>
            <a:ext cx="1651000" cy="495300"/>
          </a:xfrm>
          <a:prstGeom prst="rect">
            <a:avLst/>
          </a:prstGeom>
          <a:noFill/>
          <a:ln w="25400" cmpd="sng" cap="flat">
            <a:noFill/>
            <a:prstDash val="solid"/>
            <a:round/>
          </a:ln>
        </p:spPr>
      </p:pic>
      <p:sp>
        <p:nvSpPr>
          <p:cNvPr name="AutoShape 5" id="5"/>
          <p:cNvSpPr/>
          <p:nvPr/>
        </p:nvSpPr>
        <p:spPr>
          <a:xfrm rot="0" flipH="false" flipV="false">
            <a:off x="762000" y="1460500"/>
            <a:ext cx="106680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00000"/>
              </a:lnSpc>
              <a:defRPr/>
            </a:pPr>
            <a:r>
              <a:rPr lang="en-US" b="true" i="false" strike="noStrike" u="none" sz="1800">
                <a:solidFill>
                  <a:srgbClr val="573A23"/>
                </a:solidFill>
                <a:latin typeface="Noto Sans SC"/>
                <a:ea typeface="Noto Sans SC"/>
                <a:cs typeface="Noto Sans SC"/>
                <a:sym typeface="Noto Sans SC"/>
              </a:rPr>
              <a:t>评审答辩流程</a:t>
            </a:r>
            <a:endParaRPr lang="en-US" sz="1100"/>
          </a:p>
        </p:txBody>
      </p:sp>
      <p:sp>
        <p:nvSpPr>
          <p:cNvPr name="AutoShape 6" id="6"/>
          <p:cNvSpPr/>
          <p:nvPr/>
        </p:nvSpPr>
        <p:spPr>
          <a:xfrm rot="0" flipH="false" flipV="false">
            <a:off x="762000" y="1905000"/>
            <a:ext cx="10668000" cy="330200"/>
          </a:xfrm>
          <a:prstGeom prst="rect">
            <a:avLst/>
          </a:prstGeom>
          <a:noFill/>
          <a:ln w="12700" cmpd="sng" cap="flat">
            <a:noFill/>
            <a:prstDash val="solid"/>
            <a:round/>
          </a:ln>
        </p:spPr>
        <p:txBody>
          <a:bodyPr anchor="t" rtlCol="false" anchorCtr="false" vert="horz" wrap="square" lIns="0" rIns="0" tIns="0" bIns="0"/>
          <a:lstStyle/>
          <a:p>
            <a:pPr algn="l" marL="0" indent="0">
              <a:lnSpc>
                <a:spcPct val="100000"/>
              </a:lnSpc>
              <a:defRPr/>
            </a:pPr>
            <a:r>
              <a:rPr lang="en-US" b="false" i="false" strike="noStrike" u="none" sz="1400">
                <a:solidFill>
                  <a:srgbClr val="78563E"/>
                </a:solidFill>
                <a:latin typeface="Noto Sans SC"/>
                <a:ea typeface="Noto Sans SC"/>
                <a:cs typeface="Noto Sans SC"/>
                <a:sym typeface="Noto Sans SC"/>
              </a:rPr>
              <a:t>每人轮流上台演讲，评委对其打分，每人大概10-20分钟</a:t>
            </a:r>
            <a:endParaRPr lang="en-US" sz="1100"/>
          </a:p>
        </p:txBody>
      </p:sp>
      <p:sp>
        <p:nvSpPr>
          <p:cNvPr name="AutoShape 7" id="7"/>
          <p:cNvSpPr/>
          <p:nvPr/>
        </p:nvSpPr>
        <p:spPr>
          <a:xfrm rot="0" flipH="false" flipV="false">
            <a:off x="762000" y="2413000"/>
            <a:ext cx="2476500" cy="2540000"/>
          </a:xfrm>
          <a:prstGeom prst="roundRect">
            <a:avLst>
              <a:gd name="adj" fmla="val 0"/>
            </a:avLst>
          </a:prstGeom>
          <a:solidFill>
            <a:srgbClr val="FFFFFF">
              <a:alpha val="85000"/>
            </a:srgbClr>
          </a:solidFill>
          <a:ln w="12700" cmpd="sng" cap="flat">
            <a:solidFill>
              <a:srgbClr val="D9A35C">
                <a:alpha val="60000"/>
              </a:srgbClr>
            </a:solidFill>
            <a:prstDash val="solid"/>
            <a:round/>
          </a:ln>
        </p:spPr>
        <p:txBody>
          <a:bodyPr anchor="ctr" rtlCol="false" anchorCtr="false" vert="horz" wrap="square" lIns="0" rIns="0" tIns="0" bIns="0"/>
          <a:lstStyle/>
          <a:p>
            <a:pPr algn="ctr">
              <a:defRPr/>
            </a:pPr>
            <a:endParaRPr/>
          </a:p>
        </p:txBody>
      </p:sp>
      <p:sp>
        <p:nvSpPr>
          <p:cNvPr name="AutoShape 8" id="8"/>
          <p:cNvSpPr/>
          <p:nvPr/>
        </p:nvSpPr>
        <p:spPr>
          <a:xfrm rot="0" flipH="false" flipV="false">
            <a:off x="762000" y="2413000"/>
            <a:ext cx="76200" cy="25400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9" id="9"/>
          <p:cNvSpPr/>
          <p:nvPr/>
        </p:nvSpPr>
        <p:spPr>
          <a:xfrm rot="0" flipH="false" flipV="false">
            <a:off x="762000" y="2667000"/>
            <a:ext cx="24765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true" i="false" strike="noStrike" u="none" sz="3600">
                <a:solidFill>
                  <a:srgbClr val="CA8A04">
                    <a:alpha val="27843"/>
                  </a:srgbClr>
                </a:solidFill>
                <a:latin typeface="Poppins"/>
                <a:ea typeface="Poppins"/>
                <a:cs typeface="Poppins"/>
                <a:sym typeface="Poppins"/>
              </a:rPr>
              <a:t>01</a:t>
            </a:r>
            <a:endParaRPr lang="en-US" sz="1100"/>
          </a:p>
        </p:txBody>
      </p:sp>
      <p:sp>
        <p:nvSpPr>
          <p:cNvPr name="AutoShape 10" id="10"/>
          <p:cNvSpPr/>
          <p:nvPr/>
        </p:nvSpPr>
        <p:spPr>
          <a:xfrm rot="0" flipH="false" flipV="false">
            <a:off x="762000" y="3556000"/>
            <a:ext cx="24765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1600">
                <a:solidFill>
                  <a:srgbClr val="573A23"/>
                </a:solidFill>
                <a:latin typeface="Noto Sans SC"/>
                <a:ea typeface="Noto Sans SC"/>
                <a:cs typeface="Noto Sans SC"/>
                <a:sym typeface="Noto Sans SC"/>
              </a:rPr>
              <a:t>工程介绍</a:t>
            </a:r>
            <a:endParaRPr lang="en-US" sz="1100"/>
          </a:p>
        </p:txBody>
      </p:sp>
      <p:sp>
        <p:nvSpPr>
          <p:cNvPr name="AutoShape 11" id="11"/>
          <p:cNvSpPr/>
          <p:nvPr/>
        </p:nvSpPr>
        <p:spPr>
          <a:xfrm rot="0" flipH="false" flipV="false">
            <a:off x="762000" y="4191000"/>
            <a:ext cx="2476500" cy="635000"/>
          </a:xfrm>
          <a:prstGeom prst="rect">
            <a:avLst/>
          </a:prstGeom>
          <a:noFill/>
          <a:ln w="12700" cmpd="sng" cap="flat">
            <a:noFill/>
            <a:prstDash val="solid"/>
            <a:round/>
          </a:ln>
        </p:spPr>
        <p:txBody>
          <a:bodyPr anchor="t" rtlCol="false" anchorCtr="false" vert="horz" wrap="square" lIns="0" rIns="0" tIns="0" bIns="0"/>
          <a:lstStyle/>
          <a:p>
            <a:pPr algn="ctr" marL="0" indent="0">
              <a:lnSpc>
                <a:spcPct val="125000"/>
              </a:lnSpc>
              <a:defRPr/>
            </a:pPr>
            <a:r>
              <a:rPr lang="en-US" b="false" i="false" strike="noStrike" u="none" sz="1200">
                <a:solidFill>
                  <a:srgbClr val="78563E"/>
                </a:solidFill>
                <a:latin typeface="Noto Sans SC"/>
                <a:ea typeface="Noto Sans SC"/>
                <a:cs typeface="Noto Sans SC"/>
                <a:sym typeface="Noto Sans SC"/>
              </a:rPr>
              <a:t>介绍技术栈、工程目录结构、启动方式、日志目录等</a:t>
            </a:r>
            <a:endParaRPr lang="en-US" sz="1100"/>
          </a:p>
        </p:txBody>
      </p:sp>
      <p:sp>
        <p:nvSpPr>
          <p:cNvPr name="AutoShape 12" id="12"/>
          <p:cNvSpPr/>
          <p:nvPr/>
        </p:nvSpPr>
        <p:spPr>
          <a:xfrm rot="0" flipH="false" flipV="false">
            <a:off x="3492500" y="2413000"/>
            <a:ext cx="2476500" cy="2540000"/>
          </a:xfrm>
          <a:prstGeom prst="roundRect">
            <a:avLst>
              <a:gd name="adj" fmla="val 0"/>
            </a:avLst>
          </a:prstGeom>
          <a:solidFill>
            <a:srgbClr val="FFFFFF">
              <a:alpha val="85000"/>
            </a:srgbClr>
          </a:solidFill>
          <a:ln w="12700" cmpd="sng" cap="flat">
            <a:solidFill>
              <a:srgbClr val="D9A35C">
                <a:alpha val="60000"/>
              </a:srgbClr>
            </a:solid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3492500" y="2413000"/>
            <a:ext cx="76200" cy="25400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14" id="14"/>
          <p:cNvSpPr/>
          <p:nvPr/>
        </p:nvSpPr>
        <p:spPr>
          <a:xfrm rot="0" flipH="false" flipV="false">
            <a:off x="3492500" y="2667000"/>
            <a:ext cx="24765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true" i="false" strike="noStrike" u="none" sz="3600">
                <a:solidFill>
                  <a:srgbClr val="CA8A04">
                    <a:alpha val="27843"/>
                  </a:srgbClr>
                </a:solidFill>
                <a:latin typeface="Poppins"/>
                <a:ea typeface="Poppins"/>
                <a:cs typeface="Poppins"/>
                <a:sym typeface="Poppins"/>
              </a:rPr>
              <a:t>02</a:t>
            </a:r>
            <a:endParaRPr lang="en-US" sz="1100"/>
          </a:p>
        </p:txBody>
      </p:sp>
      <p:sp>
        <p:nvSpPr>
          <p:cNvPr name="AutoShape 15" id="15"/>
          <p:cNvSpPr/>
          <p:nvPr/>
        </p:nvSpPr>
        <p:spPr>
          <a:xfrm rot="0" flipH="false" flipV="false">
            <a:off x="3492500" y="3556000"/>
            <a:ext cx="24765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1600">
                <a:solidFill>
                  <a:srgbClr val="573A23"/>
                </a:solidFill>
                <a:latin typeface="Noto Sans SC"/>
                <a:ea typeface="Noto Sans SC"/>
                <a:cs typeface="Noto Sans SC"/>
                <a:sym typeface="Noto Sans SC"/>
              </a:rPr>
              <a:t>功能演示</a:t>
            </a:r>
            <a:endParaRPr lang="en-US" sz="1100"/>
          </a:p>
        </p:txBody>
      </p:sp>
      <p:sp>
        <p:nvSpPr>
          <p:cNvPr name="AutoShape 16" id="16"/>
          <p:cNvSpPr/>
          <p:nvPr/>
        </p:nvSpPr>
        <p:spPr>
          <a:xfrm rot="0" flipH="false" flipV="false">
            <a:off x="3646086" y="4191000"/>
            <a:ext cx="2322914" cy="635000"/>
          </a:xfrm>
          <a:prstGeom prst="rect">
            <a:avLst/>
          </a:prstGeom>
          <a:noFill/>
          <a:ln w="12700" cmpd="sng" cap="flat">
            <a:noFill/>
            <a:prstDash val="solid"/>
            <a:round/>
          </a:ln>
        </p:spPr>
        <p:txBody>
          <a:bodyPr anchor="t" rtlCol="false" anchorCtr="false" vert="horz" wrap="square" lIns="0" rIns="0" tIns="0" bIns="0"/>
          <a:lstStyle/>
          <a:p>
            <a:pPr algn="ctr" marL="0" indent="0">
              <a:lnSpc>
                <a:spcPct val="125000"/>
              </a:lnSpc>
              <a:defRPr/>
            </a:pPr>
            <a:r>
              <a:rPr lang="en-US" b="false" i="false" strike="noStrike" u="none" sz="1200">
                <a:solidFill>
                  <a:srgbClr val="78563E"/>
                </a:solidFill>
                <a:latin typeface="Noto Sans SC"/>
                <a:ea typeface="Noto Sans SC"/>
                <a:cs typeface="Noto Sans SC"/>
                <a:sym typeface="Noto Sans SC"/>
              </a:rPr>
              <a:t>按照功能点进行页面演示</a:t>
            </a:r>
            <a:endParaRPr lang="en-US" sz="1100"/>
          </a:p>
        </p:txBody>
      </p:sp>
      <p:sp>
        <p:nvSpPr>
          <p:cNvPr name="AutoShape 17" id="17"/>
          <p:cNvSpPr/>
          <p:nvPr/>
        </p:nvSpPr>
        <p:spPr>
          <a:xfrm rot="0" flipH="false" flipV="false">
            <a:off x="6223000" y="2413000"/>
            <a:ext cx="2476500" cy="2540000"/>
          </a:xfrm>
          <a:prstGeom prst="roundRect">
            <a:avLst>
              <a:gd name="adj" fmla="val 0"/>
            </a:avLst>
          </a:prstGeom>
          <a:solidFill>
            <a:srgbClr val="FFFFFF">
              <a:alpha val="85000"/>
            </a:srgbClr>
          </a:solidFill>
          <a:ln w="12700" cmpd="sng" cap="flat">
            <a:solidFill>
              <a:srgbClr val="D9A35C">
                <a:alpha val="60000"/>
              </a:srgbClr>
            </a:solidFill>
            <a:prstDash val="solid"/>
            <a:round/>
          </a:ln>
        </p:spPr>
        <p:txBody>
          <a:bodyPr anchor="ctr" rtlCol="false" anchorCtr="false" vert="horz" wrap="square" lIns="0" rIns="0" tIns="0" bIns="0"/>
          <a:lstStyle/>
          <a:p>
            <a:pPr algn="ctr">
              <a:defRPr/>
            </a:pPr>
            <a:endParaRPr/>
          </a:p>
        </p:txBody>
      </p:sp>
      <p:sp>
        <p:nvSpPr>
          <p:cNvPr name="AutoShape 18" id="18"/>
          <p:cNvSpPr/>
          <p:nvPr/>
        </p:nvSpPr>
        <p:spPr>
          <a:xfrm rot="0" flipH="false" flipV="false">
            <a:off x="6223000" y="2413000"/>
            <a:ext cx="76200" cy="25400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19" id="19"/>
          <p:cNvSpPr/>
          <p:nvPr/>
        </p:nvSpPr>
        <p:spPr>
          <a:xfrm rot="0" flipH="false" flipV="false">
            <a:off x="6223000" y="2667000"/>
            <a:ext cx="24765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true" i="false" strike="noStrike" u="none" sz="3600">
                <a:solidFill>
                  <a:srgbClr val="CA8A04">
                    <a:alpha val="27843"/>
                  </a:srgbClr>
                </a:solidFill>
                <a:latin typeface="Poppins"/>
                <a:ea typeface="Poppins"/>
                <a:cs typeface="Poppins"/>
                <a:sym typeface="Poppins"/>
              </a:rPr>
              <a:t>03</a:t>
            </a:r>
            <a:endParaRPr lang="en-US" sz="1100"/>
          </a:p>
        </p:txBody>
      </p:sp>
      <p:sp>
        <p:nvSpPr>
          <p:cNvPr name="AutoShape 20" id="20"/>
          <p:cNvSpPr/>
          <p:nvPr/>
        </p:nvSpPr>
        <p:spPr>
          <a:xfrm rot="0" flipH="false" flipV="false">
            <a:off x="6223000" y="3556000"/>
            <a:ext cx="24765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1600">
                <a:solidFill>
                  <a:srgbClr val="573A23"/>
                </a:solidFill>
                <a:latin typeface="Noto Sans SC"/>
                <a:ea typeface="Noto Sans SC"/>
                <a:cs typeface="Noto Sans SC"/>
                <a:sym typeface="Noto Sans SC"/>
              </a:rPr>
              <a:t>openspec文档解说</a:t>
            </a:r>
            <a:endParaRPr lang="en-US" sz="1100"/>
          </a:p>
        </p:txBody>
      </p:sp>
      <p:sp>
        <p:nvSpPr>
          <p:cNvPr name="AutoShape 21" id="21"/>
          <p:cNvSpPr/>
          <p:nvPr/>
        </p:nvSpPr>
        <p:spPr>
          <a:xfrm rot="0" flipH="false" flipV="false">
            <a:off x="6376586" y="4191000"/>
            <a:ext cx="2322914" cy="635000"/>
          </a:xfrm>
          <a:prstGeom prst="rect">
            <a:avLst/>
          </a:prstGeom>
          <a:noFill/>
          <a:ln w="12700" cmpd="sng" cap="flat">
            <a:noFill/>
            <a:prstDash val="solid"/>
            <a:round/>
          </a:ln>
        </p:spPr>
        <p:txBody>
          <a:bodyPr anchor="t" rtlCol="false" anchorCtr="false" vert="horz" wrap="square" lIns="0" rIns="0" tIns="0" bIns="0"/>
          <a:lstStyle/>
          <a:p>
            <a:pPr algn="ctr" marL="0" indent="0">
              <a:lnSpc>
                <a:spcPct val="125000"/>
              </a:lnSpc>
              <a:defRPr/>
            </a:pPr>
            <a:r>
              <a:rPr lang="en-US" b="false" i="false" strike="noStrike" u="none" sz="1200">
                <a:solidFill>
                  <a:srgbClr val="78563E"/>
                </a:solidFill>
                <a:latin typeface="Noto Sans SC"/>
                <a:ea typeface="Noto Sans SC"/>
                <a:cs typeface="Noto Sans SC"/>
                <a:sym typeface="Noto Sans SC"/>
              </a:rPr>
              <a:t>首先阐述个人对 OpenSpec 的理解，随后详细探讨其文档的作用及含义</a:t>
            </a:r>
            <a:endParaRPr lang="en-US" sz="1100"/>
          </a:p>
        </p:txBody>
      </p:sp>
      <p:sp>
        <p:nvSpPr>
          <p:cNvPr name="AutoShape 22" id="22"/>
          <p:cNvSpPr/>
          <p:nvPr/>
        </p:nvSpPr>
        <p:spPr>
          <a:xfrm rot="0" flipH="false" flipV="false">
            <a:off x="8953500" y="2413000"/>
            <a:ext cx="2476500" cy="2540000"/>
          </a:xfrm>
          <a:prstGeom prst="roundRect">
            <a:avLst>
              <a:gd name="adj" fmla="val 0"/>
            </a:avLst>
          </a:prstGeom>
          <a:solidFill>
            <a:srgbClr val="FFFFFF">
              <a:alpha val="85000"/>
            </a:srgbClr>
          </a:solidFill>
          <a:ln w="12700" cmpd="sng" cap="flat">
            <a:solidFill>
              <a:srgbClr val="D9A35C">
                <a:alpha val="60000"/>
              </a:srgbClr>
            </a:solidFill>
            <a:prstDash val="solid"/>
            <a:round/>
          </a:ln>
        </p:spPr>
        <p:txBody>
          <a:bodyPr anchor="ctr" rtlCol="false" anchorCtr="false" vert="horz" wrap="square" lIns="0" rIns="0" tIns="0" bIns="0"/>
          <a:lstStyle/>
          <a:p>
            <a:pPr algn="ctr">
              <a:defRPr/>
            </a:pPr>
            <a:endParaRPr/>
          </a:p>
        </p:txBody>
      </p:sp>
      <p:sp>
        <p:nvSpPr>
          <p:cNvPr name="AutoShape 23" id="23"/>
          <p:cNvSpPr/>
          <p:nvPr/>
        </p:nvSpPr>
        <p:spPr>
          <a:xfrm rot="0" flipH="false" flipV="false">
            <a:off x="8953500" y="2413000"/>
            <a:ext cx="76200" cy="2540000"/>
          </a:xfrm>
          <a:prstGeom prst="roundRect">
            <a:avLst>
              <a:gd name="adj" fmla="val 0"/>
            </a:avLst>
          </a:prstGeom>
          <a:solidFill>
            <a:srgbClr val="CA8A04">
              <a:alpha val="100000"/>
            </a:srgbClr>
          </a:solidFill>
          <a:ln cmpd="sng" cap="flat">
            <a:solidFill>
              <a:srgbClr val="B17700">
                <a:alpha val="100000"/>
              </a:srgbClr>
            </a:solidFill>
            <a:prstDash val="solid"/>
            <a:round/>
          </a:ln>
        </p:spPr>
        <p:txBody>
          <a:bodyPr anchor="ctr" rtlCol="false" anchorCtr="false" vert="horz" wrap="square" lIns="0" rIns="0" tIns="0" bIns="0"/>
          <a:lstStyle/>
          <a:p>
            <a:pPr algn="ctr">
              <a:defRPr/>
            </a:pPr>
            <a:endParaRPr/>
          </a:p>
        </p:txBody>
      </p:sp>
      <p:sp>
        <p:nvSpPr>
          <p:cNvPr name="AutoShape 24" id="24"/>
          <p:cNvSpPr/>
          <p:nvPr/>
        </p:nvSpPr>
        <p:spPr>
          <a:xfrm rot="0" flipH="false" flipV="false">
            <a:off x="8953500" y="2667000"/>
            <a:ext cx="24765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true" i="false" strike="noStrike" u="none" sz="3600">
                <a:solidFill>
                  <a:srgbClr val="CA8A04">
                    <a:alpha val="27843"/>
                  </a:srgbClr>
                </a:solidFill>
                <a:latin typeface="Poppins"/>
                <a:ea typeface="Poppins"/>
                <a:cs typeface="Poppins"/>
                <a:sym typeface="Poppins"/>
              </a:rPr>
              <a:t>04</a:t>
            </a:r>
            <a:endParaRPr lang="en-US" sz="1100"/>
          </a:p>
        </p:txBody>
      </p:sp>
      <p:sp>
        <p:nvSpPr>
          <p:cNvPr name="AutoShape 25" id="25"/>
          <p:cNvSpPr/>
          <p:nvPr/>
        </p:nvSpPr>
        <p:spPr>
          <a:xfrm rot="0" flipH="false" flipV="false">
            <a:off x="8953500" y="3556000"/>
            <a:ext cx="24765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1600">
                <a:solidFill>
                  <a:srgbClr val="573A23"/>
                </a:solidFill>
                <a:latin typeface="Noto Sans SC"/>
                <a:ea typeface="Noto Sans SC"/>
                <a:cs typeface="Noto Sans SC"/>
                <a:sym typeface="Noto Sans SC"/>
              </a:rPr>
              <a:t>评委提问</a:t>
            </a:r>
            <a:endParaRPr lang="en-US" sz="1100"/>
          </a:p>
        </p:txBody>
      </p:sp>
      <p:sp>
        <p:nvSpPr>
          <p:cNvPr name="AutoShape 26" id="26"/>
          <p:cNvSpPr/>
          <p:nvPr/>
        </p:nvSpPr>
        <p:spPr>
          <a:xfrm rot="0" flipH="false" flipV="false">
            <a:off x="8953500" y="4191000"/>
            <a:ext cx="2476500" cy="635000"/>
          </a:xfrm>
          <a:prstGeom prst="rect">
            <a:avLst/>
          </a:prstGeom>
          <a:noFill/>
          <a:ln w="12700" cmpd="sng" cap="flat">
            <a:noFill/>
            <a:prstDash val="solid"/>
            <a:round/>
          </a:ln>
        </p:spPr>
        <p:txBody>
          <a:bodyPr anchor="t" rtlCol="false" anchorCtr="false" vert="horz" wrap="square" lIns="0" rIns="0" tIns="0" bIns="0"/>
          <a:lstStyle/>
          <a:p>
            <a:pPr algn="ctr" marL="0" indent="0">
              <a:lnSpc>
                <a:spcPct val="125000"/>
              </a:lnSpc>
              <a:defRPr/>
            </a:pPr>
            <a:r>
              <a:rPr lang="en-US" b="false" i="false" strike="noStrike" u="none" sz="1200">
                <a:solidFill>
                  <a:srgbClr val="78563E"/>
                </a:solidFill>
                <a:latin typeface="Noto Sans SC"/>
                <a:ea typeface="Noto Sans SC"/>
                <a:cs typeface="Noto Sans SC"/>
                <a:sym typeface="Noto Sans SC"/>
              </a:rPr>
              <a:t>评委针对打分表内容进行提问</a:t>
            </a:r>
            <a:endParaRPr lang="en-US" sz="1100"/>
          </a:p>
        </p:txBody>
      </p:sp>
      <p:sp>
        <p:nvSpPr>
          <p:cNvPr name="AutoShape 27" id="27"/>
          <p:cNvSpPr/>
          <p:nvPr/>
        </p:nvSpPr>
        <p:spPr>
          <a:xfrm rot="0" flipH="false" flipV="false">
            <a:off x="762000" y="5334000"/>
            <a:ext cx="10668000" cy="889000"/>
          </a:xfrm>
          <a:prstGeom prst="roundRect">
            <a:avLst>
              <a:gd name="adj" fmla="val 0"/>
            </a:avLst>
          </a:prstGeom>
          <a:gradFill rotWithShape="true">
            <a:gsLst>
              <a:gs pos="0">
                <a:srgbClr val="573A23">
                  <a:alpha val="95000"/>
                </a:srgbClr>
              </a:gs>
              <a:gs pos="100000">
                <a:srgbClr val="78563E">
                  <a:alpha val="80000"/>
                </a:srgbClr>
              </a:gs>
            </a:gsLst>
            <a:lin ang="0"/>
          </a:gradFill>
          <a:ln cmpd="sng" cap="flat">
            <a:gradFill rotWithShape="true">
              <a:gsLst>
                <a:gs pos="0">
                  <a:srgbClr val="3E2613">
                    <a:alpha val="95000"/>
                  </a:srgbClr>
                </a:gs>
                <a:gs pos="100000">
                  <a:srgbClr val="5E3E27">
                    <a:alpha val="80000"/>
                  </a:srgbClr>
                </a:gs>
              </a:gsLst>
              <a:lin ang="0"/>
            </a:gradFill>
            <a:prstDash val="solid"/>
            <a:round/>
          </a:ln>
        </p:spPr>
        <p:txBody>
          <a:bodyPr anchor="ctr" rtlCol="false" anchorCtr="false" vert="horz" wrap="square" lIns="0" rIns="0" tIns="0" bIns="0"/>
          <a:lstStyle/>
          <a:p>
            <a:pPr algn="ctr">
              <a:defRPr/>
            </a:pPr>
            <a:endParaRPr/>
          </a:p>
        </p:txBody>
      </p:sp>
      <p:sp>
        <p:nvSpPr>
          <p:cNvPr name="AutoShape 28" id="28"/>
          <p:cNvSpPr/>
          <p:nvPr/>
        </p:nvSpPr>
        <p:spPr>
          <a:xfrm rot="0" flipH="false" flipV="false">
            <a:off x="762000" y="5334000"/>
            <a:ext cx="10668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1800">
                <a:solidFill>
                  <a:srgbClr val="FFFBEB"/>
                </a:solidFill>
                <a:latin typeface="Noto Sans SC"/>
                <a:ea typeface="Noto Sans SC"/>
                <a:cs typeface="Noto Sans SC"/>
                <a:sym typeface="Noto Sans SC"/>
              </a:rPr>
              <a:t>预祝各位取得优异成绩！</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gradFill rotWithShape="true">
            <a:gsLst>
              <a:gs pos="0">
                <a:srgbClr val="FFF9E2">
                  <a:alpha val="100000"/>
                </a:srgbClr>
              </a:gs>
              <a:gs pos="60000">
                <a:srgbClr val="FDEDB9">
                  <a:alpha val="100000"/>
                </a:srgbClr>
              </a:gs>
              <a:gs pos="100000">
                <a:srgbClr val="FBDB8D">
                  <a:alpha val="100000"/>
                </a:srgbClr>
              </a:gs>
            </a:gsLst>
            <a:path path="circle">
              <a:fillToRect l="50000" r="50000" t="50000" b="50000"/>
            </a:path>
            <a:tileRect t="0" b="0" l="0" r="0"/>
          </a:gradFill>
          <a:ln cmpd="sng" cap="flat">
            <a:gradFill rotWithShape="true">
              <a:gsLst>
                <a:gs pos="0">
                  <a:srgbClr val="E6DBB4">
                    <a:alpha val="100000"/>
                  </a:srgbClr>
                </a:gs>
                <a:gs pos="60000">
                  <a:srgbClr val="E4D090">
                    <a:alpha val="100000"/>
                  </a:srgbClr>
                </a:gs>
                <a:gs pos="100000">
                  <a:srgbClr val="E2BE68">
                    <a:alpha val="100000"/>
                  </a:srgbClr>
                </a:gs>
              </a:gsLst>
              <a:path path="circle">
                <a:fillToRect l="50000" r="50000" t="50000" b="50000"/>
              </a:path>
              <a:tileRect t="0" b="0" l="0" r="0"/>
            </a:gra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0" y="2794000"/>
            <a:ext cx="12192000" cy="1270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6000" spc="600">
                <a:solidFill>
                  <a:srgbClr val="593F28"/>
                </a:solidFill>
                <a:latin typeface="Noto Sans SC"/>
                <a:ea typeface="Noto Sans SC"/>
                <a:cs typeface="Noto Sans SC"/>
                <a:sym typeface="Noto Sans SC"/>
              </a:rPr>
              <a:t>Q&amp;A</a:t>
            </a:r>
            <a:endParaRPr lang="en-US" sz="1100"/>
          </a:p>
        </p:txBody>
      </p:sp>
      <p:sp>
        <p:nvSpPr>
          <p:cNvPr name="AutoShape 4" id="4"/>
          <p:cNvSpPr/>
          <p:nvPr/>
        </p:nvSpPr>
        <p:spPr>
          <a:xfrm rot="0" flipH="false" flipV="false">
            <a:off x="0" y="4445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false" i="false" strike="noStrike" u="none" sz="2400" spc="800">
                <a:solidFill>
                  <a:srgbClr val="76583E"/>
                </a:solidFill>
                <a:latin typeface="Noto Sans SC"/>
                <a:ea typeface="Noto Sans SC"/>
                <a:cs typeface="Noto Sans SC"/>
                <a:sym typeface="Noto Sans SC"/>
              </a:rPr>
              <a:t>感谢聆听</a:t>
            </a:r>
            <a:endParaRPr lang="en-US" sz="1100"/>
          </a:p>
        </p:txBody>
      </p:sp>
      <p:pic>
        <p:nvPicPr>
          <p:cNvPr name="Picture 5" id="5"/>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{"Label":"1","ContentProducer":"001191110102MACQD9K64010000","ProduceID":"7672315426394704849","ReservedCode1":"","ContentPropagator":"","PropagateID":"","ReservedCode2":""}</vt:lpwstr>
  </property>
</Properties>
</file>